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4"/>
  </p:notesMasterIdLst>
  <p:sldIdLst>
    <p:sldId id="256" r:id="rId2"/>
    <p:sldId id="258" r:id="rId3"/>
    <p:sldId id="259" r:id="rId4"/>
    <p:sldId id="260" r:id="rId5"/>
    <p:sldId id="261" r:id="rId6"/>
    <p:sldId id="263" r:id="rId7"/>
    <p:sldId id="264" r:id="rId8"/>
    <p:sldId id="265" r:id="rId9"/>
    <p:sldId id="268" r:id="rId10"/>
    <p:sldId id="266" r:id="rId11"/>
    <p:sldId id="267" r:id="rId12"/>
    <p:sldId id="269" r:id="rId13"/>
    <p:sldId id="271" r:id="rId14"/>
    <p:sldId id="307" r:id="rId15"/>
    <p:sldId id="270" r:id="rId16"/>
    <p:sldId id="272" r:id="rId17"/>
    <p:sldId id="306" r:id="rId18"/>
    <p:sldId id="273" r:id="rId19"/>
    <p:sldId id="274" r:id="rId20"/>
    <p:sldId id="278" r:id="rId21"/>
    <p:sldId id="276" r:id="rId22"/>
    <p:sldId id="277" r:id="rId23"/>
    <p:sldId id="279" r:id="rId24"/>
    <p:sldId id="280" r:id="rId25"/>
    <p:sldId id="281" r:id="rId26"/>
    <p:sldId id="282" r:id="rId27"/>
    <p:sldId id="283" r:id="rId28"/>
    <p:sldId id="285" r:id="rId29"/>
    <p:sldId id="284" r:id="rId30"/>
    <p:sldId id="291" r:id="rId31"/>
    <p:sldId id="324" r:id="rId32"/>
    <p:sldId id="311" r:id="rId33"/>
    <p:sldId id="308" r:id="rId34"/>
    <p:sldId id="309" r:id="rId35"/>
    <p:sldId id="321" r:id="rId36"/>
    <p:sldId id="310" r:id="rId37"/>
    <p:sldId id="317" r:id="rId38"/>
    <p:sldId id="286" r:id="rId39"/>
    <p:sldId id="322" r:id="rId40"/>
    <p:sldId id="287" r:id="rId41"/>
    <p:sldId id="288" r:id="rId42"/>
    <p:sldId id="325" r:id="rId43"/>
    <p:sldId id="327" r:id="rId44"/>
    <p:sldId id="326" r:id="rId45"/>
    <p:sldId id="320" r:id="rId46"/>
    <p:sldId id="318" r:id="rId47"/>
    <p:sldId id="328" r:id="rId48"/>
    <p:sldId id="329" r:id="rId49"/>
    <p:sldId id="330" r:id="rId50"/>
    <p:sldId id="331" r:id="rId51"/>
    <p:sldId id="332" r:id="rId52"/>
    <p:sldId id="333" r:id="rId53"/>
    <p:sldId id="335" r:id="rId54"/>
    <p:sldId id="336" r:id="rId55"/>
    <p:sldId id="337" r:id="rId56"/>
    <p:sldId id="338" r:id="rId57"/>
    <p:sldId id="339" r:id="rId58"/>
    <p:sldId id="340" r:id="rId59"/>
    <p:sldId id="341" r:id="rId60"/>
    <p:sldId id="380" r:id="rId61"/>
    <p:sldId id="342" r:id="rId62"/>
    <p:sldId id="343" r:id="rId63"/>
    <p:sldId id="344" r:id="rId64"/>
    <p:sldId id="345" r:id="rId65"/>
    <p:sldId id="346" r:id="rId66"/>
    <p:sldId id="347" r:id="rId67"/>
    <p:sldId id="348" r:id="rId68"/>
    <p:sldId id="349" r:id="rId69"/>
    <p:sldId id="350" r:id="rId70"/>
    <p:sldId id="401" r:id="rId71"/>
    <p:sldId id="351" r:id="rId72"/>
    <p:sldId id="352" r:id="rId73"/>
    <p:sldId id="353" r:id="rId74"/>
    <p:sldId id="354" r:id="rId75"/>
    <p:sldId id="357" r:id="rId76"/>
    <p:sldId id="358" r:id="rId77"/>
    <p:sldId id="362" r:id="rId78"/>
    <p:sldId id="363" r:id="rId79"/>
    <p:sldId id="364" r:id="rId80"/>
    <p:sldId id="365" r:id="rId81"/>
    <p:sldId id="366" r:id="rId82"/>
    <p:sldId id="367" r:id="rId8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735" autoAdjust="0"/>
    <p:restoredTop sz="94660"/>
  </p:normalViewPr>
  <p:slideViewPr>
    <p:cSldViewPr snapToGrid="0">
      <p:cViewPr varScale="1">
        <p:scale>
          <a:sx n="68" d="100"/>
          <a:sy n="68" d="100"/>
        </p:scale>
        <p:origin x="78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F0C44F-61FE-4649-A315-6BCE261855E9}" type="datetimeFigureOut">
              <a:rPr lang="en-US" smtClean="0"/>
              <a:t>4/16/2024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2EB01F-2BE4-456C-80E2-2ED4F2F18024}" type="slidenum">
              <a:rPr lang="en-US" smtClean="0"/>
              <a:t>‹#›</a:t>
            </a:fld>
            <a:endParaRPr lang="en-US"/>
          </a:p>
        </p:txBody>
      </p:sp>
    </p:spTree>
    <p:extLst>
      <p:ext uri="{BB962C8B-B14F-4D97-AF65-F5344CB8AC3E}">
        <p14:creationId xmlns:p14="http://schemas.microsoft.com/office/powerpoint/2010/main" val="27275456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F5C2ED3-E6CD-4EC9-8767-84724BEF1AC6}" type="slidenum">
              <a:rPr lang="en-US" smtClean="0"/>
              <a:t>56</a:t>
            </a:fld>
            <a:endParaRPr lang="en-US"/>
          </a:p>
        </p:txBody>
      </p:sp>
    </p:spTree>
    <p:extLst>
      <p:ext uri="{BB962C8B-B14F-4D97-AF65-F5344CB8AC3E}">
        <p14:creationId xmlns:p14="http://schemas.microsoft.com/office/powerpoint/2010/main" val="38587300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F5C2ED3-E6CD-4EC9-8767-84724BEF1AC6}" type="slidenum">
              <a:rPr lang="en-US" smtClean="0"/>
              <a:t>61</a:t>
            </a:fld>
            <a:endParaRPr lang="en-US"/>
          </a:p>
        </p:txBody>
      </p:sp>
    </p:spTree>
    <p:extLst>
      <p:ext uri="{BB962C8B-B14F-4D97-AF65-F5344CB8AC3E}">
        <p14:creationId xmlns:p14="http://schemas.microsoft.com/office/powerpoint/2010/main" val="42344505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F5C2ED3-E6CD-4EC9-8767-84724BEF1AC6}" type="slidenum">
              <a:rPr lang="en-US" smtClean="0"/>
              <a:t>73</a:t>
            </a:fld>
            <a:endParaRPr lang="en-US"/>
          </a:p>
        </p:txBody>
      </p:sp>
    </p:spTree>
    <p:extLst>
      <p:ext uri="{BB962C8B-B14F-4D97-AF65-F5344CB8AC3E}">
        <p14:creationId xmlns:p14="http://schemas.microsoft.com/office/powerpoint/2010/main" val="35030724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47889-8D30-DA45-5796-26A9E615978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05FD07F-32EE-7150-21F7-211A80302B7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9AB1557-9B87-9329-BC56-E01BBA7AEB8B}"/>
              </a:ext>
            </a:extLst>
          </p:cNvPr>
          <p:cNvSpPr>
            <a:spLocks noGrp="1"/>
          </p:cNvSpPr>
          <p:nvPr>
            <p:ph type="dt" sz="half" idx="10"/>
          </p:nvPr>
        </p:nvSpPr>
        <p:spPr/>
        <p:txBody>
          <a:bodyPr/>
          <a:lstStyle/>
          <a:p>
            <a:fld id="{170AD95B-9101-4827-8E8F-97BBDB653CA4}" type="datetimeFigureOut">
              <a:rPr lang="en-US" smtClean="0"/>
              <a:t>4/16/2024</a:t>
            </a:fld>
            <a:endParaRPr lang="en-US"/>
          </a:p>
        </p:txBody>
      </p:sp>
      <p:sp>
        <p:nvSpPr>
          <p:cNvPr id="5" name="Footer Placeholder 4">
            <a:extLst>
              <a:ext uri="{FF2B5EF4-FFF2-40B4-BE49-F238E27FC236}">
                <a16:creationId xmlns:a16="http://schemas.microsoft.com/office/drawing/2014/main" id="{F8833F6D-2BB7-D9BA-984B-0C35FAF4DF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FCAB62-EE49-64A5-EE82-4EE65CA031A8}"/>
              </a:ext>
            </a:extLst>
          </p:cNvPr>
          <p:cNvSpPr>
            <a:spLocks noGrp="1"/>
          </p:cNvSpPr>
          <p:nvPr>
            <p:ph type="sldNum" sz="quarter" idx="12"/>
          </p:nvPr>
        </p:nvSpPr>
        <p:spPr/>
        <p:txBody>
          <a:bodyPr/>
          <a:lstStyle/>
          <a:p>
            <a:fld id="{0FD634AE-769F-4355-A23F-8D9EC1BFE854}" type="slidenum">
              <a:rPr lang="en-US" smtClean="0"/>
              <a:t>‹#›</a:t>
            </a:fld>
            <a:endParaRPr lang="en-US"/>
          </a:p>
        </p:txBody>
      </p:sp>
    </p:spTree>
    <p:extLst>
      <p:ext uri="{BB962C8B-B14F-4D97-AF65-F5344CB8AC3E}">
        <p14:creationId xmlns:p14="http://schemas.microsoft.com/office/powerpoint/2010/main" val="5292175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0BEAC-9423-1259-563A-A4FA38CEC9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CE3017-625F-7076-51F1-1468FB3EB1C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E80C9F-08AB-D1A4-C8F7-0CF537F2B895}"/>
              </a:ext>
            </a:extLst>
          </p:cNvPr>
          <p:cNvSpPr>
            <a:spLocks noGrp="1"/>
          </p:cNvSpPr>
          <p:nvPr>
            <p:ph type="dt" sz="half" idx="10"/>
          </p:nvPr>
        </p:nvSpPr>
        <p:spPr/>
        <p:txBody>
          <a:bodyPr/>
          <a:lstStyle/>
          <a:p>
            <a:fld id="{170AD95B-9101-4827-8E8F-97BBDB653CA4}" type="datetimeFigureOut">
              <a:rPr lang="en-US" smtClean="0"/>
              <a:t>4/16/2024</a:t>
            </a:fld>
            <a:endParaRPr lang="en-US"/>
          </a:p>
        </p:txBody>
      </p:sp>
      <p:sp>
        <p:nvSpPr>
          <p:cNvPr id="5" name="Footer Placeholder 4">
            <a:extLst>
              <a:ext uri="{FF2B5EF4-FFF2-40B4-BE49-F238E27FC236}">
                <a16:creationId xmlns:a16="http://schemas.microsoft.com/office/drawing/2014/main" id="{9C833858-63FF-22B9-C6C1-C95E03EA3B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D85761-1487-7CFC-FEC5-D0D81E3940CE}"/>
              </a:ext>
            </a:extLst>
          </p:cNvPr>
          <p:cNvSpPr>
            <a:spLocks noGrp="1"/>
          </p:cNvSpPr>
          <p:nvPr>
            <p:ph type="sldNum" sz="quarter" idx="12"/>
          </p:nvPr>
        </p:nvSpPr>
        <p:spPr/>
        <p:txBody>
          <a:bodyPr/>
          <a:lstStyle/>
          <a:p>
            <a:fld id="{0FD634AE-769F-4355-A23F-8D9EC1BFE854}" type="slidenum">
              <a:rPr lang="en-US" smtClean="0"/>
              <a:t>‹#›</a:t>
            </a:fld>
            <a:endParaRPr lang="en-US"/>
          </a:p>
        </p:txBody>
      </p:sp>
    </p:spTree>
    <p:extLst>
      <p:ext uri="{BB962C8B-B14F-4D97-AF65-F5344CB8AC3E}">
        <p14:creationId xmlns:p14="http://schemas.microsoft.com/office/powerpoint/2010/main" val="16972350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734D2-9B9D-08A2-BDAC-AF4ABE4AAF4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7A67BB0-997D-C81A-A6C1-569A317ED5F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21E95EF-C973-E043-63DF-D77C7165000C}"/>
              </a:ext>
            </a:extLst>
          </p:cNvPr>
          <p:cNvSpPr>
            <a:spLocks noGrp="1"/>
          </p:cNvSpPr>
          <p:nvPr>
            <p:ph type="dt" sz="half" idx="10"/>
          </p:nvPr>
        </p:nvSpPr>
        <p:spPr/>
        <p:txBody>
          <a:bodyPr/>
          <a:lstStyle/>
          <a:p>
            <a:fld id="{170AD95B-9101-4827-8E8F-97BBDB653CA4}" type="datetimeFigureOut">
              <a:rPr lang="en-US" smtClean="0"/>
              <a:t>4/16/2024</a:t>
            </a:fld>
            <a:endParaRPr lang="en-US"/>
          </a:p>
        </p:txBody>
      </p:sp>
      <p:sp>
        <p:nvSpPr>
          <p:cNvPr id="5" name="Footer Placeholder 4">
            <a:extLst>
              <a:ext uri="{FF2B5EF4-FFF2-40B4-BE49-F238E27FC236}">
                <a16:creationId xmlns:a16="http://schemas.microsoft.com/office/drawing/2014/main" id="{D2A88064-15E8-487E-80D4-1E4D523CA1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B174B1-5AFE-F85F-816A-864C8A6F08D6}"/>
              </a:ext>
            </a:extLst>
          </p:cNvPr>
          <p:cNvSpPr>
            <a:spLocks noGrp="1"/>
          </p:cNvSpPr>
          <p:nvPr>
            <p:ph type="sldNum" sz="quarter" idx="12"/>
          </p:nvPr>
        </p:nvSpPr>
        <p:spPr/>
        <p:txBody>
          <a:bodyPr/>
          <a:lstStyle/>
          <a:p>
            <a:fld id="{0FD634AE-769F-4355-A23F-8D9EC1BFE854}" type="slidenum">
              <a:rPr lang="en-US" smtClean="0"/>
              <a:t>‹#›</a:t>
            </a:fld>
            <a:endParaRPr lang="en-US"/>
          </a:p>
        </p:txBody>
      </p:sp>
    </p:spTree>
    <p:extLst>
      <p:ext uri="{BB962C8B-B14F-4D97-AF65-F5344CB8AC3E}">
        <p14:creationId xmlns:p14="http://schemas.microsoft.com/office/powerpoint/2010/main" val="28294675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6B959-95EB-2E6A-C240-7C9940F2E24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45395F6-DC1B-452E-8C41-D2A7B59986A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EDC3BAA-5955-DAD4-5182-B06EEE4BF2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F839351-2D61-2369-E406-6FDE6C5AD63F}"/>
              </a:ext>
            </a:extLst>
          </p:cNvPr>
          <p:cNvSpPr>
            <a:spLocks noGrp="1"/>
          </p:cNvSpPr>
          <p:nvPr>
            <p:ph type="dt" sz="half" idx="10"/>
          </p:nvPr>
        </p:nvSpPr>
        <p:spPr/>
        <p:txBody>
          <a:bodyPr/>
          <a:lstStyle/>
          <a:p>
            <a:fld id="{170AD95B-9101-4827-8E8F-97BBDB653CA4}" type="datetimeFigureOut">
              <a:rPr lang="en-US" smtClean="0"/>
              <a:t>4/16/2024</a:t>
            </a:fld>
            <a:endParaRPr lang="en-US"/>
          </a:p>
        </p:txBody>
      </p:sp>
      <p:sp>
        <p:nvSpPr>
          <p:cNvPr id="6" name="Footer Placeholder 5">
            <a:extLst>
              <a:ext uri="{FF2B5EF4-FFF2-40B4-BE49-F238E27FC236}">
                <a16:creationId xmlns:a16="http://schemas.microsoft.com/office/drawing/2014/main" id="{8969CFD3-6FFE-2207-ABB1-2FECA313A21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55403E-7DD8-1067-7C8B-4BF9F9DCF085}"/>
              </a:ext>
            </a:extLst>
          </p:cNvPr>
          <p:cNvSpPr>
            <a:spLocks noGrp="1"/>
          </p:cNvSpPr>
          <p:nvPr>
            <p:ph type="sldNum" sz="quarter" idx="12"/>
          </p:nvPr>
        </p:nvSpPr>
        <p:spPr/>
        <p:txBody>
          <a:bodyPr/>
          <a:lstStyle/>
          <a:p>
            <a:fld id="{0FD634AE-769F-4355-A23F-8D9EC1BFE854}" type="slidenum">
              <a:rPr lang="en-US" smtClean="0"/>
              <a:t>‹#›</a:t>
            </a:fld>
            <a:endParaRPr lang="en-US"/>
          </a:p>
        </p:txBody>
      </p:sp>
    </p:spTree>
    <p:extLst>
      <p:ext uri="{BB962C8B-B14F-4D97-AF65-F5344CB8AC3E}">
        <p14:creationId xmlns:p14="http://schemas.microsoft.com/office/powerpoint/2010/main" val="25531062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2FCEE-2A32-FC07-84D4-6BF994F8735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2172AED-E77D-25D5-17FC-7E2C0F0E6D5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D87A9EC-8F9B-3447-B1A6-B3F3AF0D762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E7BAB24-BC75-9C83-3570-B11B5EEE343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4556DA-145C-6DD1-1502-471D7431697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DF4EDE3-FCED-8C8C-93B4-88780882986C}"/>
              </a:ext>
            </a:extLst>
          </p:cNvPr>
          <p:cNvSpPr>
            <a:spLocks noGrp="1"/>
          </p:cNvSpPr>
          <p:nvPr>
            <p:ph type="dt" sz="half" idx="10"/>
          </p:nvPr>
        </p:nvSpPr>
        <p:spPr/>
        <p:txBody>
          <a:bodyPr/>
          <a:lstStyle/>
          <a:p>
            <a:fld id="{170AD95B-9101-4827-8E8F-97BBDB653CA4}" type="datetimeFigureOut">
              <a:rPr lang="en-US" smtClean="0"/>
              <a:t>4/16/2024</a:t>
            </a:fld>
            <a:endParaRPr lang="en-US"/>
          </a:p>
        </p:txBody>
      </p:sp>
      <p:sp>
        <p:nvSpPr>
          <p:cNvPr id="8" name="Footer Placeholder 7">
            <a:extLst>
              <a:ext uri="{FF2B5EF4-FFF2-40B4-BE49-F238E27FC236}">
                <a16:creationId xmlns:a16="http://schemas.microsoft.com/office/drawing/2014/main" id="{7600B25E-E58A-4349-0DDE-4243F69B5F3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B831C2F-E8A2-B029-A8CF-63354188C79B}"/>
              </a:ext>
            </a:extLst>
          </p:cNvPr>
          <p:cNvSpPr>
            <a:spLocks noGrp="1"/>
          </p:cNvSpPr>
          <p:nvPr>
            <p:ph type="sldNum" sz="quarter" idx="12"/>
          </p:nvPr>
        </p:nvSpPr>
        <p:spPr/>
        <p:txBody>
          <a:bodyPr/>
          <a:lstStyle/>
          <a:p>
            <a:fld id="{0FD634AE-769F-4355-A23F-8D9EC1BFE854}" type="slidenum">
              <a:rPr lang="en-US" smtClean="0"/>
              <a:t>‹#›</a:t>
            </a:fld>
            <a:endParaRPr lang="en-US"/>
          </a:p>
        </p:txBody>
      </p:sp>
    </p:spTree>
    <p:extLst>
      <p:ext uri="{BB962C8B-B14F-4D97-AF65-F5344CB8AC3E}">
        <p14:creationId xmlns:p14="http://schemas.microsoft.com/office/powerpoint/2010/main" val="3055072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37EE5-002C-9D07-B285-EAF8037141D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1A2B2F2-DBD9-F901-DBD5-C067938F7A01}"/>
              </a:ext>
            </a:extLst>
          </p:cNvPr>
          <p:cNvSpPr>
            <a:spLocks noGrp="1"/>
          </p:cNvSpPr>
          <p:nvPr>
            <p:ph type="dt" sz="half" idx="10"/>
          </p:nvPr>
        </p:nvSpPr>
        <p:spPr/>
        <p:txBody>
          <a:bodyPr/>
          <a:lstStyle/>
          <a:p>
            <a:fld id="{170AD95B-9101-4827-8E8F-97BBDB653CA4}" type="datetimeFigureOut">
              <a:rPr lang="en-US" smtClean="0"/>
              <a:t>4/16/2024</a:t>
            </a:fld>
            <a:endParaRPr lang="en-US"/>
          </a:p>
        </p:txBody>
      </p:sp>
      <p:sp>
        <p:nvSpPr>
          <p:cNvPr id="4" name="Footer Placeholder 3">
            <a:extLst>
              <a:ext uri="{FF2B5EF4-FFF2-40B4-BE49-F238E27FC236}">
                <a16:creationId xmlns:a16="http://schemas.microsoft.com/office/drawing/2014/main" id="{0A6D0087-E022-DB14-44A0-AB240928A97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6E4592B-9518-0B9C-8F85-EA41B6C8A70E}"/>
              </a:ext>
            </a:extLst>
          </p:cNvPr>
          <p:cNvSpPr>
            <a:spLocks noGrp="1"/>
          </p:cNvSpPr>
          <p:nvPr>
            <p:ph type="sldNum" sz="quarter" idx="12"/>
          </p:nvPr>
        </p:nvSpPr>
        <p:spPr/>
        <p:txBody>
          <a:bodyPr/>
          <a:lstStyle/>
          <a:p>
            <a:fld id="{0FD634AE-769F-4355-A23F-8D9EC1BFE854}" type="slidenum">
              <a:rPr lang="en-US" smtClean="0"/>
              <a:t>‹#›</a:t>
            </a:fld>
            <a:endParaRPr lang="en-US"/>
          </a:p>
        </p:txBody>
      </p:sp>
    </p:spTree>
    <p:extLst>
      <p:ext uri="{BB962C8B-B14F-4D97-AF65-F5344CB8AC3E}">
        <p14:creationId xmlns:p14="http://schemas.microsoft.com/office/powerpoint/2010/main" val="17540491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8FA31D-2C43-D1AE-572D-07FE084D6E68}"/>
              </a:ext>
            </a:extLst>
          </p:cNvPr>
          <p:cNvSpPr>
            <a:spLocks noGrp="1"/>
          </p:cNvSpPr>
          <p:nvPr>
            <p:ph type="dt" sz="half" idx="10"/>
          </p:nvPr>
        </p:nvSpPr>
        <p:spPr/>
        <p:txBody>
          <a:bodyPr/>
          <a:lstStyle/>
          <a:p>
            <a:fld id="{170AD95B-9101-4827-8E8F-97BBDB653CA4}" type="datetimeFigureOut">
              <a:rPr lang="en-US" smtClean="0"/>
              <a:t>4/16/2024</a:t>
            </a:fld>
            <a:endParaRPr lang="en-US"/>
          </a:p>
        </p:txBody>
      </p:sp>
      <p:sp>
        <p:nvSpPr>
          <p:cNvPr id="3" name="Footer Placeholder 2">
            <a:extLst>
              <a:ext uri="{FF2B5EF4-FFF2-40B4-BE49-F238E27FC236}">
                <a16:creationId xmlns:a16="http://schemas.microsoft.com/office/drawing/2014/main" id="{2B55C14D-6493-5490-7A6F-D7E8A2A1907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7BCD742-EA89-E055-654C-3549D96EC5D8}"/>
              </a:ext>
            </a:extLst>
          </p:cNvPr>
          <p:cNvSpPr>
            <a:spLocks noGrp="1"/>
          </p:cNvSpPr>
          <p:nvPr>
            <p:ph type="sldNum" sz="quarter" idx="12"/>
          </p:nvPr>
        </p:nvSpPr>
        <p:spPr/>
        <p:txBody>
          <a:bodyPr/>
          <a:lstStyle/>
          <a:p>
            <a:fld id="{0FD634AE-769F-4355-A23F-8D9EC1BFE854}" type="slidenum">
              <a:rPr lang="en-US" smtClean="0"/>
              <a:t>‹#›</a:t>
            </a:fld>
            <a:endParaRPr lang="en-US"/>
          </a:p>
        </p:txBody>
      </p:sp>
    </p:spTree>
    <p:extLst>
      <p:ext uri="{BB962C8B-B14F-4D97-AF65-F5344CB8AC3E}">
        <p14:creationId xmlns:p14="http://schemas.microsoft.com/office/powerpoint/2010/main" val="17970935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FAFFB-8FC8-A9DC-ACD7-8A8D8F7253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6867026-4DA4-3C61-3C44-715BC7CB1C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3B76638-9B93-4A68-32FB-9F2921BC96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794863-AAF9-1A24-D240-96EF9E122F32}"/>
              </a:ext>
            </a:extLst>
          </p:cNvPr>
          <p:cNvSpPr>
            <a:spLocks noGrp="1"/>
          </p:cNvSpPr>
          <p:nvPr>
            <p:ph type="dt" sz="half" idx="10"/>
          </p:nvPr>
        </p:nvSpPr>
        <p:spPr/>
        <p:txBody>
          <a:bodyPr/>
          <a:lstStyle/>
          <a:p>
            <a:fld id="{170AD95B-9101-4827-8E8F-97BBDB653CA4}" type="datetimeFigureOut">
              <a:rPr lang="en-US" smtClean="0"/>
              <a:t>4/16/2024</a:t>
            </a:fld>
            <a:endParaRPr lang="en-US"/>
          </a:p>
        </p:txBody>
      </p:sp>
      <p:sp>
        <p:nvSpPr>
          <p:cNvPr id="6" name="Footer Placeholder 5">
            <a:extLst>
              <a:ext uri="{FF2B5EF4-FFF2-40B4-BE49-F238E27FC236}">
                <a16:creationId xmlns:a16="http://schemas.microsoft.com/office/drawing/2014/main" id="{0ABABC26-D2C8-7BC4-D995-2060009FC6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430C0C-B17E-4B0B-F31C-06B84E338D64}"/>
              </a:ext>
            </a:extLst>
          </p:cNvPr>
          <p:cNvSpPr>
            <a:spLocks noGrp="1"/>
          </p:cNvSpPr>
          <p:nvPr>
            <p:ph type="sldNum" sz="quarter" idx="12"/>
          </p:nvPr>
        </p:nvSpPr>
        <p:spPr/>
        <p:txBody>
          <a:bodyPr/>
          <a:lstStyle/>
          <a:p>
            <a:fld id="{0FD634AE-769F-4355-A23F-8D9EC1BFE854}" type="slidenum">
              <a:rPr lang="en-US" smtClean="0"/>
              <a:t>‹#›</a:t>
            </a:fld>
            <a:endParaRPr lang="en-US"/>
          </a:p>
        </p:txBody>
      </p:sp>
    </p:spTree>
    <p:extLst>
      <p:ext uri="{BB962C8B-B14F-4D97-AF65-F5344CB8AC3E}">
        <p14:creationId xmlns:p14="http://schemas.microsoft.com/office/powerpoint/2010/main" val="34526051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A7F4C-9B46-2255-66D1-195E7BB518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5BA6B03-6691-9669-8C9D-6EB134E1F0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A2AB310-3091-110D-CDDD-AC28B1D564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843289-98CC-19CB-15E0-46397E5078B2}"/>
              </a:ext>
            </a:extLst>
          </p:cNvPr>
          <p:cNvSpPr>
            <a:spLocks noGrp="1"/>
          </p:cNvSpPr>
          <p:nvPr>
            <p:ph type="dt" sz="half" idx="10"/>
          </p:nvPr>
        </p:nvSpPr>
        <p:spPr/>
        <p:txBody>
          <a:bodyPr/>
          <a:lstStyle/>
          <a:p>
            <a:fld id="{170AD95B-9101-4827-8E8F-97BBDB653CA4}" type="datetimeFigureOut">
              <a:rPr lang="en-US" smtClean="0"/>
              <a:t>4/16/2024</a:t>
            </a:fld>
            <a:endParaRPr lang="en-US"/>
          </a:p>
        </p:txBody>
      </p:sp>
      <p:sp>
        <p:nvSpPr>
          <p:cNvPr id="6" name="Footer Placeholder 5">
            <a:extLst>
              <a:ext uri="{FF2B5EF4-FFF2-40B4-BE49-F238E27FC236}">
                <a16:creationId xmlns:a16="http://schemas.microsoft.com/office/drawing/2014/main" id="{960AB1D7-BE55-C888-3635-AEAF3F5308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6E8858-8984-FC5A-3012-986B105F4255}"/>
              </a:ext>
            </a:extLst>
          </p:cNvPr>
          <p:cNvSpPr>
            <a:spLocks noGrp="1"/>
          </p:cNvSpPr>
          <p:nvPr>
            <p:ph type="sldNum" sz="quarter" idx="12"/>
          </p:nvPr>
        </p:nvSpPr>
        <p:spPr/>
        <p:txBody>
          <a:bodyPr/>
          <a:lstStyle/>
          <a:p>
            <a:fld id="{0FD634AE-769F-4355-A23F-8D9EC1BFE854}" type="slidenum">
              <a:rPr lang="en-US" smtClean="0"/>
              <a:t>‹#›</a:t>
            </a:fld>
            <a:endParaRPr lang="en-US"/>
          </a:p>
        </p:txBody>
      </p:sp>
    </p:spTree>
    <p:extLst>
      <p:ext uri="{BB962C8B-B14F-4D97-AF65-F5344CB8AC3E}">
        <p14:creationId xmlns:p14="http://schemas.microsoft.com/office/powerpoint/2010/main" val="20025937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CA838-02AB-E936-1E32-6B60680C105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A4DBA1E-6C22-1592-8E86-8C53438582C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D6AB08-5285-351D-B67C-963802B271FD}"/>
              </a:ext>
            </a:extLst>
          </p:cNvPr>
          <p:cNvSpPr>
            <a:spLocks noGrp="1"/>
          </p:cNvSpPr>
          <p:nvPr>
            <p:ph type="dt" sz="half" idx="10"/>
          </p:nvPr>
        </p:nvSpPr>
        <p:spPr/>
        <p:txBody>
          <a:bodyPr/>
          <a:lstStyle/>
          <a:p>
            <a:fld id="{170AD95B-9101-4827-8E8F-97BBDB653CA4}" type="datetimeFigureOut">
              <a:rPr lang="en-US" smtClean="0"/>
              <a:t>4/16/2024</a:t>
            </a:fld>
            <a:endParaRPr lang="en-US"/>
          </a:p>
        </p:txBody>
      </p:sp>
      <p:sp>
        <p:nvSpPr>
          <p:cNvPr id="5" name="Footer Placeholder 4">
            <a:extLst>
              <a:ext uri="{FF2B5EF4-FFF2-40B4-BE49-F238E27FC236}">
                <a16:creationId xmlns:a16="http://schemas.microsoft.com/office/drawing/2014/main" id="{DE146911-1998-D942-43E9-BA797E3D5B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4B8218-39BA-9B1C-34EF-5C27F9F4A805}"/>
              </a:ext>
            </a:extLst>
          </p:cNvPr>
          <p:cNvSpPr>
            <a:spLocks noGrp="1"/>
          </p:cNvSpPr>
          <p:nvPr>
            <p:ph type="sldNum" sz="quarter" idx="12"/>
          </p:nvPr>
        </p:nvSpPr>
        <p:spPr/>
        <p:txBody>
          <a:bodyPr/>
          <a:lstStyle/>
          <a:p>
            <a:fld id="{0FD634AE-769F-4355-A23F-8D9EC1BFE854}" type="slidenum">
              <a:rPr lang="en-US" smtClean="0"/>
              <a:t>‹#›</a:t>
            </a:fld>
            <a:endParaRPr lang="en-US"/>
          </a:p>
        </p:txBody>
      </p:sp>
    </p:spTree>
    <p:extLst>
      <p:ext uri="{BB962C8B-B14F-4D97-AF65-F5344CB8AC3E}">
        <p14:creationId xmlns:p14="http://schemas.microsoft.com/office/powerpoint/2010/main" val="9386986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5E02BD-2229-E51F-200F-3B9A18FFCF9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7767EA1-996F-F162-3A45-053E5A575EA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0C362A-F1A5-28F7-0405-DC925F375262}"/>
              </a:ext>
            </a:extLst>
          </p:cNvPr>
          <p:cNvSpPr>
            <a:spLocks noGrp="1"/>
          </p:cNvSpPr>
          <p:nvPr>
            <p:ph type="dt" sz="half" idx="10"/>
          </p:nvPr>
        </p:nvSpPr>
        <p:spPr/>
        <p:txBody>
          <a:bodyPr/>
          <a:lstStyle/>
          <a:p>
            <a:fld id="{170AD95B-9101-4827-8E8F-97BBDB653CA4}" type="datetimeFigureOut">
              <a:rPr lang="en-US" smtClean="0"/>
              <a:t>4/16/2024</a:t>
            </a:fld>
            <a:endParaRPr lang="en-US"/>
          </a:p>
        </p:txBody>
      </p:sp>
      <p:sp>
        <p:nvSpPr>
          <p:cNvPr id="5" name="Footer Placeholder 4">
            <a:extLst>
              <a:ext uri="{FF2B5EF4-FFF2-40B4-BE49-F238E27FC236}">
                <a16:creationId xmlns:a16="http://schemas.microsoft.com/office/drawing/2014/main" id="{22186E4D-58BE-44D9-CE15-EF83A9AF3D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AE91AE-F9EB-CAC7-E507-C7931A62C62E}"/>
              </a:ext>
            </a:extLst>
          </p:cNvPr>
          <p:cNvSpPr>
            <a:spLocks noGrp="1"/>
          </p:cNvSpPr>
          <p:nvPr>
            <p:ph type="sldNum" sz="quarter" idx="12"/>
          </p:nvPr>
        </p:nvSpPr>
        <p:spPr/>
        <p:txBody>
          <a:bodyPr/>
          <a:lstStyle/>
          <a:p>
            <a:fld id="{0FD634AE-769F-4355-A23F-8D9EC1BFE854}" type="slidenum">
              <a:rPr lang="en-US" smtClean="0"/>
              <a:t>‹#›</a:t>
            </a:fld>
            <a:endParaRPr lang="en-US"/>
          </a:p>
        </p:txBody>
      </p:sp>
    </p:spTree>
    <p:extLst>
      <p:ext uri="{BB962C8B-B14F-4D97-AF65-F5344CB8AC3E}">
        <p14:creationId xmlns:p14="http://schemas.microsoft.com/office/powerpoint/2010/main" val="7118814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6085EB-42F5-C20B-A1AB-FDE7D8F6EE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CAFC581-9733-BAED-FFD0-5EC2EE91A8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6D46CA-DC3E-D861-9077-C529490191A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0AD95B-9101-4827-8E8F-97BBDB653CA4}" type="datetimeFigureOut">
              <a:rPr lang="en-US" smtClean="0"/>
              <a:t>4/16/2024</a:t>
            </a:fld>
            <a:endParaRPr lang="en-US"/>
          </a:p>
        </p:txBody>
      </p:sp>
      <p:sp>
        <p:nvSpPr>
          <p:cNvPr id="5" name="Footer Placeholder 4">
            <a:extLst>
              <a:ext uri="{FF2B5EF4-FFF2-40B4-BE49-F238E27FC236}">
                <a16:creationId xmlns:a16="http://schemas.microsoft.com/office/drawing/2014/main" id="{12434E32-86E1-42D1-614F-997D8463C9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1C26F1C-C386-2C99-351B-210E751010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D634AE-769F-4355-A23F-8D9EC1BFE854}" type="slidenum">
              <a:rPr lang="en-US" smtClean="0"/>
              <a:t>‹#›</a:t>
            </a:fld>
            <a:endParaRPr lang="en-US"/>
          </a:p>
        </p:txBody>
      </p:sp>
    </p:spTree>
    <p:extLst>
      <p:ext uri="{BB962C8B-B14F-4D97-AF65-F5344CB8AC3E}">
        <p14:creationId xmlns:p14="http://schemas.microsoft.com/office/powerpoint/2010/main" val="7517219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FBFE0E2-9CA7-0E20-9EC0-FA8611DB3AD4}"/>
              </a:ext>
            </a:extLst>
          </p:cNvPr>
          <p:cNvSpPr>
            <a:spLocks noGrp="1"/>
          </p:cNvSpPr>
          <p:nvPr>
            <p:ph type="subTitle" idx="1"/>
          </p:nvPr>
        </p:nvSpPr>
        <p:spPr/>
        <p:txBody>
          <a:bodyPr>
            <a:normAutofit fontScale="92500" lnSpcReduction="20000"/>
          </a:bodyPr>
          <a:lstStyle/>
          <a:p>
            <a:r>
              <a:rPr lang="en-US" sz="7200" dirty="0">
                <a:solidFill>
                  <a:srgbClr val="FF0000"/>
                </a:solidFill>
                <a:latin typeface="Algerian" panose="04020705040A02060702" pitchFamily="82" charset="0"/>
              </a:rPr>
              <a:t>Philosophy of language</a:t>
            </a:r>
          </a:p>
        </p:txBody>
      </p:sp>
    </p:spTree>
    <p:extLst>
      <p:ext uri="{BB962C8B-B14F-4D97-AF65-F5344CB8AC3E}">
        <p14:creationId xmlns:p14="http://schemas.microsoft.com/office/powerpoint/2010/main" val="21898795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90A3763-6052-4A35-85F2-FD25D80CEBD5}"/>
              </a:ext>
            </a:extLst>
          </p:cNvPr>
          <p:cNvSpPr txBox="1"/>
          <p:nvPr/>
        </p:nvSpPr>
        <p:spPr>
          <a:xfrm>
            <a:off x="0" y="0"/>
            <a:ext cx="12192000" cy="6047489"/>
          </a:xfrm>
          <a:prstGeom prst="rect">
            <a:avLst/>
          </a:prstGeom>
          <a:noFill/>
        </p:spPr>
        <p:txBody>
          <a:bodyPr wrap="square">
            <a:spAutoFit/>
          </a:bodyPr>
          <a:lstStyle/>
          <a:p>
            <a:pPr algn="ctr">
              <a:lnSpc>
                <a:spcPct val="107000"/>
              </a:lnSpc>
              <a:spcAft>
                <a:spcPts val="800"/>
              </a:spcAft>
            </a:pPr>
            <a:r>
              <a:rPr lang="en-US" sz="3200" b="1" dirty="0">
                <a:solidFill>
                  <a:srgbClr val="FF0000"/>
                </a:solidFill>
                <a:effectLst/>
                <a:latin typeface="Algerian" panose="04020705040A02060702" pitchFamily="82" charset="0"/>
                <a:ea typeface="Calibri" panose="020F0502020204030204" pitchFamily="34" charset="0"/>
                <a:cs typeface="Times New Roman" panose="02020603050405020304" pitchFamily="18" charset="0"/>
              </a:rPr>
              <a:t>Course Outline</a:t>
            </a:r>
          </a:p>
          <a:p>
            <a:pPr algn="ctr">
              <a:lnSpc>
                <a:spcPct val="107000"/>
              </a:lnSpc>
              <a:spcAft>
                <a:spcPts val="800"/>
              </a:spcAft>
            </a:pPr>
            <a:endParaRPr lang="en-US" sz="32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06000"/>
              </a:lnSpc>
              <a:spcBef>
                <a:spcPts val="0"/>
              </a:spcBef>
              <a:spcAft>
                <a:spcPts val="0"/>
              </a:spcAft>
              <a:buFont typeface="Symbol" panose="05050102010706020507" pitchFamily="18" charset="2"/>
              <a:buChar char=""/>
              <a:tabLst>
                <a:tab pos="457200" algn="l"/>
              </a:tabLst>
            </a:pPr>
            <a:r>
              <a:rPr lang="en-US" sz="2800" kern="1200" dirty="0">
                <a:solidFill>
                  <a:srgbClr val="000000"/>
                </a:solidFill>
                <a:effectLst/>
                <a:latin typeface="Times New Roman" panose="02020603050405020304" pitchFamily="18" charset="0"/>
                <a:ea typeface="Calibri" panose="020F0502020204030204" pitchFamily="34" charset="0"/>
              </a:rPr>
              <a:t>Main Concern of Philosophy of Language</a:t>
            </a:r>
            <a:endParaRPr lang="en-US" sz="2800" dirty="0">
              <a:effectLst/>
              <a:latin typeface="Times New Roman" panose="02020603050405020304" pitchFamily="18" charset="0"/>
              <a:ea typeface="Times New Roman" panose="02020603050405020304" pitchFamily="18" charset="0"/>
            </a:endParaRPr>
          </a:p>
          <a:p>
            <a:pPr marL="342900" marR="0" lvl="0" indent="-342900" algn="just">
              <a:lnSpc>
                <a:spcPct val="106000"/>
              </a:lnSpc>
              <a:spcBef>
                <a:spcPts val="0"/>
              </a:spcBef>
              <a:spcAft>
                <a:spcPts val="0"/>
              </a:spcAft>
              <a:buFont typeface="Symbol" panose="05050102010706020507" pitchFamily="18" charset="2"/>
              <a:buChar char=""/>
              <a:tabLst>
                <a:tab pos="457200" algn="l"/>
              </a:tabLst>
            </a:pPr>
            <a:r>
              <a:rPr lang="en-US" sz="2800" kern="1200" dirty="0">
                <a:solidFill>
                  <a:srgbClr val="000000"/>
                </a:solidFill>
                <a:effectLst/>
                <a:latin typeface="Times New Roman" panose="02020603050405020304" pitchFamily="18" charset="0"/>
                <a:ea typeface="Calibri" panose="020F0502020204030204" pitchFamily="34" charset="0"/>
              </a:rPr>
              <a:t>Clarification of useful Concepts: </a:t>
            </a:r>
            <a:endParaRPr lang="en-US" sz="2800" dirty="0">
              <a:effectLst/>
              <a:latin typeface="Times New Roman" panose="02020603050405020304" pitchFamily="18" charset="0"/>
              <a:ea typeface="Times New Roman" panose="02020603050405020304" pitchFamily="18" charset="0"/>
            </a:endParaRPr>
          </a:p>
          <a:p>
            <a:pPr marL="228600" marR="0" algn="just">
              <a:lnSpc>
                <a:spcPct val="106000"/>
              </a:lnSpc>
              <a:spcBef>
                <a:spcPts val="0"/>
              </a:spcBef>
              <a:spcAft>
                <a:spcPts val="800"/>
              </a:spcAft>
            </a:pPr>
            <a:r>
              <a:rPr lang="en-US" sz="2800" kern="1200" dirty="0">
                <a:solidFill>
                  <a:srgbClr val="000000"/>
                </a:solidFill>
                <a:effectLst/>
                <a:latin typeface="Times New Roman" panose="02020603050405020304" pitchFamily="18" charset="0"/>
                <a:ea typeface="Calibri" panose="020F0502020204030204" pitchFamily="34" charset="0"/>
              </a:rPr>
              <a:t>+ Language, Philosophy of Language Vs. Linguistic Philosophy</a:t>
            </a:r>
            <a:endParaRPr lang="en-US" sz="2800" dirty="0">
              <a:effectLst/>
              <a:latin typeface="Times New Roman" panose="02020603050405020304" pitchFamily="18" charset="0"/>
              <a:ea typeface="Times New Roman" panose="02020603050405020304" pitchFamily="18" charset="0"/>
            </a:endParaRPr>
          </a:p>
          <a:p>
            <a:pPr marL="228600" marR="0" algn="just">
              <a:lnSpc>
                <a:spcPct val="106000"/>
              </a:lnSpc>
              <a:spcBef>
                <a:spcPts val="0"/>
              </a:spcBef>
              <a:spcAft>
                <a:spcPts val="800"/>
              </a:spcAft>
            </a:pPr>
            <a:r>
              <a:rPr lang="en-US" sz="2800" kern="1200" dirty="0">
                <a:solidFill>
                  <a:srgbClr val="000000"/>
                </a:solidFill>
                <a:effectLst/>
                <a:latin typeface="Times New Roman" panose="02020603050405020304" pitchFamily="18" charset="0"/>
                <a:ea typeface="Calibri" panose="020F0502020204030204" pitchFamily="34" charset="0"/>
              </a:rPr>
              <a:t>+ Linguistic distinctions: </a:t>
            </a:r>
            <a:endParaRPr lang="en-US" sz="2800" dirty="0">
              <a:effectLst/>
              <a:latin typeface="Times New Roman" panose="02020603050405020304" pitchFamily="18" charset="0"/>
              <a:ea typeface="Times New Roman" panose="02020603050405020304" pitchFamily="18" charset="0"/>
            </a:endParaRPr>
          </a:p>
          <a:p>
            <a:pPr marL="228600" marR="0" algn="just">
              <a:lnSpc>
                <a:spcPct val="106000"/>
              </a:lnSpc>
              <a:spcBef>
                <a:spcPts val="0"/>
              </a:spcBef>
              <a:spcAft>
                <a:spcPts val="800"/>
              </a:spcAft>
            </a:pPr>
            <a:r>
              <a:rPr lang="en-US" sz="2800" kern="1200" dirty="0">
                <a:solidFill>
                  <a:srgbClr val="000000"/>
                </a:solidFill>
                <a:effectLst/>
                <a:latin typeface="Times New Roman" panose="02020603050405020304" pitchFamily="18" charset="0"/>
                <a:ea typeface="Calibri" panose="020F0502020204030204" pitchFamily="34" charset="0"/>
              </a:rPr>
              <a:t>* Synthetic &amp; Analytic Statements</a:t>
            </a:r>
            <a:endParaRPr lang="en-US" sz="2800" dirty="0">
              <a:effectLst/>
              <a:latin typeface="Times New Roman" panose="02020603050405020304" pitchFamily="18" charset="0"/>
              <a:ea typeface="Times New Roman" panose="02020603050405020304" pitchFamily="18" charset="0"/>
            </a:endParaRPr>
          </a:p>
          <a:p>
            <a:pPr marL="228600" marR="0" algn="just">
              <a:lnSpc>
                <a:spcPct val="106000"/>
              </a:lnSpc>
              <a:spcBef>
                <a:spcPts val="0"/>
              </a:spcBef>
              <a:spcAft>
                <a:spcPts val="800"/>
              </a:spcAft>
            </a:pPr>
            <a:r>
              <a:rPr lang="en-US" sz="2800" kern="1200" dirty="0">
                <a:solidFill>
                  <a:srgbClr val="000000"/>
                </a:solidFill>
                <a:effectLst/>
                <a:latin typeface="Times New Roman" panose="02020603050405020304" pitchFamily="18" charset="0"/>
                <a:ea typeface="Calibri" panose="020F0502020204030204" pitchFamily="34" charset="0"/>
              </a:rPr>
              <a:t>* A Priori &amp; A Posteriori Propositions</a:t>
            </a:r>
            <a:endParaRPr lang="en-US" sz="2800" dirty="0">
              <a:effectLst/>
              <a:latin typeface="Times New Roman" panose="02020603050405020304" pitchFamily="18" charset="0"/>
              <a:ea typeface="Times New Roman" panose="02020603050405020304" pitchFamily="18" charset="0"/>
            </a:endParaRPr>
          </a:p>
          <a:p>
            <a:pPr marL="228600" marR="0" algn="just">
              <a:lnSpc>
                <a:spcPct val="106000"/>
              </a:lnSpc>
              <a:spcBef>
                <a:spcPts val="0"/>
              </a:spcBef>
              <a:spcAft>
                <a:spcPts val="800"/>
              </a:spcAft>
            </a:pPr>
            <a:r>
              <a:rPr lang="en-US" sz="2800" kern="1200" dirty="0">
                <a:solidFill>
                  <a:srgbClr val="000000"/>
                </a:solidFill>
                <a:effectLst/>
                <a:latin typeface="Times New Roman" panose="02020603050405020304" pitchFamily="18" charset="0"/>
                <a:ea typeface="Calibri" panose="020F0502020204030204" pitchFamily="34" charset="0"/>
              </a:rPr>
              <a:t>* Phonology - Syntax - Semantic &amp; Pragmatic Components of Language</a:t>
            </a:r>
            <a:endParaRPr lang="en-US" sz="2800" dirty="0">
              <a:effectLst/>
              <a:latin typeface="Times New Roman" panose="02020603050405020304" pitchFamily="18" charset="0"/>
              <a:ea typeface="Times New Roman" panose="02020603050405020304" pitchFamily="18" charset="0"/>
            </a:endParaRPr>
          </a:p>
          <a:p>
            <a:pPr marL="228600" marR="0" algn="just">
              <a:lnSpc>
                <a:spcPct val="106000"/>
              </a:lnSpc>
              <a:spcBef>
                <a:spcPts val="0"/>
              </a:spcBef>
              <a:spcAft>
                <a:spcPts val="800"/>
              </a:spcAft>
            </a:pPr>
            <a:r>
              <a:rPr lang="en-US" sz="2800" kern="1200" dirty="0">
                <a:solidFill>
                  <a:srgbClr val="000000"/>
                </a:solidFill>
                <a:effectLst/>
                <a:latin typeface="Times New Roman" panose="02020603050405020304" pitchFamily="18" charset="0"/>
                <a:ea typeface="Calibri" panose="020F0502020204030204" pitchFamily="34" charset="0"/>
              </a:rPr>
              <a:t>* Irony &amp; Metaphor</a:t>
            </a:r>
            <a:endParaRPr lang="en-US" sz="2800" dirty="0">
              <a:effectLst/>
              <a:latin typeface="Times New Roman" panose="02020603050405020304" pitchFamily="18" charset="0"/>
              <a:ea typeface="Times New Roman" panose="02020603050405020304" pitchFamily="18" charset="0"/>
            </a:endParaRPr>
          </a:p>
          <a:p>
            <a:pPr marL="228600" marR="0" algn="just">
              <a:lnSpc>
                <a:spcPct val="106000"/>
              </a:lnSpc>
              <a:spcBef>
                <a:spcPts val="0"/>
              </a:spcBef>
              <a:spcAft>
                <a:spcPts val="800"/>
              </a:spcAft>
            </a:pPr>
            <a:r>
              <a:rPr lang="en-US" sz="2800" kern="1200" dirty="0">
                <a:solidFill>
                  <a:srgbClr val="000000"/>
                </a:solidFill>
                <a:effectLst/>
                <a:latin typeface="Times New Roman" panose="02020603050405020304" pitchFamily="18" charset="0"/>
                <a:ea typeface="Calibri" panose="020F0502020204030204" pitchFamily="34" charset="0"/>
              </a:rPr>
              <a:t>* Use &amp; Mention</a:t>
            </a:r>
            <a:endParaRPr lang="en-US" sz="2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7961909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81D9391-E9FC-4061-AC0A-6CA7DD4539CC}"/>
              </a:ext>
            </a:extLst>
          </p:cNvPr>
          <p:cNvSpPr txBox="1"/>
          <p:nvPr/>
        </p:nvSpPr>
        <p:spPr>
          <a:xfrm>
            <a:off x="0" y="0"/>
            <a:ext cx="12192000" cy="5086329"/>
          </a:xfrm>
          <a:prstGeom prst="rect">
            <a:avLst/>
          </a:prstGeom>
          <a:noFill/>
        </p:spPr>
        <p:txBody>
          <a:bodyPr wrap="square">
            <a:spAutoFit/>
          </a:bodyPr>
          <a:lstStyle/>
          <a:p>
            <a:pPr marL="342900" marR="0" lvl="0" indent="-342900" algn="just">
              <a:lnSpc>
                <a:spcPct val="106000"/>
              </a:lnSpc>
              <a:spcBef>
                <a:spcPts val="0"/>
              </a:spcBef>
              <a:spcAft>
                <a:spcPts val="0"/>
              </a:spcAft>
              <a:buFont typeface="Symbol" panose="05050102010706020507" pitchFamily="18" charset="2"/>
              <a:buChar char=""/>
              <a:tabLst>
                <a:tab pos="457200" algn="l"/>
              </a:tabLst>
            </a:pPr>
            <a:r>
              <a:rPr lang="en-US" sz="2800" kern="1200" dirty="0">
                <a:solidFill>
                  <a:srgbClr val="000000"/>
                </a:solidFill>
                <a:effectLst/>
                <a:latin typeface="Times New Roman" panose="02020603050405020304" pitchFamily="18" charset="0"/>
                <a:ea typeface="Calibri" panose="020F0502020204030204" pitchFamily="34" charset="0"/>
              </a:rPr>
              <a:t>Speech Acts </a:t>
            </a:r>
            <a:endParaRPr lang="en-US" sz="2800" dirty="0">
              <a:effectLst/>
              <a:latin typeface="Times New Roman" panose="02020603050405020304" pitchFamily="18" charset="0"/>
              <a:ea typeface="Times New Roman" panose="02020603050405020304" pitchFamily="18" charset="0"/>
            </a:endParaRPr>
          </a:p>
          <a:p>
            <a:pPr marL="342900" marR="0" lvl="0" indent="-342900" algn="just">
              <a:lnSpc>
                <a:spcPct val="106000"/>
              </a:lnSpc>
              <a:spcBef>
                <a:spcPts val="0"/>
              </a:spcBef>
              <a:spcAft>
                <a:spcPts val="0"/>
              </a:spcAft>
              <a:buFont typeface="Symbol" panose="05050102010706020507" pitchFamily="18" charset="2"/>
              <a:buChar char=""/>
              <a:tabLst>
                <a:tab pos="457200" algn="l"/>
              </a:tabLst>
            </a:pPr>
            <a:r>
              <a:rPr lang="en-US" sz="2800" kern="1200" dirty="0">
                <a:solidFill>
                  <a:srgbClr val="000000"/>
                </a:solidFill>
                <a:effectLst/>
                <a:latin typeface="Times New Roman" panose="02020603050405020304" pitchFamily="18" charset="0"/>
                <a:ea typeface="Calibri" panose="020F0502020204030204" pitchFamily="34" charset="0"/>
              </a:rPr>
              <a:t>Reference &amp; Use </a:t>
            </a:r>
            <a:endParaRPr lang="en-US" sz="2800" dirty="0">
              <a:effectLst/>
              <a:latin typeface="Times New Roman" panose="02020603050405020304" pitchFamily="18" charset="0"/>
              <a:ea typeface="Times New Roman" panose="02020603050405020304" pitchFamily="18" charset="0"/>
            </a:endParaRPr>
          </a:p>
          <a:p>
            <a:pPr marL="342900" marR="0" lvl="0" indent="-342900" algn="just">
              <a:lnSpc>
                <a:spcPct val="106000"/>
              </a:lnSpc>
              <a:spcBef>
                <a:spcPts val="0"/>
              </a:spcBef>
              <a:spcAft>
                <a:spcPts val="0"/>
              </a:spcAft>
              <a:buFont typeface="Symbol" panose="05050102010706020507" pitchFamily="18" charset="2"/>
              <a:buChar char=""/>
              <a:tabLst>
                <a:tab pos="457200" algn="l"/>
              </a:tabLst>
            </a:pPr>
            <a:r>
              <a:rPr lang="en-US" sz="2800" kern="1200" dirty="0">
                <a:solidFill>
                  <a:srgbClr val="000000"/>
                </a:solidFill>
                <a:effectLst/>
                <a:latin typeface="Times New Roman" panose="02020603050405020304" pitchFamily="18" charset="0"/>
                <a:ea typeface="Calibri" panose="020F0502020204030204" pitchFamily="34" charset="0"/>
              </a:rPr>
              <a:t>Meaning – sense meaning, utterer’s (speaker’s) meaning, sentence meaning, listener’s meaning, </a:t>
            </a:r>
            <a:r>
              <a:rPr lang="en-US" sz="2800" i="1" kern="1200" dirty="0">
                <a:solidFill>
                  <a:srgbClr val="000000"/>
                </a:solidFill>
                <a:effectLst/>
                <a:latin typeface="Times New Roman" panose="02020603050405020304" pitchFamily="18" charset="0"/>
                <a:ea typeface="Calibri" panose="020F0502020204030204" pitchFamily="34" charset="0"/>
              </a:rPr>
              <a:t>word meaning</a:t>
            </a:r>
            <a:r>
              <a:rPr lang="en-US" sz="2800" kern="1200" dirty="0">
                <a:solidFill>
                  <a:srgbClr val="000000"/>
                </a:solidFill>
                <a:effectLst/>
                <a:latin typeface="Times New Roman" panose="02020603050405020304" pitchFamily="18" charset="0"/>
                <a:ea typeface="Calibri" panose="020F0502020204030204" pitchFamily="34" charset="0"/>
              </a:rPr>
              <a:t>; Theories of meaning.</a:t>
            </a:r>
            <a:endParaRPr lang="en-US" sz="2800" dirty="0">
              <a:effectLst/>
              <a:latin typeface="Times New Roman" panose="02020603050405020304" pitchFamily="18" charset="0"/>
              <a:ea typeface="Times New Roman" panose="02020603050405020304" pitchFamily="18" charset="0"/>
            </a:endParaRPr>
          </a:p>
          <a:p>
            <a:pPr marL="342900" marR="0" lvl="0" indent="-342900" algn="just">
              <a:lnSpc>
                <a:spcPct val="106000"/>
              </a:lnSpc>
              <a:spcBef>
                <a:spcPts val="0"/>
              </a:spcBef>
              <a:spcAft>
                <a:spcPts val="0"/>
              </a:spcAft>
              <a:buFont typeface="Symbol" panose="05050102010706020507" pitchFamily="18" charset="2"/>
              <a:buChar char=""/>
              <a:tabLst>
                <a:tab pos="457200" algn="l"/>
              </a:tabLst>
            </a:pPr>
            <a:r>
              <a:rPr lang="en-US" sz="2800" kern="1200" dirty="0">
                <a:solidFill>
                  <a:srgbClr val="000000"/>
                </a:solidFill>
                <a:effectLst/>
                <a:latin typeface="Times New Roman" panose="02020603050405020304" pitchFamily="18" charset="0"/>
                <a:ea typeface="Calibri" panose="020F0502020204030204" pitchFamily="34" charset="0"/>
              </a:rPr>
              <a:t>Intention and Convention in Speech Acts</a:t>
            </a:r>
            <a:endParaRPr lang="en-US" sz="2800" dirty="0">
              <a:effectLst/>
              <a:latin typeface="Times New Roman" panose="02020603050405020304" pitchFamily="18" charset="0"/>
              <a:ea typeface="Times New Roman" panose="02020603050405020304" pitchFamily="18" charset="0"/>
            </a:endParaRPr>
          </a:p>
          <a:p>
            <a:pPr marL="342900" marR="0" lvl="0" indent="-342900" algn="just">
              <a:lnSpc>
                <a:spcPct val="106000"/>
              </a:lnSpc>
              <a:spcBef>
                <a:spcPts val="0"/>
              </a:spcBef>
              <a:spcAft>
                <a:spcPts val="0"/>
              </a:spcAft>
              <a:buFont typeface="Symbol" panose="05050102010706020507" pitchFamily="18" charset="2"/>
              <a:buChar char=""/>
              <a:tabLst>
                <a:tab pos="457200" algn="l"/>
              </a:tabLst>
            </a:pPr>
            <a:r>
              <a:rPr lang="en-US" sz="2800" kern="1200" dirty="0">
                <a:solidFill>
                  <a:srgbClr val="7030A0"/>
                </a:solidFill>
                <a:effectLst/>
                <a:latin typeface="Times New Roman" panose="02020603050405020304" pitchFamily="18" charset="0"/>
                <a:ea typeface="Calibri" panose="020F0502020204030204" pitchFamily="34" charset="0"/>
              </a:rPr>
              <a:t>Truth and Facts</a:t>
            </a:r>
            <a:endParaRPr lang="en-US" sz="2800" dirty="0">
              <a:solidFill>
                <a:srgbClr val="7030A0"/>
              </a:solidFill>
              <a:effectLst/>
              <a:latin typeface="Times New Roman" panose="02020603050405020304" pitchFamily="18" charset="0"/>
              <a:ea typeface="Times New Roman" panose="02020603050405020304" pitchFamily="18" charset="0"/>
            </a:endParaRPr>
          </a:p>
          <a:p>
            <a:pPr marL="342900" marR="0" lvl="0" indent="-342900" algn="just">
              <a:lnSpc>
                <a:spcPct val="106000"/>
              </a:lnSpc>
              <a:spcBef>
                <a:spcPts val="0"/>
              </a:spcBef>
              <a:spcAft>
                <a:spcPts val="0"/>
              </a:spcAft>
              <a:buFont typeface="Symbol" panose="05050102010706020507" pitchFamily="18" charset="2"/>
              <a:buChar char=""/>
              <a:tabLst>
                <a:tab pos="457200" algn="l"/>
              </a:tabLst>
            </a:pPr>
            <a:r>
              <a:rPr lang="en-US" sz="2800" kern="1200" dirty="0">
                <a:solidFill>
                  <a:srgbClr val="000000"/>
                </a:solidFill>
                <a:effectLst/>
                <a:latin typeface="Times New Roman" panose="02020603050405020304" pitchFamily="18" charset="0"/>
                <a:ea typeface="Calibri" panose="020F0502020204030204" pitchFamily="34" charset="0"/>
              </a:rPr>
              <a:t>Verifiability </a:t>
            </a:r>
            <a:endParaRPr lang="en-US" sz="2800" dirty="0">
              <a:effectLst/>
              <a:latin typeface="Times New Roman" panose="02020603050405020304" pitchFamily="18" charset="0"/>
              <a:ea typeface="Times New Roman" panose="02020603050405020304" pitchFamily="18" charset="0"/>
            </a:endParaRPr>
          </a:p>
          <a:p>
            <a:pPr marL="342900" marR="0" lvl="0" indent="-342900" algn="just">
              <a:lnSpc>
                <a:spcPct val="106000"/>
              </a:lnSpc>
              <a:spcBef>
                <a:spcPts val="0"/>
              </a:spcBef>
              <a:spcAft>
                <a:spcPts val="0"/>
              </a:spcAft>
              <a:buFont typeface="Symbol" panose="05050102010706020507" pitchFamily="18" charset="2"/>
              <a:buChar char=""/>
              <a:tabLst>
                <a:tab pos="457200" algn="l"/>
              </a:tabLst>
            </a:pPr>
            <a:r>
              <a:rPr lang="en-US" sz="2800" kern="1200" dirty="0">
                <a:solidFill>
                  <a:srgbClr val="7030A0"/>
                </a:solidFill>
                <a:effectLst/>
                <a:latin typeface="Times New Roman" panose="02020603050405020304" pitchFamily="18" charset="0"/>
                <a:ea typeface="Calibri" panose="020F0502020204030204" pitchFamily="34" charset="0"/>
              </a:rPr>
              <a:t>Linguistic Theory and its Philosophical Relevancy </a:t>
            </a:r>
            <a:endParaRPr lang="en-US" sz="2800" dirty="0">
              <a:solidFill>
                <a:srgbClr val="7030A0"/>
              </a:solidFill>
              <a:effectLst/>
              <a:latin typeface="Times New Roman" panose="02020603050405020304" pitchFamily="18" charset="0"/>
              <a:ea typeface="Times New Roman" panose="02020603050405020304" pitchFamily="18" charset="0"/>
            </a:endParaRPr>
          </a:p>
          <a:p>
            <a:pPr marL="342900" indent="-342900" algn="just">
              <a:lnSpc>
                <a:spcPct val="106000"/>
              </a:lnSpc>
              <a:buFont typeface="Symbol" panose="05050102010706020507" pitchFamily="18" charset="2"/>
              <a:buChar char=""/>
              <a:tabLst>
                <a:tab pos="457200" algn="l"/>
              </a:tabLst>
            </a:pPr>
            <a:r>
              <a:rPr lang="en-US" sz="2800" kern="1200" dirty="0">
                <a:solidFill>
                  <a:srgbClr val="7030A0"/>
                </a:solidFill>
                <a:effectLst/>
                <a:latin typeface="Times New Roman" panose="02020603050405020304" pitchFamily="18" charset="0"/>
                <a:ea typeface="Calibri" panose="020F0502020204030204" pitchFamily="34" charset="0"/>
              </a:rPr>
              <a:t>Innate Ideas </a:t>
            </a:r>
          </a:p>
          <a:p>
            <a:pPr marL="342900" indent="-342900" algn="just">
              <a:lnSpc>
                <a:spcPct val="106000"/>
              </a:lnSpc>
              <a:buFont typeface="Symbol" panose="05050102010706020507" pitchFamily="18" charset="2"/>
              <a:buChar char=""/>
              <a:tabLst>
                <a:tab pos="457200" algn="l"/>
              </a:tabLst>
            </a:pPr>
            <a:r>
              <a:rPr lang="en-US" sz="2800" dirty="0">
                <a:solidFill>
                  <a:srgbClr val="000000"/>
                </a:solidFill>
                <a:latin typeface="Times New Roman" panose="02020603050405020304" pitchFamily="18" charset="0"/>
                <a:ea typeface="Calibri" panose="020F0502020204030204" pitchFamily="34" charset="0"/>
              </a:rPr>
              <a:t>Naturalizing Language Vs. Society and Language. </a:t>
            </a:r>
            <a:endParaRPr lang="en-US" sz="2800" dirty="0">
              <a:solidFill>
                <a:srgbClr val="7030A0"/>
              </a:solidFill>
              <a:effectLst/>
              <a:latin typeface="Times New Roman" panose="02020603050405020304" pitchFamily="18" charset="0"/>
              <a:ea typeface="Times New Roman" panose="02020603050405020304" pitchFamily="18" charset="0"/>
            </a:endParaRPr>
          </a:p>
          <a:p>
            <a:pPr marL="342900" marR="0" lvl="0" indent="-342900" algn="just">
              <a:lnSpc>
                <a:spcPct val="106000"/>
              </a:lnSpc>
              <a:spcBef>
                <a:spcPts val="0"/>
              </a:spcBef>
              <a:spcAft>
                <a:spcPts val="0"/>
              </a:spcAft>
              <a:buFont typeface="Symbol" panose="05050102010706020507" pitchFamily="18" charset="2"/>
              <a:buChar char=""/>
              <a:tabLst>
                <a:tab pos="457200" algn="l"/>
              </a:tabLst>
            </a:pPr>
            <a:r>
              <a:rPr lang="en-US" sz="2800" kern="1200" dirty="0">
                <a:solidFill>
                  <a:srgbClr val="7030A0"/>
                </a:solidFill>
                <a:effectLst/>
                <a:latin typeface="Times New Roman" panose="02020603050405020304" pitchFamily="18" charset="0"/>
                <a:ea typeface="Calibri" panose="020F0502020204030204" pitchFamily="34" charset="0"/>
              </a:rPr>
              <a:t>A relationship of Language – Mind – Society = Institutional Facts </a:t>
            </a:r>
            <a:endParaRPr lang="en-US" sz="2800" dirty="0">
              <a:solidFill>
                <a:srgbClr val="7030A0"/>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290704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36C584F-6862-4CF2-869E-F102B789D43D}"/>
              </a:ext>
            </a:extLst>
          </p:cNvPr>
          <p:cNvSpPr txBox="1"/>
          <p:nvPr/>
        </p:nvSpPr>
        <p:spPr>
          <a:xfrm>
            <a:off x="0" y="0"/>
            <a:ext cx="12192000" cy="6045309"/>
          </a:xfrm>
          <a:prstGeom prst="rect">
            <a:avLst/>
          </a:prstGeom>
          <a:noFill/>
        </p:spPr>
        <p:txBody>
          <a:bodyPr wrap="square">
            <a:spAutoFit/>
          </a:bodyPr>
          <a:lstStyle/>
          <a:p>
            <a:pPr marL="0" marR="0" algn="ctr">
              <a:lnSpc>
                <a:spcPct val="107000"/>
              </a:lnSpc>
              <a:spcBef>
                <a:spcPts val="0"/>
              </a:spcBef>
              <a:spcAft>
                <a:spcPts val="800"/>
              </a:spcAft>
            </a:pPr>
            <a:r>
              <a:rPr lang="en-US" sz="1800"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Bibliography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822960" marR="0" indent="-822960" algn="just">
              <a:lnSpc>
                <a:spcPct val="107000"/>
              </a:lnSpc>
              <a:spcBef>
                <a:spcPts val="0"/>
              </a:spcBef>
              <a:spcAft>
                <a:spcPts val="800"/>
              </a:spcAft>
            </a:pPr>
            <a:r>
              <a:rPr lang="en-GB" dirty="0">
                <a:effectLst/>
                <a:latin typeface="Times New Roman" panose="02020603050405020304" pitchFamily="18" charset="0"/>
                <a:ea typeface="Calibri" panose="020F0502020204030204" pitchFamily="34" charset="0"/>
                <a:cs typeface="Times New Roman" panose="02020603050405020304" pitchFamily="18" charset="0"/>
              </a:rPr>
              <a:t>S</a:t>
            </a:r>
            <a:r>
              <a:rPr lang="en-GB" cap="small" dirty="0">
                <a:effectLst/>
                <a:latin typeface="Times New Roman" panose="02020603050405020304" pitchFamily="18" charset="0"/>
                <a:ea typeface="Calibri" panose="020F0502020204030204" pitchFamily="34" charset="0"/>
                <a:cs typeface="Times New Roman" panose="02020603050405020304" pitchFamily="18" charset="0"/>
              </a:rPr>
              <a:t>earle</a:t>
            </a:r>
            <a:r>
              <a:rPr lang="en-GB" dirty="0">
                <a:effectLst/>
                <a:latin typeface="Times New Roman" panose="02020603050405020304" pitchFamily="18" charset="0"/>
                <a:ea typeface="Calibri" panose="020F0502020204030204" pitchFamily="34" charset="0"/>
                <a:cs typeface="Times New Roman" panose="02020603050405020304" pitchFamily="18" charset="0"/>
              </a:rPr>
              <a:t>, R. J., </a:t>
            </a:r>
            <a:r>
              <a:rPr lang="en-GB" i="1" dirty="0">
                <a:effectLst/>
                <a:latin typeface="Times New Roman" panose="02020603050405020304" pitchFamily="18" charset="0"/>
                <a:ea typeface="Calibri" panose="020F0502020204030204" pitchFamily="34" charset="0"/>
                <a:cs typeface="Times New Roman" panose="02020603050405020304" pitchFamily="18" charset="0"/>
              </a:rPr>
              <a:t>Speech Acts. An Essay in the Philosophy of Language</a:t>
            </a:r>
            <a:r>
              <a:rPr lang="en-GB" dirty="0">
                <a:effectLst/>
                <a:latin typeface="Times New Roman" panose="02020603050405020304" pitchFamily="18" charset="0"/>
                <a:ea typeface="Calibri" panose="020F0502020204030204" pitchFamily="34" charset="0"/>
                <a:cs typeface="Times New Roman" panose="02020603050405020304" pitchFamily="18" charset="0"/>
              </a:rPr>
              <a:t>, Cambridge University Press, Cambridge, 1969.</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pPr marL="822960" marR="0" indent="-822960" algn="just">
              <a:lnSpc>
                <a:spcPct val="107000"/>
              </a:lnSpc>
              <a:spcBef>
                <a:spcPts val="0"/>
              </a:spcBef>
              <a:spcAft>
                <a:spcPts val="800"/>
              </a:spcAft>
            </a:pPr>
            <a:r>
              <a:rPr lang="en-GB" i="1" dirty="0">
                <a:effectLst/>
                <a:latin typeface="Times New Roman" panose="02020603050405020304" pitchFamily="18" charset="0"/>
                <a:ea typeface="Calibri" panose="020F0502020204030204" pitchFamily="34" charset="0"/>
                <a:cs typeface="Times New Roman" panose="02020603050405020304" pitchFamily="18" charset="0"/>
              </a:rPr>
              <a:t>_________________, Expression and Meaning. Studies in the Theory of Speech Acts</a:t>
            </a:r>
            <a:r>
              <a:rPr lang="en-GB" dirty="0">
                <a:effectLst/>
                <a:latin typeface="Times New Roman" panose="02020603050405020304" pitchFamily="18" charset="0"/>
                <a:ea typeface="Calibri" panose="020F0502020204030204" pitchFamily="34" charset="0"/>
                <a:cs typeface="Times New Roman" panose="02020603050405020304" pitchFamily="18" charset="0"/>
              </a:rPr>
              <a:t>, Cambridge University Press, Cambridge, 1979.</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pPr marL="822960" marR="0" indent="-822960" algn="just">
              <a:lnSpc>
                <a:spcPct val="107000"/>
              </a:lnSpc>
              <a:spcBef>
                <a:spcPts val="0"/>
              </a:spcBef>
              <a:spcAft>
                <a:spcPts val="800"/>
              </a:spcAft>
            </a:pPr>
            <a:r>
              <a:rPr lang="en-GB" dirty="0">
                <a:effectLst/>
                <a:latin typeface="Times New Roman" panose="02020603050405020304" pitchFamily="18" charset="0"/>
                <a:ea typeface="Calibri" panose="020F0502020204030204" pitchFamily="34" charset="0"/>
                <a:cs typeface="Times New Roman" panose="02020603050405020304" pitchFamily="18" charset="0"/>
              </a:rPr>
              <a:t>________________, </a:t>
            </a:r>
            <a:r>
              <a:rPr lang="en-GB" i="1" dirty="0">
                <a:effectLst/>
                <a:latin typeface="Times New Roman" panose="02020603050405020304" pitchFamily="18" charset="0"/>
                <a:ea typeface="Calibri" panose="020F0502020204030204" pitchFamily="34" charset="0"/>
                <a:cs typeface="Times New Roman" panose="02020603050405020304" pitchFamily="18" charset="0"/>
              </a:rPr>
              <a:t>Mind, Language and Society. Philosophy in the Real World</a:t>
            </a:r>
            <a:r>
              <a:rPr lang="en-GB" dirty="0">
                <a:effectLst/>
                <a:latin typeface="Times New Roman" panose="02020603050405020304" pitchFamily="18" charset="0"/>
                <a:ea typeface="Calibri" panose="020F0502020204030204" pitchFamily="34" charset="0"/>
                <a:cs typeface="Times New Roman" panose="02020603050405020304" pitchFamily="18" charset="0"/>
              </a:rPr>
              <a:t>, Basic Books, New York, 1998.</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pPr marL="822960" marR="0" indent="-822960" algn="just">
              <a:lnSpc>
                <a:spcPct val="107000"/>
              </a:lnSpc>
              <a:spcBef>
                <a:spcPts val="0"/>
              </a:spcBef>
              <a:spcAft>
                <a:spcPts val="800"/>
              </a:spcAft>
            </a:pPr>
            <a:r>
              <a:rPr lang="en-GB" dirty="0">
                <a:effectLst/>
                <a:latin typeface="Times New Roman" panose="02020603050405020304" pitchFamily="18" charset="0"/>
                <a:ea typeface="Calibri" panose="020F0502020204030204" pitchFamily="34" charset="0"/>
                <a:cs typeface="Times New Roman" panose="02020603050405020304" pitchFamily="18" charset="0"/>
              </a:rPr>
              <a:t>________________, </a:t>
            </a:r>
            <a:r>
              <a:rPr lang="en-GB" i="1" dirty="0">
                <a:effectLst/>
                <a:latin typeface="Times New Roman" panose="02020603050405020304" pitchFamily="18" charset="0"/>
                <a:ea typeface="Calibri" panose="020F0502020204030204" pitchFamily="34" charset="0"/>
                <a:cs typeface="Times New Roman" panose="02020603050405020304" pitchFamily="18" charset="0"/>
              </a:rPr>
              <a:t>What is a Speech Act</a:t>
            </a:r>
            <a:r>
              <a:rPr lang="en-GB" dirty="0">
                <a:effectLst/>
                <a:latin typeface="Times New Roman" panose="02020603050405020304" pitchFamily="18" charset="0"/>
                <a:ea typeface="Calibri" panose="020F0502020204030204" pitchFamily="34" charset="0"/>
                <a:cs typeface="Times New Roman" panose="02020603050405020304" pitchFamily="18" charset="0"/>
              </a:rPr>
              <a:t>?, in </a:t>
            </a:r>
            <a:r>
              <a:rPr lang="en-GB" i="1" dirty="0">
                <a:effectLst/>
                <a:latin typeface="Times New Roman" panose="02020603050405020304" pitchFamily="18" charset="0"/>
                <a:ea typeface="Calibri" panose="020F0502020204030204" pitchFamily="34" charset="0"/>
                <a:cs typeface="Times New Roman" panose="02020603050405020304" pitchFamily="18" charset="0"/>
              </a:rPr>
              <a:t>The Philosophy of Language</a:t>
            </a:r>
            <a:r>
              <a:rPr lang="en-GB" dirty="0">
                <a:effectLst/>
                <a:latin typeface="Times New Roman" panose="02020603050405020304" pitchFamily="18" charset="0"/>
                <a:ea typeface="Calibri" panose="020F0502020204030204" pitchFamily="34" charset="0"/>
                <a:cs typeface="Times New Roman" panose="02020603050405020304" pitchFamily="18" charset="0"/>
              </a:rPr>
              <a:t>, edited by J. R. Searle, Oxford University Press, London, 1971, p. 39-53. </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pPr marL="822960" marR="0" indent="-822960" algn="just">
              <a:lnSpc>
                <a:spcPct val="107000"/>
              </a:lnSpc>
              <a:spcBef>
                <a:spcPts val="0"/>
              </a:spcBef>
              <a:spcAft>
                <a:spcPts val="800"/>
              </a:spcAft>
            </a:pPr>
            <a:r>
              <a:rPr lang="en-GB" dirty="0">
                <a:effectLst/>
                <a:latin typeface="Times New Roman" panose="02020603050405020304" pitchFamily="18" charset="0"/>
                <a:ea typeface="Calibri" panose="020F0502020204030204" pitchFamily="34" charset="0"/>
                <a:cs typeface="Times New Roman" panose="02020603050405020304" pitchFamily="18" charset="0"/>
              </a:rPr>
              <a:t>________________, </a:t>
            </a:r>
            <a:r>
              <a:rPr lang="en-GB" i="1" dirty="0">
                <a:effectLst/>
                <a:latin typeface="Times New Roman" panose="02020603050405020304" pitchFamily="18" charset="0"/>
                <a:ea typeface="Calibri" panose="020F0502020204030204" pitchFamily="34" charset="0"/>
                <a:cs typeface="Times New Roman" panose="02020603050405020304" pitchFamily="18" charset="0"/>
              </a:rPr>
              <a:t>What is Language: Some Preliminary Remarks</a:t>
            </a:r>
            <a:r>
              <a:rPr lang="en-GB" dirty="0">
                <a:effectLst/>
                <a:latin typeface="Times New Roman" panose="02020603050405020304" pitchFamily="18" charset="0"/>
                <a:ea typeface="Calibri" panose="020F0502020204030204" pitchFamily="34" charset="0"/>
                <a:cs typeface="Times New Roman" panose="02020603050405020304" pitchFamily="18" charset="0"/>
              </a:rPr>
              <a:t>, in </a:t>
            </a:r>
            <a:r>
              <a:rPr lang="en-GB" i="1" dirty="0">
                <a:effectLst/>
                <a:latin typeface="Times New Roman" panose="02020603050405020304" pitchFamily="18" charset="0"/>
                <a:ea typeface="Calibri" panose="020F0502020204030204" pitchFamily="34" charset="0"/>
                <a:cs typeface="Times New Roman" panose="02020603050405020304" pitchFamily="18" charset="0"/>
              </a:rPr>
              <a:t>John Searle’s Philosophy of Language. Force, Meaning and Mind,</a:t>
            </a:r>
            <a:r>
              <a:rPr lang="en-GB" dirty="0">
                <a:effectLst/>
                <a:latin typeface="Times New Roman" panose="02020603050405020304" pitchFamily="18" charset="0"/>
                <a:ea typeface="Calibri" panose="020F0502020204030204" pitchFamily="34" charset="0"/>
                <a:cs typeface="Times New Roman" panose="02020603050405020304" pitchFamily="18" charset="0"/>
              </a:rPr>
              <a:t> edited by S. L. </a:t>
            </a:r>
            <a:r>
              <a:rPr lang="en-GB" dirty="0" err="1">
                <a:effectLst/>
                <a:latin typeface="Times New Roman" panose="02020603050405020304" pitchFamily="18" charset="0"/>
                <a:ea typeface="Calibri" panose="020F0502020204030204" pitchFamily="34" charset="0"/>
                <a:cs typeface="Times New Roman" panose="02020603050405020304" pitchFamily="18" charset="0"/>
              </a:rPr>
              <a:t>Tsohatzidis</a:t>
            </a:r>
            <a:r>
              <a:rPr lang="en-GB" dirty="0">
                <a:effectLst/>
                <a:latin typeface="Times New Roman" panose="02020603050405020304" pitchFamily="18" charset="0"/>
                <a:ea typeface="Calibri" panose="020F0502020204030204" pitchFamily="34" charset="0"/>
                <a:cs typeface="Times New Roman" panose="02020603050405020304" pitchFamily="18" charset="0"/>
              </a:rPr>
              <a:t>, Cambridge University Press, Cambridge, 2007, p. 15-45. </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pPr marL="822960" marR="0" indent="-822960" algn="just">
              <a:lnSpc>
                <a:spcPct val="107000"/>
              </a:lnSpc>
              <a:spcBef>
                <a:spcPts val="0"/>
              </a:spcBef>
              <a:spcAft>
                <a:spcPts val="800"/>
              </a:spcAft>
            </a:pPr>
            <a:r>
              <a:rPr lang="en-US" dirty="0">
                <a:effectLst/>
                <a:latin typeface="Times New Roman" panose="02020603050405020304" pitchFamily="18" charset="0"/>
                <a:ea typeface="Calibri" panose="020F0502020204030204" pitchFamily="34" charset="0"/>
                <a:cs typeface="Times New Roman" panose="02020603050405020304" pitchFamily="18" charset="0"/>
              </a:rPr>
              <a:t>L</a:t>
            </a:r>
            <a:r>
              <a:rPr lang="en-US" cap="small" dirty="0">
                <a:effectLst/>
                <a:latin typeface="Times New Roman" panose="02020603050405020304" pitchFamily="18" charset="0"/>
                <a:ea typeface="Calibri" panose="020F0502020204030204" pitchFamily="34" charset="0"/>
                <a:cs typeface="Times New Roman" panose="02020603050405020304" pitchFamily="18" charset="0"/>
              </a:rPr>
              <a:t>ycan</a:t>
            </a:r>
            <a:r>
              <a:rPr lang="en-US" dirty="0">
                <a:effectLst/>
                <a:latin typeface="Times New Roman" panose="02020603050405020304" pitchFamily="18" charset="0"/>
                <a:ea typeface="Calibri" panose="020F0502020204030204" pitchFamily="34" charset="0"/>
                <a:cs typeface="Times New Roman" panose="02020603050405020304" pitchFamily="18" charset="0"/>
              </a:rPr>
              <a:t>, W. G., </a:t>
            </a:r>
            <a:r>
              <a:rPr lang="en-US" i="1" dirty="0">
                <a:effectLst/>
                <a:latin typeface="Times New Roman" panose="02020603050405020304" pitchFamily="18" charset="0"/>
                <a:ea typeface="Calibri" panose="020F0502020204030204" pitchFamily="34" charset="0"/>
                <a:cs typeface="Times New Roman" panose="02020603050405020304" pitchFamily="18" charset="0"/>
              </a:rPr>
              <a:t>Philosophy of Language: A Contemporary Introduction</a:t>
            </a:r>
            <a:r>
              <a:rPr lang="en-US" dirty="0">
                <a:effectLst/>
                <a:latin typeface="Times New Roman" panose="02020603050405020304" pitchFamily="18" charset="0"/>
                <a:ea typeface="Calibri" panose="020F0502020204030204" pitchFamily="34" charset="0"/>
                <a:cs typeface="Times New Roman" panose="02020603050405020304" pitchFamily="18" charset="0"/>
              </a:rPr>
              <a:t>, 2</a:t>
            </a:r>
            <a:r>
              <a:rPr lang="en-US" baseline="30000" dirty="0">
                <a:effectLst/>
                <a:latin typeface="Times New Roman" panose="02020603050405020304" pitchFamily="18" charset="0"/>
                <a:ea typeface="Calibri" panose="020F0502020204030204" pitchFamily="34" charset="0"/>
                <a:cs typeface="Times New Roman" panose="02020603050405020304" pitchFamily="18" charset="0"/>
              </a:rPr>
              <a:t>nd</a:t>
            </a:r>
            <a:r>
              <a:rPr lang="en-US" dirty="0">
                <a:effectLst/>
                <a:latin typeface="Times New Roman" panose="02020603050405020304" pitchFamily="18" charset="0"/>
                <a:ea typeface="Calibri" panose="020F0502020204030204" pitchFamily="34" charset="0"/>
                <a:cs typeface="Times New Roman" panose="02020603050405020304" pitchFamily="18" charset="0"/>
              </a:rPr>
              <a:t> edition. New York: Routledge, 2008. </a:t>
            </a:r>
          </a:p>
          <a:p>
            <a:pPr marL="822960" marR="0" indent="-822960" algn="just">
              <a:lnSpc>
                <a:spcPct val="107000"/>
              </a:lnSpc>
              <a:spcBef>
                <a:spcPts val="0"/>
              </a:spcBef>
              <a:spcAft>
                <a:spcPts val="800"/>
              </a:spcAft>
            </a:pPr>
            <a:r>
              <a:rPr lang="en-GB" dirty="0">
                <a:effectLst/>
                <a:latin typeface="Times New Roman" panose="02020603050405020304" pitchFamily="18" charset="0"/>
                <a:ea typeface="Calibri" panose="020F0502020204030204" pitchFamily="34" charset="0"/>
                <a:cs typeface="Times New Roman" panose="02020603050405020304" pitchFamily="18" charset="0"/>
              </a:rPr>
              <a:t>C</a:t>
            </a:r>
            <a:r>
              <a:rPr lang="en-GB" cap="small" dirty="0">
                <a:effectLst/>
                <a:latin typeface="Times New Roman" panose="02020603050405020304" pitchFamily="18" charset="0"/>
                <a:ea typeface="Calibri" panose="020F0502020204030204" pitchFamily="34" charset="0"/>
                <a:cs typeface="Times New Roman" panose="02020603050405020304" pitchFamily="18" charset="0"/>
              </a:rPr>
              <a:t>homsky</a:t>
            </a:r>
            <a:r>
              <a:rPr lang="en-GB" dirty="0">
                <a:effectLst/>
                <a:latin typeface="Times New Roman" panose="02020603050405020304" pitchFamily="18" charset="0"/>
                <a:ea typeface="Calibri" panose="020F0502020204030204" pitchFamily="34" charset="0"/>
                <a:cs typeface="Times New Roman" panose="02020603050405020304" pitchFamily="18" charset="0"/>
              </a:rPr>
              <a:t> N., </a:t>
            </a:r>
            <a:r>
              <a:rPr lang="en-GB" i="1" dirty="0">
                <a:effectLst/>
                <a:latin typeface="Times New Roman" panose="02020603050405020304" pitchFamily="18" charset="0"/>
                <a:ea typeface="Calibri" panose="020F0502020204030204" pitchFamily="34" charset="0"/>
                <a:cs typeface="Times New Roman" panose="02020603050405020304" pitchFamily="18" charset="0"/>
              </a:rPr>
              <a:t>Language and Mind</a:t>
            </a:r>
            <a:r>
              <a:rPr lang="en-GB" dirty="0">
                <a:effectLst/>
                <a:latin typeface="Times New Roman" panose="02020603050405020304" pitchFamily="18" charset="0"/>
                <a:ea typeface="Calibri" panose="020F0502020204030204" pitchFamily="34" charset="0"/>
                <a:cs typeface="Times New Roman" panose="02020603050405020304" pitchFamily="18" charset="0"/>
              </a:rPr>
              <a:t>, 3</a:t>
            </a:r>
            <a:r>
              <a:rPr lang="en-GB" baseline="30000" dirty="0">
                <a:effectLst/>
                <a:latin typeface="Times New Roman" panose="02020603050405020304" pitchFamily="18" charset="0"/>
                <a:ea typeface="Calibri" panose="020F0502020204030204" pitchFamily="34" charset="0"/>
                <a:cs typeface="Times New Roman" panose="02020603050405020304" pitchFamily="18" charset="0"/>
              </a:rPr>
              <a:t>rd</a:t>
            </a:r>
            <a:r>
              <a:rPr lang="en-GB" dirty="0">
                <a:effectLst/>
                <a:latin typeface="Times New Roman" panose="02020603050405020304" pitchFamily="18" charset="0"/>
                <a:ea typeface="Calibri" panose="020F0502020204030204" pitchFamily="34" charset="0"/>
                <a:cs typeface="Times New Roman" panose="02020603050405020304" pitchFamily="18" charset="0"/>
              </a:rPr>
              <a:t> ed., Cambridge University Press, New York, 2006. </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pPr marL="822960" marR="0" indent="-822960" algn="just">
              <a:lnSpc>
                <a:spcPct val="107000"/>
              </a:lnSpc>
              <a:spcBef>
                <a:spcPts val="0"/>
              </a:spcBef>
              <a:spcAft>
                <a:spcPts val="800"/>
              </a:spcAft>
            </a:pPr>
            <a:r>
              <a:rPr lang="en-GB" dirty="0">
                <a:effectLst/>
                <a:latin typeface="Times New Roman" panose="02020603050405020304" pitchFamily="18" charset="0"/>
                <a:ea typeface="Calibri" panose="020F0502020204030204" pitchFamily="34" charset="0"/>
                <a:cs typeface="Times New Roman" panose="02020603050405020304" pitchFamily="18" charset="0"/>
              </a:rPr>
              <a:t>__________________, </a:t>
            </a:r>
            <a:r>
              <a:rPr lang="en-GB" i="1" dirty="0">
                <a:effectLst/>
                <a:latin typeface="Times New Roman" panose="02020603050405020304" pitchFamily="18" charset="0"/>
                <a:ea typeface="Calibri" panose="020F0502020204030204" pitchFamily="34" charset="0"/>
                <a:cs typeface="Times New Roman" panose="02020603050405020304" pitchFamily="18" charset="0"/>
              </a:rPr>
              <a:t>Language and Problems of Knowledge</a:t>
            </a:r>
            <a:r>
              <a:rPr lang="en-GB" dirty="0">
                <a:effectLst/>
                <a:latin typeface="Times New Roman" panose="02020603050405020304" pitchFamily="18" charset="0"/>
                <a:ea typeface="Calibri" panose="020F0502020204030204" pitchFamily="34" charset="0"/>
                <a:cs typeface="Times New Roman" panose="02020603050405020304" pitchFamily="18" charset="0"/>
              </a:rPr>
              <a:t>, The MIT Press, Massachusetts-London, 1988.</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pPr marL="822960" marR="0" indent="-822960" algn="just">
              <a:lnSpc>
                <a:spcPct val="107000"/>
              </a:lnSpc>
              <a:spcBef>
                <a:spcPts val="0"/>
              </a:spcBef>
              <a:spcAft>
                <a:spcPts val="800"/>
              </a:spcAft>
            </a:pPr>
            <a:r>
              <a:rPr lang="en-GB" dirty="0">
                <a:effectLst/>
                <a:latin typeface="Times New Roman" panose="02020603050405020304" pitchFamily="18" charset="0"/>
                <a:ea typeface="Calibri" panose="020F0502020204030204" pitchFamily="34" charset="0"/>
                <a:cs typeface="Times New Roman" panose="02020603050405020304" pitchFamily="18" charset="0"/>
              </a:rPr>
              <a:t>__________________, </a:t>
            </a:r>
            <a:r>
              <a:rPr lang="en-GB" i="1" dirty="0">
                <a:effectLst/>
                <a:latin typeface="Times New Roman" panose="02020603050405020304" pitchFamily="18" charset="0"/>
                <a:ea typeface="Calibri" panose="020F0502020204030204" pitchFamily="34" charset="0"/>
                <a:cs typeface="Times New Roman" panose="02020603050405020304" pitchFamily="18" charset="0"/>
              </a:rPr>
              <a:t>Language and Thought</a:t>
            </a:r>
            <a:r>
              <a:rPr lang="en-GB" dirty="0">
                <a:effectLst/>
                <a:latin typeface="Times New Roman" panose="02020603050405020304" pitchFamily="18" charset="0"/>
                <a:ea typeface="Calibri" panose="020F0502020204030204" pitchFamily="34" charset="0"/>
                <a:cs typeface="Times New Roman" panose="02020603050405020304" pitchFamily="18" charset="0"/>
              </a:rPr>
              <a:t>, in </a:t>
            </a:r>
            <a:r>
              <a:rPr lang="en-GB" i="1" dirty="0">
                <a:effectLst/>
                <a:latin typeface="Times New Roman" panose="02020603050405020304" pitchFamily="18" charset="0"/>
                <a:ea typeface="Calibri" panose="020F0502020204030204" pitchFamily="34" charset="0"/>
                <a:cs typeface="Times New Roman" panose="02020603050405020304" pitchFamily="18" charset="0"/>
              </a:rPr>
              <a:t>Language and Thought,</a:t>
            </a:r>
            <a:r>
              <a:rPr lang="en-GB" dirty="0">
                <a:effectLst/>
                <a:latin typeface="Times New Roman" panose="02020603050405020304" pitchFamily="18" charset="0"/>
                <a:ea typeface="Calibri" panose="020F0502020204030204" pitchFamily="34" charset="0"/>
                <a:cs typeface="Times New Roman" panose="02020603050405020304" pitchFamily="18" charset="0"/>
              </a:rPr>
              <a:t> Moyer Bell, </a:t>
            </a:r>
            <a:r>
              <a:rPr lang="en-GB" dirty="0" err="1">
                <a:effectLst/>
                <a:latin typeface="Times New Roman" panose="02020603050405020304" pitchFamily="18" charset="0"/>
                <a:ea typeface="Calibri" panose="020F0502020204030204" pitchFamily="34" charset="0"/>
                <a:cs typeface="Times New Roman" panose="02020603050405020304" pitchFamily="18" charset="0"/>
              </a:rPr>
              <a:t>Wakefiew</a:t>
            </a:r>
            <a:r>
              <a:rPr lang="en-GB" dirty="0">
                <a:effectLst/>
                <a:latin typeface="Times New Roman" panose="02020603050405020304" pitchFamily="18" charset="0"/>
                <a:ea typeface="Calibri" panose="020F0502020204030204" pitchFamily="34" charset="0"/>
                <a:cs typeface="Times New Roman" panose="02020603050405020304" pitchFamily="18" charset="0"/>
              </a:rPr>
              <a:t>-London, 1993, p. 15-53.</a:t>
            </a:r>
          </a:p>
          <a:p>
            <a:pPr marL="822960" marR="0" indent="-822960" algn="just">
              <a:lnSpc>
                <a:spcPct val="107000"/>
              </a:lnSpc>
              <a:spcBef>
                <a:spcPts val="0"/>
              </a:spcBef>
              <a:spcAft>
                <a:spcPts val="800"/>
              </a:spcAft>
            </a:pPr>
            <a:r>
              <a:rPr lang="en-GB" dirty="0">
                <a:effectLst/>
                <a:latin typeface="Times New Roman" panose="02020603050405020304" pitchFamily="18" charset="0"/>
                <a:ea typeface="Calibri" panose="020F0502020204030204" pitchFamily="34" charset="0"/>
                <a:cs typeface="Times New Roman" panose="02020603050405020304" pitchFamily="18" charset="0"/>
              </a:rPr>
              <a:t>A</a:t>
            </a:r>
            <a:r>
              <a:rPr lang="en-GB" cap="small" dirty="0">
                <a:effectLst/>
                <a:latin typeface="Times New Roman" panose="02020603050405020304" pitchFamily="18" charset="0"/>
                <a:ea typeface="Calibri" panose="020F0502020204030204" pitchFamily="34" charset="0"/>
                <a:cs typeface="Times New Roman" panose="02020603050405020304" pitchFamily="18" charset="0"/>
              </a:rPr>
              <a:t>ustin </a:t>
            </a:r>
            <a:r>
              <a:rPr lang="en-GB" dirty="0">
                <a:effectLst/>
                <a:latin typeface="Times New Roman" panose="02020603050405020304" pitchFamily="18" charset="0"/>
                <a:ea typeface="Calibri" panose="020F0502020204030204" pitchFamily="34" charset="0"/>
                <a:cs typeface="Times New Roman" panose="02020603050405020304" pitchFamily="18" charset="0"/>
              </a:rPr>
              <a:t>J. L., </a:t>
            </a:r>
            <a:r>
              <a:rPr lang="en-GB" i="1" dirty="0">
                <a:effectLst/>
                <a:latin typeface="Times New Roman" panose="02020603050405020304" pitchFamily="18" charset="0"/>
                <a:ea typeface="Calibri" panose="020F0502020204030204" pitchFamily="34" charset="0"/>
                <a:cs typeface="Times New Roman" panose="02020603050405020304" pitchFamily="18" charset="0"/>
              </a:rPr>
              <a:t>How to do Things with Words</a:t>
            </a:r>
            <a:r>
              <a:rPr lang="en-GB" dirty="0">
                <a:effectLst/>
                <a:latin typeface="Times New Roman" panose="02020603050405020304" pitchFamily="18" charset="0"/>
                <a:ea typeface="Calibri" panose="020F0502020204030204" pitchFamily="34" charset="0"/>
                <a:cs typeface="Times New Roman" panose="02020603050405020304" pitchFamily="18" charset="0"/>
              </a:rPr>
              <a:t>, Oxford University Press, London, 1962.</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pPr marL="822960" marR="0" indent="-822960" algn="just">
              <a:lnSpc>
                <a:spcPct val="107000"/>
              </a:lnSpc>
              <a:spcBef>
                <a:spcPts val="0"/>
              </a:spcBef>
              <a:spcAft>
                <a:spcPts val="800"/>
              </a:spcAft>
            </a:pPr>
            <a:r>
              <a:rPr lang="en-GB" dirty="0">
                <a:effectLst/>
                <a:latin typeface="Times New Roman" panose="02020603050405020304" pitchFamily="18" charset="0"/>
                <a:ea typeface="Calibri" panose="020F0502020204030204" pitchFamily="34" charset="0"/>
                <a:cs typeface="Times New Roman" panose="02020603050405020304" pitchFamily="18" charset="0"/>
              </a:rPr>
              <a:t>D</a:t>
            </a:r>
            <a:r>
              <a:rPr lang="en-GB" cap="small" dirty="0">
                <a:effectLst/>
                <a:latin typeface="Times New Roman" panose="02020603050405020304" pitchFamily="18" charset="0"/>
                <a:ea typeface="Calibri" panose="020F0502020204030204" pitchFamily="34" charset="0"/>
                <a:cs typeface="Times New Roman" panose="02020603050405020304" pitchFamily="18" charset="0"/>
              </a:rPr>
              <a:t>evitt</a:t>
            </a:r>
            <a:r>
              <a:rPr lang="en-GB" dirty="0">
                <a:effectLst/>
                <a:latin typeface="Times New Roman" panose="02020603050405020304" pitchFamily="18" charset="0"/>
                <a:ea typeface="Calibri" panose="020F0502020204030204" pitchFamily="34" charset="0"/>
                <a:cs typeface="Times New Roman" panose="02020603050405020304" pitchFamily="18" charset="0"/>
              </a:rPr>
              <a:t> M. - </a:t>
            </a:r>
            <a:r>
              <a:rPr lang="en-GB" dirty="0" err="1">
                <a:effectLst/>
                <a:latin typeface="Times New Roman" panose="02020603050405020304" pitchFamily="18" charset="0"/>
                <a:ea typeface="Calibri" panose="020F0502020204030204" pitchFamily="34" charset="0"/>
                <a:cs typeface="Times New Roman" panose="02020603050405020304" pitchFamily="18" charset="0"/>
              </a:rPr>
              <a:t>Sterelny</a:t>
            </a:r>
            <a:r>
              <a:rPr lang="en-GB" dirty="0">
                <a:effectLst/>
                <a:latin typeface="Times New Roman" panose="02020603050405020304" pitchFamily="18" charset="0"/>
                <a:ea typeface="Calibri" panose="020F0502020204030204" pitchFamily="34" charset="0"/>
                <a:cs typeface="Times New Roman" panose="02020603050405020304" pitchFamily="18" charset="0"/>
              </a:rPr>
              <a:t> K., </a:t>
            </a:r>
            <a:r>
              <a:rPr lang="en-GB" i="1" dirty="0">
                <a:effectLst/>
                <a:latin typeface="Times New Roman" panose="02020603050405020304" pitchFamily="18" charset="0"/>
                <a:ea typeface="Calibri" panose="020F0502020204030204" pitchFamily="34" charset="0"/>
                <a:cs typeface="Times New Roman" panose="02020603050405020304" pitchFamily="18" charset="0"/>
              </a:rPr>
              <a:t>Language and Reality. An Introduction to the Philosophy of Language</a:t>
            </a:r>
            <a:r>
              <a:rPr lang="en-GB" dirty="0">
                <a:effectLst/>
                <a:latin typeface="Times New Roman" panose="02020603050405020304" pitchFamily="18" charset="0"/>
                <a:ea typeface="Calibri" panose="020F0502020204030204" pitchFamily="34" charset="0"/>
                <a:cs typeface="Times New Roman" panose="02020603050405020304" pitchFamily="18" charset="0"/>
              </a:rPr>
              <a:t>, 2</a:t>
            </a:r>
            <a:r>
              <a:rPr lang="en-GB" baseline="30000" dirty="0">
                <a:effectLst/>
                <a:latin typeface="Times New Roman" panose="02020603050405020304" pitchFamily="18" charset="0"/>
                <a:ea typeface="Calibri" panose="020F0502020204030204" pitchFamily="34" charset="0"/>
                <a:cs typeface="Times New Roman" panose="02020603050405020304" pitchFamily="18" charset="0"/>
              </a:rPr>
              <a:t>nd</a:t>
            </a:r>
            <a:r>
              <a:rPr lang="en-GB" dirty="0">
                <a:effectLst/>
                <a:latin typeface="Times New Roman" panose="02020603050405020304" pitchFamily="18" charset="0"/>
                <a:ea typeface="Calibri" panose="020F0502020204030204" pitchFamily="34" charset="0"/>
                <a:cs typeface="Times New Roman" panose="02020603050405020304" pitchFamily="18" charset="0"/>
              </a:rPr>
              <a:t> ed., Blackwell, Oxford, 1999.</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pPr marL="822960" marR="0" indent="-822960" algn="just">
              <a:lnSpc>
                <a:spcPct val="107000"/>
              </a:lnSpc>
              <a:spcBef>
                <a:spcPts val="0"/>
              </a:spcBef>
              <a:spcAft>
                <a:spcPts val="800"/>
              </a:spcAft>
            </a:pPr>
            <a:r>
              <a:rPr lang="en-GB" dirty="0">
                <a:effectLst/>
                <a:latin typeface="Times New Roman" panose="02020603050405020304" pitchFamily="18" charset="0"/>
                <a:ea typeface="Calibri" panose="020F0502020204030204" pitchFamily="34" charset="0"/>
                <a:cs typeface="Times New Roman" panose="02020603050405020304" pitchFamily="18" charset="0"/>
              </a:rPr>
              <a:t>D</a:t>
            </a:r>
            <a:r>
              <a:rPr lang="en-GB" cap="small" dirty="0">
                <a:effectLst/>
                <a:latin typeface="Times New Roman" panose="02020603050405020304" pitchFamily="18" charset="0"/>
                <a:ea typeface="Calibri" panose="020F0502020204030204" pitchFamily="34" charset="0"/>
                <a:cs typeface="Times New Roman" panose="02020603050405020304" pitchFamily="18" charset="0"/>
              </a:rPr>
              <a:t>onnellan</a:t>
            </a:r>
            <a:r>
              <a:rPr lang="en-GB" dirty="0">
                <a:effectLst/>
                <a:latin typeface="Times New Roman" panose="02020603050405020304" pitchFamily="18" charset="0"/>
                <a:ea typeface="Calibri" panose="020F0502020204030204" pitchFamily="34" charset="0"/>
                <a:cs typeface="Times New Roman" panose="02020603050405020304" pitchFamily="18" charset="0"/>
              </a:rPr>
              <a:t> K. S., </a:t>
            </a:r>
            <a:r>
              <a:rPr lang="en-GB" i="1" dirty="0">
                <a:effectLst/>
                <a:latin typeface="Times New Roman" panose="02020603050405020304" pitchFamily="18" charset="0"/>
                <a:ea typeface="Calibri" panose="020F0502020204030204" pitchFamily="34" charset="0"/>
                <a:cs typeface="Times New Roman" panose="02020603050405020304" pitchFamily="18" charset="0"/>
              </a:rPr>
              <a:t>Reference and Descriptions</a:t>
            </a:r>
            <a:r>
              <a:rPr lang="en-GB" dirty="0">
                <a:effectLst/>
                <a:latin typeface="Times New Roman" panose="02020603050405020304" pitchFamily="18" charset="0"/>
                <a:ea typeface="Calibri" panose="020F0502020204030204" pitchFamily="34" charset="0"/>
                <a:cs typeface="Times New Roman" panose="02020603050405020304" pitchFamily="18" charset="0"/>
              </a:rPr>
              <a:t>, in </a:t>
            </a:r>
            <a:r>
              <a:rPr lang="en-GB" i="1" dirty="0">
                <a:effectLst/>
                <a:latin typeface="Times New Roman" panose="02020603050405020304" pitchFamily="18" charset="0"/>
                <a:ea typeface="Calibri" panose="020F0502020204030204" pitchFamily="34" charset="0"/>
                <a:cs typeface="Times New Roman" panose="02020603050405020304" pitchFamily="18" charset="0"/>
              </a:rPr>
              <a:t>The Philosophical Review</a:t>
            </a:r>
            <a:r>
              <a:rPr lang="en-GB" dirty="0">
                <a:effectLst/>
                <a:latin typeface="Times New Roman" panose="02020603050405020304" pitchFamily="18" charset="0"/>
                <a:ea typeface="Calibri" panose="020F0502020204030204" pitchFamily="34" charset="0"/>
                <a:cs typeface="Times New Roman" panose="02020603050405020304" pitchFamily="18" charset="0"/>
              </a:rPr>
              <a:t>, 75 (1966) p. 281-304.</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47833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719B467-D65C-437D-B3EE-D063299A4EFF}"/>
              </a:ext>
            </a:extLst>
          </p:cNvPr>
          <p:cNvSpPr txBox="1"/>
          <p:nvPr/>
        </p:nvSpPr>
        <p:spPr>
          <a:xfrm>
            <a:off x="0" y="0"/>
            <a:ext cx="12192000" cy="4050532"/>
          </a:xfrm>
          <a:prstGeom prst="rect">
            <a:avLst/>
          </a:prstGeom>
          <a:noFill/>
        </p:spPr>
        <p:txBody>
          <a:bodyPr wrap="square">
            <a:spAutoFit/>
          </a:bodyPr>
          <a:lstStyle/>
          <a:p>
            <a:pPr marL="822960" marR="0" indent="-822960" algn="just">
              <a:lnSpc>
                <a:spcPct val="107000"/>
              </a:lnSpc>
              <a:spcBef>
                <a:spcPts val="0"/>
              </a:spcBef>
              <a:spcAft>
                <a:spcPts val="800"/>
              </a:spcAft>
            </a:pPr>
            <a:r>
              <a:rPr lang="en-GB" dirty="0">
                <a:effectLst/>
                <a:latin typeface="Times New Roman" panose="02020603050405020304" pitchFamily="18" charset="0"/>
                <a:ea typeface="Calibri" panose="020F0502020204030204" pitchFamily="34" charset="0"/>
                <a:cs typeface="Times New Roman" panose="02020603050405020304" pitchFamily="18" charset="0"/>
              </a:rPr>
              <a:t>K</a:t>
            </a:r>
            <a:r>
              <a:rPr lang="en-GB" cap="small" dirty="0">
                <a:effectLst/>
                <a:latin typeface="Times New Roman" panose="02020603050405020304" pitchFamily="18" charset="0"/>
                <a:ea typeface="Calibri" panose="020F0502020204030204" pitchFamily="34" charset="0"/>
                <a:cs typeface="Times New Roman" panose="02020603050405020304" pitchFamily="18" charset="0"/>
              </a:rPr>
              <a:t>asher</a:t>
            </a:r>
            <a:r>
              <a:rPr lang="en-GB" dirty="0">
                <a:effectLst/>
                <a:latin typeface="Times New Roman" panose="02020603050405020304" pitchFamily="18" charset="0"/>
                <a:ea typeface="Calibri" panose="020F0502020204030204" pitchFamily="34" charset="0"/>
                <a:cs typeface="Times New Roman" panose="02020603050405020304" pitchFamily="18" charset="0"/>
              </a:rPr>
              <a:t> A., </a:t>
            </a:r>
            <a:r>
              <a:rPr lang="en-GB" i="1" dirty="0">
                <a:effectLst/>
                <a:latin typeface="Times New Roman" panose="02020603050405020304" pitchFamily="18" charset="0"/>
                <a:ea typeface="Calibri" panose="020F0502020204030204" pitchFamily="34" charset="0"/>
                <a:cs typeface="Times New Roman" panose="02020603050405020304" pitchFamily="18" charset="0"/>
              </a:rPr>
              <a:t>Implicature</a:t>
            </a:r>
            <a:r>
              <a:rPr lang="en-GB" dirty="0">
                <a:effectLst/>
                <a:latin typeface="Times New Roman" panose="02020603050405020304" pitchFamily="18" charset="0"/>
                <a:ea typeface="Calibri" panose="020F0502020204030204" pitchFamily="34" charset="0"/>
                <a:cs typeface="Times New Roman" panose="02020603050405020304" pitchFamily="18" charset="0"/>
              </a:rPr>
              <a:t>, in </a:t>
            </a:r>
            <a:r>
              <a:rPr lang="en-GB" i="1" dirty="0">
                <a:effectLst/>
                <a:latin typeface="Times New Roman" panose="02020603050405020304" pitchFamily="18" charset="0"/>
                <a:ea typeface="Calibri" panose="020F0502020204030204" pitchFamily="34" charset="0"/>
                <a:cs typeface="Times New Roman" panose="02020603050405020304" pitchFamily="18" charset="0"/>
              </a:rPr>
              <a:t>Key Ideas in Linguistics and the Philosophy of Language,</a:t>
            </a:r>
            <a:r>
              <a:rPr lang="en-GB" dirty="0">
                <a:effectLst/>
                <a:latin typeface="Times New Roman" panose="02020603050405020304" pitchFamily="18" charset="0"/>
                <a:ea typeface="Calibri" panose="020F0502020204030204" pitchFamily="34" charset="0"/>
                <a:cs typeface="Times New Roman" panose="02020603050405020304" pitchFamily="18" charset="0"/>
              </a:rPr>
              <a:t> edited by S. Chapman - C. Routledge, Edinburgh University Press, Edinburgh, 2009, p. 86-92.</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pPr marL="822960" marR="0" indent="-822960" algn="just">
              <a:lnSpc>
                <a:spcPct val="107000"/>
              </a:lnSpc>
              <a:spcBef>
                <a:spcPts val="0"/>
              </a:spcBef>
              <a:spcAft>
                <a:spcPts val="800"/>
              </a:spcAft>
            </a:pPr>
            <a:r>
              <a:rPr lang="en-GB" dirty="0">
                <a:effectLst/>
                <a:latin typeface="Times New Roman" panose="02020603050405020304" pitchFamily="18" charset="0"/>
                <a:ea typeface="Calibri" panose="020F0502020204030204" pitchFamily="34" charset="0"/>
                <a:cs typeface="Times New Roman" panose="02020603050405020304" pitchFamily="18" charset="0"/>
              </a:rPr>
              <a:t>_________________, </a:t>
            </a:r>
            <a:r>
              <a:rPr lang="en-GB" i="1" dirty="0">
                <a:effectLst/>
                <a:latin typeface="Times New Roman" panose="02020603050405020304" pitchFamily="18" charset="0"/>
                <a:ea typeface="Calibri" panose="020F0502020204030204" pitchFamily="34" charset="0"/>
                <a:cs typeface="Times New Roman" panose="02020603050405020304" pitchFamily="18" charset="0"/>
              </a:rPr>
              <a:t>Universal Grammar</a:t>
            </a:r>
            <a:r>
              <a:rPr lang="en-GB" dirty="0">
                <a:effectLst/>
                <a:latin typeface="Times New Roman" panose="02020603050405020304" pitchFamily="18" charset="0"/>
                <a:ea typeface="Calibri" panose="020F0502020204030204" pitchFamily="34" charset="0"/>
                <a:cs typeface="Times New Roman" panose="02020603050405020304" pitchFamily="18" charset="0"/>
              </a:rPr>
              <a:t>, in </a:t>
            </a:r>
            <a:r>
              <a:rPr lang="en-GB" i="1" dirty="0">
                <a:effectLst/>
                <a:latin typeface="Times New Roman" panose="02020603050405020304" pitchFamily="18" charset="0"/>
                <a:ea typeface="Calibri" panose="020F0502020204030204" pitchFamily="34" charset="0"/>
                <a:cs typeface="Times New Roman" panose="02020603050405020304" pitchFamily="18" charset="0"/>
              </a:rPr>
              <a:t>Key Ideas in Linguistics and the Philosophy of Language,</a:t>
            </a:r>
            <a:r>
              <a:rPr lang="en-GB" dirty="0">
                <a:effectLst/>
                <a:latin typeface="Times New Roman" panose="02020603050405020304" pitchFamily="18" charset="0"/>
                <a:ea typeface="Calibri" panose="020F0502020204030204" pitchFamily="34" charset="0"/>
                <a:cs typeface="Times New Roman" panose="02020603050405020304" pitchFamily="18" charset="0"/>
              </a:rPr>
              <a:t> edited by S. Chapman - C. Routledge, Edinburgh University Press, Edinburgh, 2009, p. 247-251.</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pPr marL="822960" marR="0" indent="-822960" algn="just">
              <a:lnSpc>
                <a:spcPct val="107000"/>
              </a:lnSpc>
              <a:spcBef>
                <a:spcPts val="0"/>
              </a:spcBef>
              <a:spcAft>
                <a:spcPts val="800"/>
              </a:spcAft>
            </a:pPr>
            <a:r>
              <a:rPr lang="en-GB" dirty="0">
                <a:effectLst/>
                <a:latin typeface="Times New Roman" panose="02020603050405020304" pitchFamily="18" charset="0"/>
                <a:ea typeface="Calibri" panose="020F0502020204030204" pitchFamily="34" charset="0"/>
                <a:cs typeface="Times New Roman" panose="02020603050405020304" pitchFamily="18" charset="0"/>
              </a:rPr>
              <a:t>P</a:t>
            </a:r>
            <a:r>
              <a:rPr lang="en-GB" cap="small" dirty="0">
                <a:effectLst/>
                <a:latin typeface="Times New Roman" panose="02020603050405020304" pitchFamily="18" charset="0"/>
                <a:ea typeface="Calibri" panose="020F0502020204030204" pitchFamily="34" charset="0"/>
                <a:cs typeface="Times New Roman" panose="02020603050405020304" pitchFamily="18" charset="0"/>
              </a:rPr>
              <a:t>utnam</a:t>
            </a:r>
            <a:r>
              <a:rPr lang="en-GB" dirty="0">
                <a:effectLst/>
                <a:latin typeface="Times New Roman" panose="02020603050405020304" pitchFamily="18" charset="0"/>
                <a:ea typeface="Calibri" panose="020F0502020204030204" pitchFamily="34" charset="0"/>
                <a:cs typeface="Times New Roman" panose="02020603050405020304" pitchFamily="18" charset="0"/>
              </a:rPr>
              <a:t> H., </a:t>
            </a:r>
            <a:r>
              <a:rPr lang="en-GB" i="1" dirty="0">
                <a:effectLst/>
                <a:latin typeface="Times New Roman" panose="02020603050405020304" pitchFamily="18" charset="0"/>
                <a:ea typeface="Calibri" panose="020F0502020204030204" pitchFamily="34" charset="0"/>
                <a:cs typeface="Times New Roman" panose="02020603050405020304" pitchFamily="18" charset="0"/>
              </a:rPr>
              <a:t>The Meaning of “Meaning”</a:t>
            </a:r>
            <a:r>
              <a:rPr lang="en-GB" dirty="0">
                <a:effectLst/>
                <a:latin typeface="Times New Roman" panose="02020603050405020304" pitchFamily="18" charset="0"/>
                <a:ea typeface="Calibri" panose="020F0502020204030204" pitchFamily="34" charset="0"/>
                <a:cs typeface="Times New Roman" panose="02020603050405020304" pitchFamily="18" charset="0"/>
              </a:rPr>
              <a:t>, in </a:t>
            </a:r>
            <a:r>
              <a:rPr lang="en-GB" i="1" dirty="0">
                <a:effectLst/>
                <a:latin typeface="Times New Roman" panose="02020603050405020304" pitchFamily="18" charset="0"/>
                <a:ea typeface="Calibri" panose="020F0502020204030204" pitchFamily="34" charset="0"/>
                <a:cs typeface="Times New Roman" panose="02020603050405020304" pitchFamily="18" charset="0"/>
              </a:rPr>
              <a:t>Philosophy of Mind: Classical and Contemporary Readings</a:t>
            </a:r>
            <a:r>
              <a:rPr lang="en-GB" dirty="0">
                <a:effectLst/>
                <a:latin typeface="Times New Roman" panose="02020603050405020304" pitchFamily="18" charset="0"/>
                <a:ea typeface="Calibri" panose="020F0502020204030204" pitchFamily="34" charset="0"/>
                <a:cs typeface="Times New Roman" panose="02020603050405020304" pitchFamily="18" charset="0"/>
              </a:rPr>
              <a:t>, by D. J. Chalmers, Oxford University Press, New York-Oxford, 2002, p. 581-596.</a:t>
            </a:r>
          </a:p>
          <a:p>
            <a:pPr marL="822960" marR="0" indent="-822960" algn="just">
              <a:lnSpc>
                <a:spcPct val="107000"/>
              </a:lnSpc>
              <a:spcBef>
                <a:spcPts val="0"/>
              </a:spcBef>
              <a:spcAft>
                <a:spcPts val="800"/>
              </a:spcAft>
            </a:pPr>
            <a:r>
              <a:rPr lang="en-GB" dirty="0">
                <a:effectLst/>
                <a:latin typeface="Times New Roman" panose="02020603050405020304" pitchFamily="18" charset="0"/>
                <a:ea typeface="Calibri" panose="020F0502020204030204" pitchFamily="34" charset="0"/>
                <a:cs typeface="Times New Roman" panose="02020603050405020304" pitchFamily="18" charset="0"/>
              </a:rPr>
              <a:t>T</a:t>
            </a:r>
            <a:r>
              <a:rPr lang="en-GB" cap="small" dirty="0">
                <a:effectLst/>
                <a:latin typeface="Times New Roman" panose="02020603050405020304" pitchFamily="18" charset="0"/>
                <a:ea typeface="Calibri" panose="020F0502020204030204" pitchFamily="34" charset="0"/>
                <a:cs typeface="Times New Roman" panose="02020603050405020304" pitchFamily="18" charset="0"/>
              </a:rPr>
              <a:t>aylor</a:t>
            </a:r>
            <a:r>
              <a:rPr lang="en-GB" dirty="0">
                <a:effectLst/>
                <a:latin typeface="Times New Roman" panose="02020603050405020304" pitchFamily="18" charset="0"/>
                <a:ea typeface="Calibri" panose="020F0502020204030204" pitchFamily="34" charset="0"/>
                <a:cs typeface="Times New Roman" panose="02020603050405020304" pitchFamily="18" charset="0"/>
              </a:rPr>
              <a:t> K., </a:t>
            </a:r>
            <a:r>
              <a:rPr lang="en-GB" i="1" dirty="0">
                <a:effectLst/>
                <a:latin typeface="Times New Roman" panose="02020603050405020304" pitchFamily="18" charset="0"/>
                <a:ea typeface="Calibri" panose="020F0502020204030204" pitchFamily="34" charset="0"/>
                <a:cs typeface="Times New Roman" panose="02020603050405020304" pitchFamily="18" charset="0"/>
              </a:rPr>
              <a:t>Truth and Meaning. An Introduction to the Philosophy of Language</a:t>
            </a:r>
            <a:r>
              <a:rPr lang="en-GB" dirty="0">
                <a:effectLst/>
                <a:latin typeface="Times New Roman" panose="02020603050405020304" pitchFamily="18" charset="0"/>
                <a:ea typeface="Calibri" panose="020F0502020204030204" pitchFamily="34" charset="0"/>
                <a:cs typeface="Times New Roman" panose="02020603050405020304" pitchFamily="18" charset="0"/>
              </a:rPr>
              <a:t>, Ma: Blackwell, Oxford-Massachusetts, 1998. </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pPr marL="822960" marR="0" indent="-822960" algn="just">
              <a:lnSpc>
                <a:spcPct val="107000"/>
              </a:lnSpc>
              <a:spcBef>
                <a:spcPts val="0"/>
              </a:spcBef>
              <a:spcAft>
                <a:spcPts val="800"/>
              </a:spcAft>
            </a:pPr>
            <a:r>
              <a:rPr lang="en-GB" dirty="0" err="1">
                <a:effectLst/>
                <a:latin typeface="Times New Roman" panose="02020603050405020304" pitchFamily="18" charset="0"/>
                <a:ea typeface="Calibri" panose="020F0502020204030204" pitchFamily="34" charset="0"/>
                <a:cs typeface="Times New Roman" panose="02020603050405020304" pitchFamily="18" charset="0"/>
              </a:rPr>
              <a:t>T</a:t>
            </a:r>
            <a:r>
              <a:rPr lang="en-GB" cap="small" dirty="0" err="1">
                <a:effectLst/>
                <a:latin typeface="Times New Roman" panose="02020603050405020304" pitchFamily="18" charset="0"/>
                <a:ea typeface="Calibri" panose="020F0502020204030204" pitchFamily="34" charset="0"/>
                <a:cs typeface="Times New Roman" panose="02020603050405020304" pitchFamily="18" charset="0"/>
              </a:rPr>
              <a:t>omasello</a:t>
            </a:r>
            <a:r>
              <a:rPr lang="en-GB" dirty="0">
                <a:effectLst/>
                <a:latin typeface="Times New Roman" panose="02020603050405020304" pitchFamily="18" charset="0"/>
                <a:ea typeface="Calibri" panose="020F0502020204030204" pitchFamily="34" charset="0"/>
                <a:cs typeface="Times New Roman" panose="02020603050405020304" pitchFamily="18" charset="0"/>
              </a:rPr>
              <a:t> M., </a:t>
            </a:r>
            <a:r>
              <a:rPr lang="en-GB" i="1" dirty="0">
                <a:effectLst/>
                <a:latin typeface="Times New Roman" panose="02020603050405020304" pitchFamily="18" charset="0"/>
                <a:ea typeface="Calibri" panose="020F0502020204030204" pitchFamily="34" charset="0"/>
                <a:cs typeface="Times New Roman" panose="02020603050405020304" pitchFamily="18" charset="0"/>
              </a:rPr>
              <a:t>Constructing a Language</a:t>
            </a:r>
            <a:r>
              <a:rPr lang="en-GB" dirty="0">
                <a:effectLst/>
                <a:latin typeface="Times New Roman" panose="02020603050405020304" pitchFamily="18" charset="0"/>
                <a:ea typeface="Calibri" panose="020F0502020204030204" pitchFamily="34" charset="0"/>
                <a:cs typeface="Times New Roman" panose="02020603050405020304" pitchFamily="18" charset="0"/>
              </a:rPr>
              <a:t>, Harvard University Press, Cambridge-London, 2003.</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pPr marL="822960" marR="0" indent="-822960" algn="just">
              <a:lnSpc>
                <a:spcPct val="107000"/>
              </a:lnSpc>
              <a:spcBef>
                <a:spcPts val="0"/>
              </a:spcBef>
              <a:spcAft>
                <a:spcPts val="800"/>
              </a:spcAft>
            </a:pPr>
            <a:r>
              <a:rPr lang="en-GB" dirty="0">
                <a:effectLst/>
                <a:latin typeface="Times New Roman" panose="02020603050405020304" pitchFamily="18" charset="0"/>
                <a:ea typeface="Calibri" panose="020F0502020204030204" pitchFamily="34" charset="0"/>
                <a:cs typeface="Times New Roman" panose="02020603050405020304" pitchFamily="18" charset="0"/>
              </a:rPr>
              <a:t>_________________, </a:t>
            </a:r>
            <a:r>
              <a:rPr lang="en-GB" i="1" dirty="0">
                <a:effectLst/>
                <a:latin typeface="Times New Roman" panose="02020603050405020304" pitchFamily="18" charset="0"/>
                <a:ea typeface="Calibri" panose="020F0502020204030204" pitchFamily="34" charset="0"/>
                <a:cs typeface="Times New Roman" panose="02020603050405020304" pitchFamily="18" charset="0"/>
              </a:rPr>
              <a:t>Origins of Human Communication</a:t>
            </a:r>
            <a:r>
              <a:rPr lang="en-GB" dirty="0">
                <a:effectLst/>
                <a:latin typeface="Times New Roman" panose="02020603050405020304" pitchFamily="18" charset="0"/>
                <a:ea typeface="Calibri" panose="020F0502020204030204" pitchFamily="34" charset="0"/>
                <a:cs typeface="Times New Roman" panose="02020603050405020304" pitchFamily="18" charset="0"/>
              </a:rPr>
              <a:t>, The MIT Press, Cambridge-London, 2008.</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pPr marL="822960" marR="0" indent="-822960" algn="just">
              <a:lnSpc>
                <a:spcPct val="107000"/>
              </a:lnSpc>
              <a:spcBef>
                <a:spcPts val="0"/>
              </a:spcBef>
              <a:spcAft>
                <a:spcPts val="800"/>
              </a:spcAft>
            </a:pPr>
            <a:r>
              <a:rPr lang="en-GB" dirty="0">
                <a:effectLst/>
                <a:latin typeface="Times New Roman" panose="02020603050405020304" pitchFamily="18" charset="0"/>
                <a:ea typeface="Calibri" panose="020F0502020204030204" pitchFamily="34" charset="0"/>
                <a:cs typeface="Times New Roman" panose="02020603050405020304" pitchFamily="18" charset="0"/>
              </a:rPr>
              <a:t>T</a:t>
            </a:r>
            <a:r>
              <a:rPr lang="en-GB" cap="small" dirty="0">
                <a:effectLst/>
                <a:latin typeface="Times New Roman" panose="02020603050405020304" pitchFamily="18" charset="0"/>
                <a:ea typeface="Calibri" panose="020F0502020204030204" pitchFamily="34" charset="0"/>
                <a:cs typeface="Times New Roman" panose="02020603050405020304" pitchFamily="18" charset="0"/>
              </a:rPr>
              <a:t>ravis</a:t>
            </a:r>
            <a:r>
              <a:rPr lang="en-GB" dirty="0">
                <a:effectLst/>
                <a:latin typeface="Times New Roman" panose="02020603050405020304" pitchFamily="18" charset="0"/>
                <a:ea typeface="Calibri" panose="020F0502020204030204" pitchFamily="34" charset="0"/>
                <a:cs typeface="Times New Roman" panose="02020603050405020304" pitchFamily="18" charset="0"/>
              </a:rPr>
              <a:t> C., </a:t>
            </a:r>
            <a:r>
              <a:rPr lang="en-GB" i="1" dirty="0">
                <a:effectLst/>
                <a:latin typeface="Times New Roman" panose="02020603050405020304" pitchFamily="18" charset="0"/>
                <a:ea typeface="Calibri" panose="020F0502020204030204" pitchFamily="34" charset="0"/>
                <a:cs typeface="Times New Roman" panose="02020603050405020304" pitchFamily="18" charset="0"/>
              </a:rPr>
              <a:t>The Uses of Sense. Wittgenstein’s Philosophy of Language</a:t>
            </a:r>
            <a:r>
              <a:rPr lang="en-GB" dirty="0">
                <a:effectLst/>
                <a:latin typeface="Times New Roman" panose="02020603050405020304" pitchFamily="18" charset="0"/>
                <a:ea typeface="Calibri" panose="020F0502020204030204" pitchFamily="34" charset="0"/>
                <a:cs typeface="Times New Roman" panose="02020603050405020304" pitchFamily="18" charset="0"/>
              </a:rPr>
              <a:t>, Clarendon Press, Oxford, 2001.</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pPr marL="822960" marR="0" indent="-822960" algn="just">
              <a:lnSpc>
                <a:spcPct val="107000"/>
              </a:lnSpc>
              <a:spcBef>
                <a:spcPts val="0"/>
              </a:spcBef>
              <a:spcAft>
                <a:spcPts val="800"/>
              </a:spcAft>
            </a:pPr>
            <a:r>
              <a:rPr lang="en-GB" dirty="0" err="1">
                <a:effectLst/>
                <a:latin typeface="Times New Roman" panose="02020603050405020304" pitchFamily="18" charset="0"/>
                <a:ea typeface="Calibri" panose="020F0502020204030204" pitchFamily="34" charset="0"/>
                <a:cs typeface="Times New Roman" panose="02020603050405020304" pitchFamily="18" charset="0"/>
              </a:rPr>
              <a:t>V</a:t>
            </a:r>
            <a:r>
              <a:rPr lang="en-GB" cap="small" dirty="0" err="1">
                <a:effectLst/>
                <a:latin typeface="Times New Roman" panose="02020603050405020304" pitchFamily="18" charset="0"/>
                <a:ea typeface="Calibri" panose="020F0502020204030204" pitchFamily="34" charset="0"/>
                <a:cs typeface="Times New Roman" panose="02020603050405020304" pitchFamily="18" charset="0"/>
              </a:rPr>
              <a:t>anderveken</a:t>
            </a:r>
            <a:r>
              <a:rPr lang="en-GB" dirty="0">
                <a:effectLst/>
                <a:latin typeface="Times New Roman" panose="02020603050405020304" pitchFamily="18" charset="0"/>
                <a:ea typeface="Calibri" panose="020F0502020204030204" pitchFamily="34" charset="0"/>
                <a:cs typeface="Times New Roman" panose="02020603050405020304" pitchFamily="18" charset="0"/>
              </a:rPr>
              <a:t> D. - K</a:t>
            </a:r>
            <a:r>
              <a:rPr lang="en-GB" cap="small" dirty="0">
                <a:effectLst/>
                <a:latin typeface="Times New Roman" panose="02020603050405020304" pitchFamily="18" charset="0"/>
                <a:ea typeface="Calibri" panose="020F0502020204030204" pitchFamily="34" charset="0"/>
                <a:cs typeface="Times New Roman" panose="02020603050405020304" pitchFamily="18" charset="0"/>
              </a:rPr>
              <a:t>ubo</a:t>
            </a:r>
            <a:r>
              <a:rPr lang="en-GB" dirty="0">
                <a:effectLst/>
                <a:latin typeface="Times New Roman" panose="02020603050405020304" pitchFamily="18" charset="0"/>
                <a:ea typeface="Calibri" panose="020F0502020204030204" pitchFamily="34" charset="0"/>
                <a:cs typeface="Times New Roman" panose="02020603050405020304" pitchFamily="18" charset="0"/>
              </a:rPr>
              <a:t> S., </a:t>
            </a:r>
            <a:r>
              <a:rPr lang="en-GB" i="1" dirty="0">
                <a:effectLst/>
                <a:latin typeface="Times New Roman" panose="02020603050405020304" pitchFamily="18" charset="0"/>
                <a:ea typeface="Calibri" panose="020F0502020204030204" pitchFamily="34" charset="0"/>
                <a:cs typeface="Times New Roman" panose="02020603050405020304" pitchFamily="18" charset="0"/>
              </a:rPr>
              <a:t>Essays in Speech Act Theory</a:t>
            </a:r>
            <a:r>
              <a:rPr lang="en-GB" dirty="0">
                <a:effectLst/>
                <a:latin typeface="Times New Roman" panose="02020603050405020304" pitchFamily="18" charset="0"/>
                <a:ea typeface="Calibri" panose="020F0502020204030204" pitchFamily="34" charset="0"/>
                <a:cs typeface="Times New Roman" panose="02020603050405020304" pitchFamily="18" charset="0"/>
              </a:rPr>
              <a:t>, John </a:t>
            </a:r>
            <a:r>
              <a:rPr lang="en-GB" dirty="0" err="1">
                <a:effectLst/>
                <a:latin typeface="Times New Roman" panose="02020603050405020304" pitchFamily="18" charset="0"/>
                <a:ea typeface="Calibri" panose="020F0502020204030204" pitchFamily="34" charset="0"/>
                <a:cs typeface="Times New Roman" panose="02020603050405020304" pitchFamily="18" charset="0"/>
              </a:rPr>
              <a:t>Benjamins</a:t>
            </a:r>
            <a:r>
              <a:rPr lang="en-GB" dirty="0">
                <a:effectLst/>
                <a:latin typeface="Times New Roman" panose="02020603050405020304" pitchFamily="18" charset="0"/>
                <a:ea typeface="Calibri" panose="020F0502020204030204" pitchFamily="34" charset="0"/>
                <a:cs typeface="Times New Roman" panose="02020603050405020304" pitchFamily="18" charset="0"/>
              </a:rPr>
              <a:t> Publishing Company, Amsterdam-Philadelphia, 2001. </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56554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5BA20C9-D121-46E6-A855-47489D934CB7}"/>
              </a:ext>
            </a:extLst>
          </p:cNvPr>
          <p:cNvSpPr txBox="1"/>
          <p:nvPr/>
        </p:nvSpPr>
        <p:spPr>
          <a:xfrm>
            <a:off x="0" y="0"/>
            <a:ext cx="12192000" cy="4321376"/>
          </a:xfrm>
          <a:prstGeom prst="rect">
            <a:avLst/>
          </a:prstGeom>
          <a:noFill/>
        </p:spPr>
        <p:txBody>
          <a:bodyPr wrap="square">
            <a:spAutoFit/>
          </a:bodyPr>
          <a:lstStyle/>
          <a:p>
            <a:pPr marL="0" marR="0" algn="ctr">
              <a:lnSpc>
                <a:spcPct val="107000"/>
              </a:lnSpc>
              <a:spcBef>
                <a:spcPts val="0"/>
              </a:spcBef>
              <a:spcAft>
                <a:spcPts val="800"/>
              </a:spcAft>
            </a:pPr>
            <a:r>
              <a:rPr lang="en-US" sz="28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Main Concern of this Course</a:t>
            </a:r>
            <a:endParaRPr lang="en-US" sz="2800" b="1"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The course explores through the significant themes of philosophy of language within the bigger spectrum of Analytic </a:t>
            </a:r>
            <a:r>
              <a:rPr lang="en-US" sz="2800" dirty="0">
                <a:latin typeface="Times New Roman" panose="02020603050405020304" pitchFamily="18" charset="0"/>
                <a:ea typeface="Calibri" panose="020F0502020204030204" pitchFamily="34" charset="0"/>
                <a:cs typeface="Times New Roman" panose="02020603050405020304" pitchFamily="18" charset="0"/>
              </a:rPr>
              <a:t>P</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hilosophy. Analytic Philosophy as a philosophical approach follows from the empiricism of John Locke and David Hume, which emphasizes logic, attention to language and simplicity of argument, and seeks to clarify concepts, theories, ideas and methods (of procedure). This introductory course in Phil. of language then, covers themes such as: Speech Acts, Meaning, Reference and Use, Intention, Communication, Truth and Facts, Nature of Linguistic Representation and the relation between Language – Mind – Society. </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585257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B59942E-DFC9-430D-81E1-030A4CE9AE9C}"/>
              </a:ext>
            </a:extLst>
          </p:cNvPr>
          <p:cNvSpPr txBox="1"/>
          <p:nvPr/>
        </p:nvSpPr>
        <p:spPr>
          <a:xfrm>
            <a:off x="0" y="0"/>
            <a:ext cx="12192000" cy="6686382"/>
          </a:xfrm>
          <a:prstGeom prst="rect">
            <a:avLst/>
          </a:prstGeom>
          <a:noFill/>
        </p:spPr>
        <p:txBody>
          <a:bodyPr wrap="square">
            <a:spAutoFit/>
          </a:bodyPr>
          <a:lstStyle/>
          <a:p>
            <a:pPr marL="0" marR="0" algn="ctr">
              <a:lnSpc>
                <a:spcPct val="107000"/>
              </a:lnSpc>
              <a:spcBef>
                <a:spcPts val="0"/>
              </a:spcBef>
              <a:spcAft>
                <a:spcPts val="800"/>
              </a:spcAft>
            </a:pPr>
            <a:r>
              <a:rPr lang="en-US" sz="3600" b="1" dirty="0">
                <a:effectLst/>
                <a:latin typeface="Times New Roman" panose="02020603050405020304" pitchFamily="18" charset="0"/>
                <a:ea typeface="Calibri" panose="020F0502020204030204" pitchFamily="34" charset="0"/>
                <a:cs typeface="Times New Roman" panose="02020603050405020304" pitchFamily="18" charset="0"/>
              </a:rPr>
              <a:t>Historical Note</a:t>
            </a:r>
          </a:p>
          <a:p>
            <a:pPr marL="0" marR="0" algn="just">
              <a:lnSpc>
                <a:spcPct val="107000"/>
              </a:lnSpc>
              <a:spcBef>
                <a:spcPts val="0"/>
              </a:spcBef>
              <a:spcAft>
                <a:spcPts val="800"/>
              </a:spcAft>
            </a:pP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Philosophy of language was invented in late 19</a:t>
            </a:r>
            <a:r>
              <a:rPr lang="en-US" sz="3600" baseline="30000" dirty="0">
                <a:effectLst/>
                <a:latin typeface="Times New Roman" panose="02020603050405020304" pitchFamily="18" charset="0"/>
                <a:ea typeface="Calibri" panose="020F0502020204030204" pitchFamily="34" charset="0"/>
                <a:cs typeface="Times New Roman" panose="02020603050405020304" pitchFamily="18" charset="0"/>
              </a:rPr>
              <a:t>th</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C. by a German G. Frege whose</a:t>
            </a:r>
            <a:r>
              <a:rPr lang="en-GB" sz="3600" dirty="0">
                <a:effectLst/>
                <a:latin typeface="Times New Roman" panose="02020603050405020304" pitchFamily="18" charset="0"/>
                <a:ea typeface="Calibri" panose="020F0502020204030204" pitchFamily="34" charset="0"/>
                <a:cs typeface="Times New Roman" panose="02020603050405020304" pitchFamily="18" charset="0"/>
              </a:rPr>
              <a:t> preoccupation was </a:t>
            </a:r>
            <a:r>
              <a:rPr lang="en-GB" sz="3600" i="1" dirty="0">
                <a:effectLst/>
                <a:latin typeface="Times New Roman" panose="02020603050405020304" pitchFamily="18" charset="0"/>
                <a:ea typeface="Calibri" panose="020F0502020204030204" pitchFamily="34" charset="0"/>
                <a:cs typeface="Times New Roman" panose="02020603050405020304" pitchFamily="18" charset="0"/>
              </a:rPr>
              <a:t>language use </a:t>
            </a:r>
            <a:r>
              <a:rPr lang="en-GB" sz="3600" dirty="0">
                <a:effectLst/>
                <a:latin typeface="Times New Roman" panose="02020603050405020304" pitchFamily="18" charset="0"/>
                <a:ea typeface="Calibri" panose="020F0502020204030204" pitchFamily="34" charset="0"/>
                <a:cs typeface="Times New Roman" panose="02020603050405020304" pitchFamily="18" charset="0"/>
              </a:rPr>
              <a:t>and </a:t>
            </a:r>
            <a:r>
              <a:rPr lang="en-GB" sz="3600" i="1" dirty="0">
                <a:effectLst/>
                <a:latin typeface="Times New Roman" panose="02020603050405020304" pitchFamily="18" charset="0"/>
                <a:ea typeface="Calibri" panose="020F0502020204030204" pitchFamily="34" charset="0"/>
                <a:cs typeface="Times New Roman" panose="02020603050405020304" pitchFamily="18" charset="0"/>
              </a:rPr>
              <a:t>its meaning </a:t>
            </a:r>
            <a:r>
              <a:rPr lang="en-GB" sz="3600" dirty="0">
                <a:effectLst/>
                <a:latin typeface="Times New Roman" panose="02020603050405020304" pitchFamily="18" charset="0"/>
                <a:ea typeface="Calibri" panose="020F0502020204030204" pitchFamily="34" charset="0"/>
                <a:cs typeface="Times New Roman" panose="02020603050405020304" pitchFamily="18" charset="0"/>
              </a:rPr>
              <a:t>in understanding reality. This line of thought called for analysis of language which involved examination of sentences, terms, phrases, their meanings and compositions. Most crucially, though, is the fact that at this time, philosophical problems were all considered and taken to be linguistic problems. That is, problems were thought to arise out of improper use or misuse of language. This then led to the need for a critical study of language in all its possible facets. </a:t>
            </a:r>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734547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22AEF92-B1EF-4DD6-B1C2-13E03B835478}"/>
              </a:ext>
            </a:extLst>
          </p:cNvPr>
          <p:cNvSpPr txBox="1"/>
          <p:nvPr/>
        </p:nvSpPr>
        <p:spPr>
          <a:xfrm>
            <a:off x="156633" y="321732"/>
            <a:ext cx="11878733" cy="5862695"/>
          </a:xfrm>
          <a:prstGeom prst="rect">
            <a:avLst/>
          </a:prstGeom>
          <a:noFill/>
        </p:spPr>
        <p:txBody>
          <a:bodyPr wrap="square">
            <a:spAutoFit/>
          </a:bodyPr>
          <a:lstStyle/>
          <a:p>
            <a:pPr marL="0" marR="0" algn="just">
              <a:lnSpc>
                <a:spcPct val="107000"/>
              </a:lnSpc>
              <a:spcBef>
                <a:spcPts val="0"/>
              </a:spcBef>
              <a:spcAft>
                <a:spcPts val="800"/>
              </a:spcAft>
            </a:pPr>
            <a:r>
              <a:rPr lang="en-GB" sz="3200" dirty="0">
                <a:effectLst/>
                <a:latin typeface="Times New Roman" panose="02020603050405020304" pitchFamily="18" charset="0"/>
                <a:ea typeface="Calibri" panose="020F0502020204030204" pitchFamily="34" charset="0"/>
                <a:cs typeface="Times New Roman" panose="02020603050405020304" pitchFamily="18" charset="0"/>
              </a:rPr>
              <a:t>To this necessity, Frege following the context principle claims that the meaning of a term is envisaged only in the context of a sentence. He puts this principle as, </a:t>
            </a:r>
            <a:r>
              <a:rPr lang="en-GB" sz="3200" i="1" dirty="0">
                <a:effectLst/>
                <a:latin typeface="Times New Roman" panose="02020603050405020304" pitchFamily="18" charset="0"/>
                <a:ea typeface="Calibri" panose="020F0502020204030204" pitchFamily="34" charset="0"/>
                <a:cs typeface="Times New Roman" panose="02020603050405020304" pitchFamily="18" charset="0"/>
              </a:rPr>
              <a:t>“</a:t>
            </a:r>
            <a:r>
              <a:rPr lang="en-IE" sz="3200" i="1" dirty="0">
                <a:effectLst/>
                <a:latin typeface="Times New Roman" panose="02020603050405020304" pitchFamily="18" charset="0"/>
                <a:ea typeface="Calibri" panose="020F0502020204030204" pitchFamily="34" charset="0"/>
                <a:cs typeface="Times New Roman" panose="02020603050405020304" pitchFamily="18" charset="0"/>
              </a:rPr>
              <a:t>never to ask for the meaning of a word in insolation, but only in the context of a preposition”.</a:t>
            </a:r>
            <a:r>
              <a:rPr lang="en-GB" sz="32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GB" sz="3200" dirty="0">
                <a:effectLst/>
                <a:latin typeface="Times New Roman" panose="02020603050405020304" pitchFamily="18" charset="0"/>
                <a:ea typeface="Calibri" panose="020F0502020204030204" pitchFamily="34" charset="0"/>
                <a:cs typeface="Times New Roman" panose="02020603050405020304" pitchFamily="18" charset="0"/>
              </a:rPr>
              <a:t>This is realised by deducing the contribution which a particular term makes to the sense of the entire expression. The understanding here is that Frege demonstrates the useful relationship between the individual terms and the entire expression. In this case, the entire expression provides the context in which the meaning of the various terms which constitute it are understood, while the individual terms together constitute the sense of the whole expression.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868393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FC63DA-620C-4489-AE3C-CA192640ED67}"/>
              </a:ext>
            </a:extLst>
          </p:cNvPr>
          <p:cNvSpPr txBox="1"/>
          <p:nvPr/>
        </p:nvSpPr>
        <p:spPr>
          <a:xfrm>
            <a:off x="0" y="0"/>
            <a:ext cx="11946467" cy="5940088"/>
          </a:xfrm>
          <a:prstGeom prst="rect">
            <a:avLst/>
          </a:prstGeom>
          <a:noFill/>
        </p:spPr>
        <p:txBody>
          <a:bodyPr wrap="square">
            <a:spAutoFit/>
          </a:bodyPr>
          <a:lstStyle/>
          <a:p>
            <a:pPr algn="just"/>
            <a:r>
              <a:rPr lang="en-GB" sz="3800" dirty="0">
                <a:latin typeface="Times New Roman" panose="02020603050405020304" pitchFamily="18" charset="0"/>
                <a:ea typeface="Calibri" panose="020F0502020204030204" pitchFamily="34" charset="0"/>
                <a:cs typeface="Times New Roman" panose="02020603050405020304" pitchFamily="18" charset="0"/>
              </a:rPr>
              <a:t>I</a:t>
            </a:r>
            <a:r>
              <a:rPr lang="en-GB" sz="3800" dirty="0">
                <a:effectLst/>
                <a:latin typeface="Times New Roman" panose="02020603050405020304" pitchFamily="18" charset="0"/>
                <a:ea typeface="Calibri" panose="020F0502020204030204" pitchFamily="34" charset="0"/>
                <a:cs typeface="Times New Roman" panose="02020603050405020304" pitchFamily="18" charset="0"/>
              </a:rPr>
              <a:t>t, thus, means that the context of the entire expression is intertwined with the meaning of the particular and individual terms which make up that expression in question. In other words, meaning being a core property of sentences is derived from the constitutive terms. The ultimate concern would then be, that a proper understanding of the constitutive terms makes the sense of the entire sentence glaringly clear and manifest. This clear understanding of the sense of the entire sentence would in turn lead to a clear comprehension of the truth value of the sentence in question.</a:t>
            </a:r>
            <a:endParaRPr lang="en-US" sz="3800" dirty="0"/>
          </a:p>
        </p:txBody>
      </p:sp>
    </p:spTree>
    <p:extLst>
      <p:ext uri="{BB962C8B-B14F-4D97-AF65-F5344CB8AC3E}">
        <p14:creationId xmlns:p14="http://schemas.microsoft.com/office/powerpoint/2010/main" val="1750118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8531ACE-922C-42EE-BB26-39FE4AC94146}"/>
              </a:ext>
            </a:extLst>
          </p:cNvPr>
          <p:cNvSpPr txBox="1"/>
          <p:nvPr/>
        </p:nvSpPr>
        <p:spPr>
          <a:xfrm>
            <a:off x="0" y="0"/>
            <a:ext cx="12192000" cy="6686382"/>
          </a:xfrm>
          <a:prstGeom prst="rect">
            <a:avLst/>
          </a:prstGeom>
          <a:noFill/>
        </p:spPr>
        <p:txBody>
          <a:bodyPr wrap="square">
            <a:spAutoFit/>
          </a:bodyPr>
          <a:lstStyle/>
          <a:p>
            <a:pPr marL="0" marR="0" algn="just">
              <a:lnSpc>
                <a:spcPct val="107000"/>
              </a:lnSpc>
              <a:spcBef>
                <a:spcPts val="0"/>
              </a:spcBef>
              <a:spcAft>
                <a:spcPts val="800"/>
              </a:spcAft>
            </a:pPr>
            <a:r>
              <a:rPr lang="en-GB" sz="3600" dirty="0">
                <a:effectLst/>
                <a:latin typeface="Times New Roman" panose="02020603050405020304" pitchFamily="18" charset="0"/>
                <a:ea typeface="Calibri" panose="020F0502020204030204" pitchFamily="34" charset="0"/>
                <a:cs typeface="Times New Roman" panose="02020603050405020304" pitchFamily="18" charset="0"/>
              </a:rPr>
              <a:t>As Frege further examines the use of language, </a:t>
            </a:r>
            <a:r>
              <a:rPr lang="en-GB" sz="3600" dirty="0">
                <a:latin typeface="Times New Roman" panose="02020603050405020304" pitchFamily="18" charset="0"/>
                <a:ea typeface="Calibri" panose="020F0502020204030204" pitchFamily="34" charset="0"/>
                <a:cs typeface="Times New Roman" panose="02020603050405020304" pitchFamily="18" charset="0"/>
              </a:rPr>
              <a:t>h</a:t>
            </a:r>
            <a:r>
              <a:rPr lang="en-GB" sz="3600" dirty="0">
                <a:effectLst/>
                <a:latin typeface="Times New Roman" panose="02020603050405020304" pitchFamily="18" charset="0"/>
                <a:ea typeface="Calibri" panose="020F0502020204030204" pitchFamily="34" charset="0"/>
                <a:cs typeface="Times New Roman" panose="02020603050405020304" pitchFamily="18" charset="0"/>
              </a:rPr>
              <a:t>e distinguishes between sense and reference of an expression. </a:t>
            </a:r>
          </a:p>
          <a:p>
            <a:pPr marL="0" marR="0" algn="just">
              <a:lnSpc>
                <a:spcPct val="107000"/>
              </a:lnSpc>
              <a:spcBef>
                <a:spcPts val="0"/>
              </a:spcBef>
              <a:spcAft>
                <a:spcPts val="800"/>
              </a:spcAft>
            </a:pPr>
            <a:r>
              <a:rPr lang="en-GB" sz="3600" b="1" dirty="0">
                <a:effectLst/>
                <a:latin typeface="Times New Roman" panose="02020603050405020304" pitchFamily="18" charset="0"/>
                <a:ea typeface="Calibri" panose="020F0502020204030204" pitchFamily="34" charset="0"/>
                <a:cs typeface="Times New Roman" panose="02020603050405020304" pitchFamily="18" charset="0"/>
              </a:rPr>
              <a:t>By sense </a:t>
            </a:r>
            <a:r>
              <a:rPr lang="en-GB" sz="3600" dirty="0">
                <a:effectLst/>
                <a:latin typeface="Times New Roman" panose="02020603050405020304" pitchFamily="18" charset="0"/>
                <a:ea typeface="Calibri" panose="020F0502020204030204" pitchFamily="34" charset="0"/>
                <a:cs typeface="Times New Roman" panose="02020603050405020304" pitchFamily="18" charset="0"/>
              </a:rPr>
              <a:t>he refers to the thought the sentence expresses, and </a:t>
            </a:r>
            <a:r>
              <a:rPr lang="en-GB" sz="3600" b="1" dirty="0">
                <a:effectLst/>
                <a:latin typeface="Times New Roman" panose="02020603050405020304" pitchFamily="18" charset="0"/>
                <a:ea typeface="Calibri" panose="020F0502020204030204" pitchFamily="34" charset="0"/>
                <a:cs typeface="Times New Roman" panose="02020603050405020304" pitchFamily="18" charset="0"/>
              </a:rPr>
              <a:t>by reference</a:t>
            </a:r>
            <a:r>
              <a:rPr lang="en-GB" sz="3600" dirty="0">
                <a:effectLst/>
                <a:latin typeface="Times New Roman" panose="02020603050405020304" pitchFamily="18" charset="0"/>
                <a:ea typeface="Calibri" panose="020F0502020204030204" pitchFamily="34" charset="0"/>
                <a:cs typeface="Times New Roman" panose="02020603050405020304" pitchFamily="18" charset="0"/>
              </a:rPr>
              <a:t> he points to the objects being talked about by the sentence. Frege further claims that the sense of an expression determines what it refers to and this sense is the thought of the expression. However, he is too quick to point out that “in grasping a sense, one is certainly not assured of a referent”. Yet, in establishing the truth value of any particular expression, that is, the circumstances that it is true or false, both the sense and referent are greatly important. </a:t>
            </a:r>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376734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C05D21D-5674-4FAE-BA74-2B19E2B93A86}"/>
              </a:ext>
            </a:extLst>
          </p:cNvPr>
          <p:cNvSpPr txBox="1"/>
          <p:nvPr/>
        </p:nvSpPr>
        <p:spPr>
          <a:xfrm>
            <a:off x="0" y="0"/>
            <a:ext cx="12192000" cy="344069"/>
          </a:xfrm>
          <a:prstGeom prst="rect">
            <a:avLst/>
          </a:prstGeom>
          <a:noFill/>
        </p:spPr>
        <p:txBody>
          <a:bodyPr wrap="square">
            <a:spAutoFit/>
          </a:bodyPr>
          <a:lstStyle/>
          <a:p>
            <a:pPr marL="0" marR="0" algn="just">
              <a:lnSpc>
                <a:spcPct val="107000"/>
              </a:lnSpc>
              <a:spcBef>
                <a:spcPts val="0"/>
              </a:spcBef>
              <a:spcAft>
                <a:spcPts val="800"/>
              </a:spcAft>
            </a:pP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E44820A3-6E5A-4ADB-A9CB-C7E6835246BC}"/>
              </a:ext>
            </a:extLst>
          </p:cNvPr>
          <p:cNvSpPr txBox="1"/>
          <p:nvPr/>
        </p:nvSpPr>
        <p:spPr>
          <a:xfrm>
            <a:off x="0" y="0"/>
            <a:ext cx="12192000" cy="6389634"/>
          </a:xfrm>
          <a:prstGeom prst="rect">
            <a:avLst/>
          </a:prstGeom>
          <a:noFill/>
        </p:spPr>
        <p:txBody>
          <a:bodyPr wrap="square">
            <a:spAutoFit/>
          </a:bodyPr>
          <a:lstStyle/>
          <a:p>
            <a:pPr marL="0" marR="0" algn="just">
              <a:lnSpc>
                <a:spcPct val="107000"/>
              </a:lnSpc>
              <a:spcBef>
                <a:spcPts val="0"/>
              </a:spcBef>
              <a:spcAft>
                <a:spcPts val="800"/>
              </a:spcAft>
            </a:pPr>
            <a:r>
              <a:rPr lang="en-GB" sz="3200" dirty="0">
                <a:effectLst/>
                <a:latin typeface="Times New Roman" panose="02020603050405020304" pitchFamily="18" charset="0"/>
                <a:ea typeface="Calibri" panose="020F0502020204030204" pitchFamily="34" charset="0"/>
                <a:cs typeface="Times New Roman" panose="02020603050405020304" pitchFamily="18" charset="0"/>
              </a:rPr>
              <a:t>The invention and rise of philosophy of language in the 19</a:t>
            </a:r>
            <a:r>
              <a:rPr lang="en-GB" sz="3200" baseline="30000" dirty="0">
                <a:effectLst/>
                <a:latin typeface="Times New Roman" panose="02020603050405020304" pitchFamily="18" charset="0"/>
                <a:ea typeface="Calibri" panose="020F0502020204030204" pitchFamily="34" charset="0"/>
                <a:cs typeface="Times New Roman" panose="02020603050405020304" pitchFamily="18" charset="0"/>
              </a:rPr>
              <a:t>th</a:t>
            </a:r>
            <a:r>
              <a:rPr lang="en-GB" sz="3200" dirty="0">
                <a:effectLst/>
                <a:latin typeface="Times New Roman" panose="02020603050405020304" pitchFamily="18" charset="0"/>
                <a:ea typeface="Calibri" panose="020F0502020204030204" pitchFamily="34" charset="0"/>
                <a:cs typeface="Times New Roman" panose="02020603050405020304" pitchFamily="18" charset="0"/>
              </a:rPr>
              <a:t> C., is envisaged as a fruit of the period referred to as “Linguistic Turn”. This term was coined by Gustav Bergmann in 1953 by which he held the position that philosophical problems are nothing else but linguistic problems. With this term, he suggests that there is, therefore, a need to realistically and carefully study and analyse language. It was around this time that philosophy saw the rise of interest in linguistic philosophy. For Bergmann, utilising linguistic analysis, philosophy has the task of explaining common sense and not of either proving or disproving it. He says it does not attempt to develop and defend true theories about the world, say about properties or about the human mind, or at least it does so only through investigating our language.</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18801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53F77D-BF21-42FE-ABCA-637E86751EC0}"/>
              </a:ext>
            </a:extLst>
          </p:cNvPr>
          <p:cNvSpPr txBox="1"/>
          <p:nvPr/>
        </p:nvSpPr>
        <p:spPr>
          <a:xfrm>
            <a:off x="0" y="0"/>
            <a:ext cx="12192000" cy="3737177"/>
          </a:xfrm>
          <a:prstGeom prst="rect">
            <a:avLst/>
          </a:prstGeom>
          <a:noFill/>
        </p:spPr>
        <p:txBody>
          <a:bodyPr wrap="square">
            <a:spAutoFit/>
          </a:bodyPr>
          <a:lstStyle/>
          <a:p>
            <a:pPr marL="0" marR="0" algn="ctr">
              <a:lnSpc>
                <a:spcPct val="107000"/>
              </a:lnSpc>
              <a:spcBef>
                <a:spcPts val="0"/>
              </a:spcBef>
              <a:spcAft>
                <a:spcPts val="800"/>
              </a:spcAft>
            </a:pP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Our main question in this Course </a:t>
            </a:r>
            <a:r>
              <a:rPr lang="en-US" sz="1600" b="1" i="1" dirty="0">
                <a:effectLst/>
                <a:latin typeface="Times New Roman" panose="02020603050405020304" pitchFamily="18" charset="0"/>
                <a:ea typeface="Calibri" panose="020F0502020204030204" pitchFamily="34" charset="0"/>
                <a:cs typeface="Times New Roman" panose="02020603050405020304" pitchFamily="18" charset="0"/>
              </a:rPr>
              <a:t>(Overview)</a:t>
            </a:r>
          </a:p>
          <a:p>
            <a:pPr marL="0" marR="0" algn="just">
              <a:lnSpc>
                <a:spcPct val="107000"/>
              </a:lnSpc>
              <a:spcBef>
                <a:spcPts val="0"/>
              </a:spcBef>
              <a:spcAft>
                <a:spcPts val="800"/>
              </a:spcAf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The central </a:t>
            </a:r>
            <a:r>
              <a:rPr lang="en-US" sz="3200" dirty="0">
                <a:latin typeface="Times New Roman" panose="02020603050405020304" pitchFamily="18" charset="0"/>
                <a:ea typeface="Calibri" panose="020F0502020204030204" pitchFamily="34" charset="0"/>
                <a:cs typeface="Times New Roman" panose="02020603050405020304" pitchFamily="18" charset="0"/>
              </a:rPr>
              <a:t>concern</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in the philosophy of language is that of “the nature of linguistic meaning”. So, this branch of philosophy aims primarily at a theory of (linguistic) meaning. It could, therefore, be said that philosophy of language is a systematic specification of the meanings of expressions in a language, or a </a:t>
            </a:r>
            <a:r>
              <a:rPr lang="en-US" sz="3200" i="1" dirty="0">
                <a:effectLst/>
                <a:latin typeface="Times New Roman" panose="02020603050405020304" pitchFamily="18" charset="0"/>
                <a:ea typeface="Calibri" panose="020F0502020204030204" pitchFamily="34" charset="0"/>
                <a:cs typeface="Times New Roman" panose="02020603050405020304" pitchFamily="18" charset="0"/>
              </a:rPr>
              <a:t>meaning theory </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for that language.</a:t>
            </a:r>
          </a:p>
          <a:p>
            <a:pPr marL="0" marR="0" algn="just">
              <a:lnSpc>
                <a:spcPct val="107000"/>
              </a:lnSpc>
              <a:spcBef>
                <a:spcPts val="0"/>
              </a:spcBef>
              <a:spcAft>
                <a:spcPts val="800"/>
              </a:spcAft>
            </a:pPr>
            <a:endParaRPr lang="en-US" sz="1800" b="1" dirty="0">
              <a:effectLst/>
              <a:latin typeface="Algerian" panose="04020705040A02060702" pitchFamily="82"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341790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F3E2EC9-4B69-4520-883F-B113D1690391}"/>
              </a:ext>
            </a:extLst>
          </p:cNvPr>
          <p:cNvSpPr txBox="1"/>
          <p:nvPr/>
        </p:nvSpPr>
        <p:spPr>
          <a:xfrm>
            <a:off x="0" y="0"/>
            <a:ext cx="12192000" cy="3341107"/>
          </a:xfrm>
          <a:prstGeom prst="rect">
            <a:avLst/>
          </a:prstGeom>
          <a:noFill/>
        </p:spPr>
        <p:txBody>
          <a:bodyPr wrap="square">
            <a:spAutoFit/>
          </a:bodyPr>
          <a:lstStyle/>
          <a:p>
            <a:pPr marL="0" marR="0" algn="just">
              <a:lnSpc>
                <a:spcPct val="107000"/>
              </a:lnSpc>
              <a:spcBef>
                <a:spcPts val="0"/>
              </a:spcBef>
              <a:spcAft>
                <a:spcPts val="800"/>
              </a:spcAft>
            </a:pPr>
            <a:r>
              <a:rPr lang="en-GB" sz="40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For John R. Searle, the main thrust of philosophy of language is to investigate how language works beyond the ordinary confines of ethnicity and nationality. His fundamental assertion is that </a:t>
            </a:r>
            <a:r>
              <a:rPr lang="en-GB" sz="4000"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speech is </a:t>
            </a:r>
            <a:r>
              <a:rPr lang="en-GB" sz="40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a kind of human act. </a:t>
            </a:r>
          </a:p>
        </p:txBody>
      </p:sp>
    </p:spTree>
    <p:extLst>
      <p:ext uri="{BB962C8B-B14F-4D97-AF65-F5344CB8AC3E}">
        <p14:creationId xmlns:p14="http://schemas.microsoft.com/office/powerpoint/2010/main" val="28905835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C50743-1D67-496B-AE82-0D7798F92CAF}"/>
              </a:ext>
            </a:extLst>
          </p:cNvPr>
          <p:cNvSpPr txBox="1"/>
          <p:nvPr/>
        </p:nvSpPr>
        <p:spPr>
          <a:xfrm>
            <a:off x="0" y="0"/>
            <a:ext cx="12192000" cy="4272323"/>
          </a:xfrm>
          <a:prstGeom prst="rect">
            <a:avLst/>
          </a:prstGeom>
          <a:noFill/>
        </p:spPr>
        <p:txBody>
          <a:bodyPr wrap="square">
            <a:spAutoFit/>
          </a:bodyPr>
          <a:lstStyle/>
          <a:p>
            <a:pPr algn="just">
              <a:lnSpc>
                <a:spcPct val="107000"/>
              </a:lnSpc>
              <a:spcAft>
                <a:spcPts val="800"/>
              </a:spcAft>
            </a:pPr>
            <a:r>
              <a:rPr lang="en-GB" sz="32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a:t>
            </a:r>
            <a:r>
              <a:rPr lang="en-GB" sz="3200" dirty="0">
                <a:latin typeface="Times New Roman" panose="02020603050405020304" pitchFamily="18" charset="0"/>
                <a:ea typeface="Calibri" panose="020F0502020204030204" pitchFamily="34" charset="0"/>
                <a:cs typeface="Times New Roman" panose="02020603050405020304" pitchFamily="18" charset="0"/>
              </a:rPr>
              <a:t> Thus, the central questions which guide the philosophy of language for Searle would be the following: How do words relate to the world? How do words stand for things? How is it possible that when a speaker utters something the speaker means something, the sounds mean something, the hearer understands what is meant, the speaker makes a statement, asks a question, or gives an order? These are quite pertinent questions in the quest for a proper understanding of the subject matter for the philosophy of languag</a:t>
            </a:r>
            <a:r>
              <a:rPr lang="en-GB" sz="32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e</a:t>
            </a:r>
            <a:r>
              <a:rPr lang="en-GB" sz="32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32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915874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EB66F4C-8647-43F2-9E08-E470CDA275EE}"/>
              </a:ext>
            </a:extLst>
          </p:cNvPr>
          <p:cNvSpPr txBox="1"/>
          <p:nvPr/>
        </p:nvSpPr>
        <p:spPr>
          <a:xfrm>
            <a:off x="0" y="0"/>
            <a:ext cx="12192000" cy="3754939"/>
          </a:xfrm>
          <a:prstGeom prst="rect">
            <a:avLst/>
          </a:prstGeom>
          <a:noFill/>
        </p:spPr>
        <p:txBody>
          <a:bodyPr wrap="square">
            <a:spAutoFit/>
          </a:bodyPr>
          <a:lstStyle/>
          <a:p>
            <a:pPr marL="0" marR="0" algn="just">
              <a:lnSpc>
                <a:spcPct val="107000"/>
              </a:lnSpc>
              <a:spcBef>
                <a:spcPts val="0"/>
              </a:spcBef>
              <a:spcAft>
                <a:spcPts val="800"/>
              </a:spcAft>
            </a:pPr>
            <a:r>
              <a:rPr lang="en-GB" sz="3200" dirty="0">
                <a:effectLst/>
                <a:latin typeface="Times New Roman" panose="02020603050405020304" pitchFamily="18" charset="0"/>
                <a:ea typeface="Calibri" panose="020F0502020204030204" pitchFamily="34" charset="0"/>
                <a:cs typeface="Times New Roman" panose="02020603050405020304" pitchFamily="18" charset="0"/>
              </a:rPr>
              <a:t>Against this background, Searle’s major contribution in philosophy of language consists in the argumentation that speaking a language is engaging in a (highly complex) rule-governed form of behaviour. It involves learning and mastering the rules. Talking is performing acts according to rules. The rules referred to here are constitutive rules </a:t>
            </a:r>
            <a:r>
              <a:rPr lang="en-GB" sz="1400" i="1" dirty="0">
                <a:effectLst/>
                <a:latin typeface="Times New Roman" panose="02020603050405020304" pitchFamily="18" charset="0"/>
                <a:ea typeface="Calibri" panose="020F0502020204030204" pitchFamily="34" charset="0"/>
                <a:cs typeface="Times New Roman" panose="02020603050405020304" pitchFamily="18" charset="0"/>
              </a:rPr>
              <a:t>(vs. regulative rules)</a:t>
            </a:r>
            <a:r>
              <a:rPr lang="en-GB" sz="3200" dirty="0">
                <a:effectLst/>
                <a:latin typeface="Times New Roman" panose="02020603050405020304" pitchFamily="18" charset="0"/>
                <a:ea typeface="Calibri" panose="020F0502020204030204" pitchFamily="34" charset="0"/>
                <a:cs typeface="Times New Roman" panose="02020603050405020304" pitchFamily="18" charset="0"/>
              </a:rPr>
              <a:t>. These rules create the possibility of the very activity itself, like a checkmate in the chessboard game.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396841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270253E-3265-4DCA-B36A-86D3AEBBF2AA}"/>
              </a:ext>
            </a:extLst>
          </p:cNvPr>
          <p:cNvSpPr txBox="1"/>
          <p:nvPr/>
        </p:nvSpPr>
        <p:spPr>
          <a:xfrm>
            <a:off x="0" y="0"/>
            <a:ext cx="12192000" cy="3619837"/>
          </a:xfrm>
          <a:prstGeom prst="rect">
            <a:avLst/>
          </a:prstGeom>
          <a:noFill/>
        </p:spPr>
        <p:txBody>
          <a:bodyPr wrap="square">
            <a:spAutoFit/>
          </a:bodyPr>
          <a:lstStyle/>
          <a:p>
            <a:pPr marL="0" marR="0" algn="just">
              <a:lnSpc>
                <a:spcPct val="107000"/>
              </a:lnSpc>
              <a:spcBef>
                <a:spcPts val="0"/>
              </a:spcBef>
              <a:spcAft>
                <a:spcPts val="800"/>
              </a:spcAft>
            </a:pPr>
            <a:r>
              <a:rPr lang="en-GB" sz="3600" dirty="0">
                <a:effectLst/>
                <a:latin typeface="Times New Roman" panose="02020603050405020304" pitchFamily="18" charset="0"/>
                <a:ea typeface="Calibri" panose="020F0502020204030204" pitchFamily="34" charset="0"/>
                <a:cs typeface="Times New Roman" panose="02020603050405020304" pitchFamily="18" charset="0"/>
              </a:rPr>
              <a:t>The engagement in a rule-governed behaviour takes the form of performing speech acts which range from making statements, giving commands, or asking questions, to more abstract acts such as referring and predicating. Searle, then, conveniently groups these speech acts into 5 categories: </a:t>
            </a:r>
            <a:r>
              <a:rPr lang="en-GB" sz="3600" dirty="0" err="1">
                <a:effectLst/>
                <a:latin typeface="Times New Roman" panose="02020603050405020304" pitchFamily="18" charset="0"/>
                <a:ea typeface="Calibri" panose="020F0502020204030204" pitchFamily="34" charset="0"/>
                <a:cs typeface="Times New Roman" panose="02020603050405020304" pitchFamily="18" charset="0"/>
              </a:rPr>
              <a:t>assertives</a:t>
            </a:r>
            <a:r>
              <a:rPr lang="en-GB"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GB" sz="3600" dirty="0" err="1">
                <a:effectLst/>
                <a:latin typeface="Times New Roman" panose="02020603050405020304" pitchFamily="18" charset="0"/>
                <a:ea typeface="Calibri" panose="020F0502020204030204" pitchFamily="34" charset="0"/>
                <a:cs typeface="Times New Roman" panose="02020603050405020304" pitchFamily="18" charset="0"/>
              </a:rPr>
              <a:t>commissives</a:t>
            </a:r>
            <a:r>
              <a:rPr lang="en-GB" sz="3600" dirty="0">
                <a:effectLst/>
                <a:latin typeface="Times New Roman" panose="02020603050405020304" pitchFamily="18" charset="0"/>
                <a:ea typeface="Calibri" panose="020F0502020204030204" pitchFamily="34" charset="0"/>
                <a:cs typeface="Times New Roman" panose="02020603050405020304" pitchFamily="18" charset="0"/>
              </a:rPr>
              <a:t>, directives, </a:t>
            </a:r>
            <a:r>
              <a:rPr lang="en-GB" sz="3600" dirty="0" err="1">
                <a:effectLst/>
                <a:latin typeface="Times New Roman" panose="02020603050405020304" pitchFamily="18" charset="0"/>
                <a:ea typeface="Calibri" panose="020F0502020204030204" pitchFamily="34" charset="0"/>
                <a:cs typeface="Times New Roman" panose="02020603050405020304" pitchFamily="18" charset="0"/>
              </a:rPr>
              <a:t>expressives</a:t>
            </a:r>
            <a:r>
              <a:rPr lang="en-GB" sz="3600" dirty="0">
                <a:effectLst/>
                <a:latin typeface="Times New Roman" panose="02020603050405020304" pitchFamily="18" charset="0"/>
                <a:ea typeface="Calibri" panose="020F0502020204030204" pitchFamily="34" charset="0"/>
                <a:cs typeface="Times New Roman" panose="02020603050405020304" pitchFamily="18" charset="0"/>
              </a:rPr>
              <a:t> and declarations</a:t>
            </a:r>
            <a:r>
              <a:rPr lang="en-GB" sz="12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216573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553C64-27BB-404B-8503-E9B1A7E666D7}"/>
              </a:ext>
            </a:extLst>
          </p:cNvPr>
          <p:cNvSpPr txBox="1"/>
          <p:nvPr/>
        </p:nvSpPr>
        <p:spPr>
          <a:xfrm>
            <a:off x="0" y="0"/>
            <a:ext cx="12192000" cy="4524315"/>
          </a:xfrm>
          <a:prstGeom prst="rect">
            <a:avLst/>
          </a:prstGeom>
          <a:noFill/>
        </p:spPr>
        <p:txBody>
          <a:bodyPr wrap="square">
            <a:spAutoFit/>
          </a:bodyPr>
          <a:lstStyle/>
          <a:p>
            <a:pPr algn="just"/>
            <a:r>
              <a:rPr lang="en-GB" sz="36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If these acts are to be fruitfully engaged and understood, they need to be carried out in conformity with certain rules in the use of linguistic elements. In this regard, the semantics of a language can be regarded as a series of systems of constitutive rules. Accordingly, the meaning of words is used not only to create a reality, but like constitutive rules, constitute the very reality the words make which in this case is language itself. Therefore, the meaning of words constitute language. </a:t>
            </a:r>
            <a:endParaRPr lang="en-US" sz="3600" dirty="0">
              <a:solidFill>
                <a:srgbClr val="FF0000"/>
              </a:solidFill>
            </a:endParaRPr>
          </a:p>
        </p:txBody>
      </p:sp>
    </p:spTree>
    <p:extLst>
      <p:ext uri="{BB962C8B-B14F-4D97-AF65-F5344CB8AC3E}">
        <p14:creationId xmlns:p14="http://schemas.microsoft.com/office/powerpoint/2010/main" val="4125838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C4E920F-1C05-4584-BB61-7CAECDA4D110}"/>
              </a:ext>
            </a:extLst>
          </p:cNvPr>
          <p:cNvSpPr txBox="1"/>
          <p:nvPr/>
        </p:nvSpPr>
        <p:spPr>
          <a:xfrm>
            <a:off x="0" y="0"/>
            <a:ext cx="12192000" cy="2476191"/>
          </a:xfrm>
          <a:prstGeom prst="rect">
            <a:avLst/>
          </a:prstGeom>
          <a:noFill/>
        </p:spPr>
        <p:txBody>
          <a:bodyPr wrap="square">
            <a:spAutoFit/>
          </a:bodyPr>
          <a:lstStyle/>
          <a:p>
            <a:pPr marL="0" marR="0" algn="ctr">
              <a:lnSpc>
                <a:spcPct val="107000"/>
              </a:lnSpc>
              <a:spcBef>
                <a:spcPts val="0"/>
              </a:spcBef>
              <a:spcAft>
                <a:spcPts val="800"/>
              </a:spcAft>
            </a:pPr>
            <a:r>
              <a:rPr lang="en-US" sz="3200"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Philosophy of Language and its Method</a:t>
            </a:r>
            <a:endParaRPr lang="en-US" sz="32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p>
            <a:pPr algn="just">
              <a:spcAft>
                <a:spcPts val="800"/>
              </a:spcAft>
            </a:pPr>
            <a:r>
              <a:rPr lang="en-US" sz="32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Then, </a:t>
            </a:r>
            <a:r>
              <a:rPr lang="en-US" sz="3200" dirty="0" err="1">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Dummett’s</a:t>
            </a:r>
            <a:r>
              <a:rPr lang="en-US" sz="32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 recommendation is that the method in the philosophy of language is that we pursue the theory of meaning by attempting to construct a meaning theory</a:t>
            </a:r>
            <a:r>
              <a:rPr lang="en-US"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a:t>
            </a:r>
            <a:r>
              <a:rPr lang="en-US"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cfr</a:t>
            </a:r>
            <a:r>
              <a:rPr lang="en-US"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t>
            </a:r>
            <a:r>
              <a:rPr lang="en-GB"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D</a:t>
            </a:r>
            <a:r>
              <a:rPr lang="en-GB" cap="small"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ummett</a:t>
            </a:r>
            <a:r>
              <a:rPr lang="en-GB"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M., </a:t>
            </a:r>
            <a:r>
              <a:rPr lang="en-GB" i="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Origins of Analytical Philosophy</a:t>
            </a:r>
            <a:r>
              <a:rPr lang="en-GB"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Bloomsbury, London-Sydney, 1993.)</a:t>
            </a:r>
            <a:r>
              <a:rPr lang="en-US"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t>
            </a:r>
            <a:endParaRPr lang="en-US"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048875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47FA50-9E29-4504-B0A9-3D6621F26D1F}"/>
              </a:ext>
            </a:extLst>
          </p:cNvPr>
          <p:cNvSpPr txBox="1"/>
          <p:nvPr/>
        </p:nvSpPr>
        <p:spPr>
          <a:xfrm>
            <a:off x="0" y="0"/>
            <a:ext cx="12192000" cy="5312223"/>
          </a:xfrm>
          <a:prstGeom prst="rect">
            <a:avLst/>
          </a:prstGeom>
          <a:noFill/>
        </p:spPr>
        <p:txBody>
          <a:bodyPr wrap="square">
            <a:spAutoFit/>
          </a:bodyPr>
          <a:lstStyle/>
          <a:p>
            <a:pPr marL="0" marR="0" algn="ctr">
              <a:lnSpc>
                <a:spcPct val="107000"/>
              </a:lnSpc>
              <a:spcBef>
                <a:spcPts val="0"/>
              </a:spcBef>
              <a:spcAft>
                <a:spcPts val="800"/>
              </a:spcAft>
            </a:pPr>
            <a:r>
              <a:rPr lang="en-US" sz="3200"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Philosophy and Philosophy of Language</a:t>
            </a:r>
            <a:endParaRPr lang="en-US" sz="32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200" dirty="0" err="1">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Dummett</a:t>
            </a:r>
            <a:r>
              <a:rPr lang="en-US" sz="32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 notes that: Philosophy of language is the foundation of all other philosophy. He says:</a:t>
            </a:r>
            <a:r>
              <a:rPr lang="en-US" sz="3200"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32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2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 The goal of philosophy is the analysis of the structure of </a:t>
            </a:r>
            <a:r>
              <a:rPr lang="en-US" sz="3200" i="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thought;</a:t>
            </a:r>
            <a:endParaRPr lang="en-US" sz="32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2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 The study of </a:t>
            </a:r>
            <a:r>
              <a:rPr lang="en-US" sz="3200" i="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thought </a:t>
            </a:r>
            <a:r>
              <a:rPr lang="en-US" sz="32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is to be sharply distinguished from the psychological process of thinking;</a:t>
            </a:r>
          </a:p>
          <a:p>
            <a:pPr marL="0" marR="0" algn="just">
              <a:lnSpc>
                <a:spcPct val="107000"/>
              </a:lnSpc>
              <a:spcBef>
                <a:spcPts val="0"/>
              </a:spcBef>
              <a:spcAft>
                <a:spcPts val="800"/>
              </a:spcAft>
            </a:pPr>
            <a:r>
              <a:rPr lang="en-US" sz="32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 The only proper method for analyzing thought consists in the analysis of </a:t>
            </a:r>
            <a:r>
              <a:rPr lang="en-US" sz="3200" i="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language</a:t>
            </a:r>
            <a:r>
              <a:rPr lang="en-US" sz="32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a:t>
            </a:r>
          </a:p>
          <a:p>
            <a:pPr marL="0" marR="0" algn="just">
              <a:lnSpc>
                <a:spcPct val="107000"/>
              </a:lnSpc>
              <a:spcBef>
                <a:spcPts val="0"/>
              </a:spcBef>
              <a:spcAft>
                <a:spcPts val="800"/>
              </a:spcAft>
            </a:pPr>
            <a:r>
              <a:rPr lang="en-US" sz="3200" i="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Thus, philosophy of language is foundational in two senses: </a:t>
            </a:r>
            <a:endParaRPr lang="en-US" sz="32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734254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07DA9A1-BAC2-404A-99B0-E72708C72F11}"/>
              </a:ext>
            </a:extLst>
          </p:cNvPr>
          <p:cNvSpPr txBox="1"/>
          <p:nvPr/>
        </p:nvSpPr>
        <p:spPr>
          <a:xfrm>
            <a:off x="0" y="0"/>
            <a:ext cx="12192000" cy="1740220"/>
          </a:xfrm>
          <a:prstGeom prst="rect">
            <a:avLst/>
          </a:prstGeom>
          <a:noFill/>
        </p:spPr>
        <p:txBody>
          <a:bodyPr wrap="square">
            <a:spAutoFit/>
          </a:bodyPr>
          <a:lstStyle/>
          <a:p>
            <a:pPr marL="0" marR="0" algn="just">
              <a:lnSpc>
                <a:spcPct val="107000"/>
              </a:lnSpc>
              <a:spcBef>
                <a:spcPts val="0"/>
              </a:spcBef>
              <a:spcAft>
                <a:spcPts val="800"/>
              </a:spcAft>
            </a:pPr>
            <a:r>
              <a:rPr lang="en-US" sz="32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 As the encompassing arena within which other philosophical enterprise takes place – every branch of philosophy is a branch of semantic theory;</a:t>
            </a:r>
          </a:p>
          <a:p>
            <a:pPr marL="0" marR="0" algn="just">
              <a:lnSpc>
                <a:spcPct val="107000"/>
              </a:lnSpc>
              <a:spcBef>
                <a:spcPts val="0"/>
              </a:spcBef>
              <a:spcAft>
                <a:spcPts val="800"/>
              </a:spcAft>
            </a:pPr>
            <a:r>
              <a:rPr lang="en-US" sz="32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 As being the mediator of successful </a:t>
            </a:r>
            <a:r>
              <a:rPr lang="en-US" sz="3200" dirty="0" err="1">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endeavour</a:t>
            </a:r>
            <a:r>
              <a:rPr lang="en-US" sz="32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 in those specific arenas.</a:t>
            </a:r>
          </a:p>
        </p:txBody>
      </p:sp>
    </p:spTree>
    <p:extLst>
      <p:ext uri="{BB962C8B-B14F-4D97-AF65-F5344CB8AC3E}">
        <p14:creationId xmlns:p14="http://schemas.microsoft.com/office/powerpoint/2010/main" val="28618005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25D6565-55C9-4FE2-9E22-4FFD6305AC1A}"/>
              </a:ext>
            </a:extLst>
          </p:cNvPr>
          <p:cNvSpPr txBox="1"/>
          <p:nvPr/>
        </p:nvSpPr>
        <p:spPr>
          <a:xfrm>
            <a:off x="0" y="0"/>
            <a:ext cx="12192000" cy="5016758"/>
          </a:xfrm>
          <a:prstGeom prst="rect">
            <a:avLst/>
          </a:prstGeom>
          <a:noFill/>
        </p:spPr>
        <p:txBody>
          <a:bodyPr wrap="square">
            <a:spAutoFit/>
          </a:bodyPr>
          <a:lstStyle/>
          <a:p>
            <a:pPr algn="just"/>
            <a:r>
              <a:rPr lang="en-US" sz="3200" dirty="0">
                <a:solidFill>
                  <a:srgbClr val="FF0000"/>
                </a:solidFill>
                <a:effectLst/>
                <a:latin typeface="Times New Roman" panose="02020603050405020304" pitchFamily="18" charset="0"/>
                <a:ea typeface="Calibri" panose="020F0502020204030204" pitchFamily="34" charset="0"/>
              </a:rPr>
              <a:t>It is important to recognize that </a:t>
            </a:r>
            <a:r>
              <a:rPr lang="en-US" sz="3200" i="1" dirty="0">
                <a:solidFill>
                  <a:srgbClr val="FF0000"/>
                </a:solidFill>
                <a:effectLst/>
                <a:latin typeface="Times New Roman" panose="02020603050405020304" pitchFamily="18" charset="0"/>
                <a:ea typeface="Calibri" panose="020F0502020204030204" pitchFamily="34" charset="0"/>
              </a:rPr>
              <a:t>philosophical </a:t>
            </a:r>
            <a:r>
              <a:rPr lang="en-US" sz="3200" dirty="0">
                <a:solidFill>
                  <a:srgbClr val="FF0000"/>
                </a:solidFill>
                <a:effectLst/>
                <a:latin typeface="Times New Roman" panose="02020603050405020304" pitchFamily="18" charset="0"/>
                <a:ea typeface="Calibri" panose="020F0502020204030204" pitchFamily="34" charset="0"/>
              </a:rPr>
              <a:t>inquiry into language is different from, say, psychological or linguistic inquiries. Psychology and linguistics are empirical sciences: practitioners of those disciplines float hypotheses and then design experimental situations in which to test them. Claims stand or fall based on the empirical evidence adduced in their favor. Philosophical approaches involve a different methodology: they are conceptual and not empirical. When a philosopher turns her attention to language, she focuses on the concepts that figure into description of the character and use of language, as well as those that figure into the empirical explanations offered by psychologists and linguists. </a:t>
            </a:r>
            <a:endParaRPr lang="en-US" sz="3200" dirty="0">
              <a:solidFill>
                <a:srgbClr val="FF0000"/>
              </a:solidFill>
            </a:endParaRPr>
          </a:p>
        </p:txBody>
      </p:sp>
    </p:spTree>
    <p:extLst>
      <p:ext uri="{BB962C8B-B14F-4D97-AF65-F5344CB8AC3E}">
        <p14:creationId xmlns:p14="http://schemas.microsoft.com/office/powerpoint/2010/main" val="14304421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DBBF463-1DA0-4F40-B956-1F755676B678}"/>
              </a:ext>
            </a:extLst>
          </p:cNvPr>
          <p:cNvSpPr txBox="1"/>
          <p:nvPr/>
        </p:nvSpPr>
        <p:spPr>
          <a:xfrm>
            <a:off x="0" y="0"/>
            <a:ext cx="12192000" cy="6001643"/>
          </a:xfrm>
          <a:prstGeom prst="rect">
            <a:avLst/>
          </a:prstGeom>
          <a:noFill/>
        </p:spPr>
        <p:txBody>
          <a:bodyPr wrap="square">
            <a:spAutoFit/>
          </a:bodyPr>
          <a:lstStyle/>
          <a:p>
            <a:pPr algn="just"/>
            <a:r>
              <a:rPr lang="en-US" sz="3200" dirty="0">
                <a:solidFill>
                  <a:srgbClr val="FF0000"/>
                </a:solidFill>
                <a:effectLst/>
                <a:latin typeface="Times New Roman" panose="02020603050405020304" pitchFamily="18" charset="0"/>
                <a:ea typeface="Calibri" panose="020F0502020204030204" pitchFamily="34" charset="0"/>
              </a:rPr>
              <a:t>Phil. </a:t>
            </a:r>
            <a:r>
              <a:rPr lang="en-US" sz="3200" dirty="0">
                <a:solidFill>
                  <a:srgbClr val="FF0000"/>
                </a:solidFill>
                <a:latin typeface="Times New Roman" panose="02020603050405020304" pitchFamily="18" charset="0"/>
                <a:ea typeface="Calibri" panose="020F0502020204030204" pitchFamily="34" charset="0"/>
              </a:rPr>
              <a:t>i</a:t>
            </a:r>
            <a:r>
              <a:rPr lang="en-US" sz="3200" dirty="0">
                <a:solidFill>
                  <a:srgbClr val="FF0000"/>
                </a:solidFill>
                <a:effectLst/>
                <a:latin typeface="Times New Roman" panose="02020603050405020304" pitchFamily="18" charset="0"/>
                <a:ea typeface="Calibri" panose="020F0502020204030204" pitchFamily="34" charset="0"/>
              </a:rPr>
              <a:t>nquiry is interested in analyzing these concepts so as to make sure that, as used, they are internally coherent and figure into a consistent conceptual network. This analysis involves the use of traditional philosophical machinery, such as the tools of formal logic. But even though the work of a philosopher is not empirical, it had better relate in principled ways to empirical research, especially when the concepts that are analyzed have such an obvious role in empirical studies. Thus, a philosopher of language must evaluate conceptual claims not only on the basis of their relationship with other conceptual claims, but also on the basis of their relationship to the relevant empirical evidence. I like to think of it this way: a philosopher is out to build and maintain the conceptual models that empirical investigators use in their research.</a:t>
            </a:r>
            <a:endParaRPr lang="en-US" sz="3200" dirty="0">
              <a:solidFill>
                <a:srgbClr val="FF0000"/>
              </a:solidFill>
            </a:endParaRPr>
          </a:p>
        </p:txBody>
      </p:sp>
    </p:spTree>
    <p:extLst>
      <p:ext uri="{BB962C8B-B14F-4D97-AF65-F5344CB8AC3E}">
        <p14:creationId xmlns:p14="http://schemas.microsoft.com/office/powerpoint/2010/main" val="28398986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AE9974E-5658-4D3F-B0DB-B92E19DF90FF}"/>
              </a:ext>
            </a:extLst>
          </p:cNvPr>
          <p:cNvSpPr txBox="1"/>
          <p:nvPr/>
        </p:nvSpPr>
        <p:spPr>
          <a:xfrm>
            <a:off x="0" y="0"/>
            <a:ext cx="12192000" cy="4477508"/>
          </a:xfrm>
          <a:prstGeom prst="rect">
            <a:avLst/>
          </a:prstGeom>
          <a:noFill/>
        </p:spPr>
        <p:txBody>
          <a:bodyPr wrap="square">
            <a:spAutoFit/>
          </a:bodyPr>
          <a:lstStyle/>
          <a:p>
            <a:pPr marL="0" marR="0" algn="ctr">
              <a:lnSpc>
                <a:spcPct val="107000"/>
              </a:lnSpc>
              <a:spcBef>
                <a:spcPts val="0"/>
              </a:spcBef>
              <a:spcAft>
                <a:spcPts val="800"/>
              </a:spcAft>
            </a:pPr>
            <a:r>
              <a:rPr lang="en-US" sz="3200" b="1" dirty="0">
                <a:solidFill>
                  <a:srgbClr val="FF0000"/>
                </a:solidFill>
                <a:effectLst/>
                <a:latin typeface="Algerian" panose="04020705040A02060702" pitchFamily="82" charset="0"/>
                <a:ea typeface="Calibri" panose="020F0502020204030204" pitchFamily="34" charset="0"/>
                <a:cs typeface="Times New Roman" panose="02020603050405020304" pitchFamily="18" charset="0"/>
              </a:rPr>
              <a:t>Clarification of Concepts:</a:t>
            </a:r>
            <a:endParaRPr lang="en-US" sz="3200" dirty="0">
              <a:solidFill>
                <a:srgbClr val="FF0000"/>
              </a:solidFill>
              <a:effectLst/>
              <a:latin typeface="Algerian" panose="04020705040A02060702" pitchFamily="82"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200"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I - Language</a:t>
            </a:r>
            <a:r>
              <a:rPr lang="en-US" sz="32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 </a:t>
            </a:r>
          </a:p>
          <a:p>
            <a:pPr marL="0" marR="0" algn="just">
              <a:lnSpc>
                <a:spcPct val="107000"/>
              </a:lnSpc>
              <a:spcBef>
                <a:spcPts val="0"/>
              </a:spcBef>
              <a:spcAft>
                <a:spcPts val="800"/>
              </a:spcAft>
            </a:pPr>
            <a:r>
              <a:rPr lang="en-US" sz="32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Wittgenstein offered the key analogy of linguistic activity to the playing of games. Language is not a matter of marks on the blackboard bearing the expressing relation to abstract entities called “propositions”; language is something that people do and do in a highly rule-governed and conventional way. Linguistic activity is governed by rules in much the way that the playing of a game is governed by rules.  </a:t>
            </a:r>
          </a:p>
        </p:txBody>
      </p:sp>
    </p:spTree>
    <p:extLst>
      <p:ext uri="{BB962C8B-B14F-4D97-AF65-F5344CB8AC3E}">
        <p14:creationId xmlns:p14="http://schemas.microsoft.com/office/powerpoint/2010/main" val="21862866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7ABCD77-E8DF-44AC-BB41-F2A204984D7B}"/>
              </a:ext>
            </a:extLst>
          </p:cNvPr>
          <p:cNvSpPr txBox="1"/>
          <p:nvPr/>
        </p:nvSpPr>
        <p:spPr>
          <a:xfrm>
            <a:off x="0" y="0"/>
            <a:ext cx="12192000" cy="3539430"/>
          </a:xfrm>
          <a:prstGeom prst="rect">
            <a:avLst/>
          </a:prstGeom>
          <a:noFill/>
        </p:spPr>
        <p:txBody>
          <a:bodyPr wrap="square">
            <a:spAutoFit/>
          </a:bodyPr>
          <a:lstStyle/>
          <a:p>
            <a:pPr algn="just"/>
            <a:r>
              <a:rPr lang="en-US" sz="32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Moreover, linguistic expressions themselves are like game pieces. Consider chess board game. A “pawn” or a “rook</a:t>
            </a:r>
            <a:r>
              <a:rPr lang="en-US" sz="32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a:t>
            </a:r>
            <a:r>
              <a:rPr lang="en-US" sz="32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 is defined by the chess rules that govern its initial position and subsequent legal moves; what makes a knight a knight is the way in which it characteristically moves according to the game's conventionally instituted rules. So too, a linguistic expression’s meaning is constituted by the silent rules governing its correct conversational use.</a:t>
            </a:r>
            <a:endParaRPr lang="en-US" sz="3200" dirty="0">
              <a:solidFill>
                <a:srgbClr val="FF0000"/>
              </a:solidFill>
            </a:endParaRPr>
          </a:p>
        </p:txBody>
      </p:sp>
    </p:spTree>
    <p:extLst>
      <p:ext uri="{BB962C8B-B14F-4D97-AF65-F5344CB8AC3E}">
        <p14:creationId xmlns:p14="http://schemas.microsoft.com/office/powerpoint/2010/main" val="6111121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E25740D-A868-460B-87DD-5B60EB588430}"/>
              </a:ext>
            </a:extLst>
          </p:cNvPr>
          <p:cNvSpPr txBox="1"/>
          <p:nvPr/>
        </p:nvSpPr>
        <p:spPr>
          <a:xfrm>
            <a:off x="0" y="0"/>
            <a:ext cx="12192000" cy="5169300"/>
          </a:xfrm>
          <a:prstGeom prst="rect">
            <a:avLst/>
          </a:prstGeom>
          <a:noFill/>
        </p:spPr>
        <p:txBody>
          <a:bodyPr wrap="square">
            <a:spAutoFit/>
          </a:bodyPr>
          <a:lstStyle/>
          <a:p>
            <a:pPr marL="0" marR="0" algn="just">
              <a:lnSpc>
                <a:spcPct val="107000"/>
              </a:lnSpc>
              <a:spcBef>
                <a:spcPts val="0"/>
              </a:spcBef>
              <a:spcAft>
                <a:spcPts val="800"/>
              </a:spcAft>
            </a:pP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The Functions of Language: Representation vs. Expression; </a:t>
            </a:r>
            <a:r>
              <a:rPr lang="en-US" sz="2000" b="1" i="1" dirty="0">
                <a:effectLst/>
                <a:latin typeface="Times New Roman" panose="02020603050405020304" pitchFamily="18" charset="0"/>
                <a:ea typeface="Calibri" panose="020F0502020204030204" pitchFamily="34" charset="0"/>
                <a:cs typeface="Times New Roman" panose="02020603050405020304" pitchFamily="18" charset="0"/>
              </a:rPr>
              <a:t>Meaning vs. Communication. </a:t>
            </a:r>
            <a:endParaRPr lang="en-US" sz="2000" i="1"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The first </a:t>
            </a:r>
            <a:r>
              <a:rPr lang="en-US" sz="2800" i="1" dirty="0">
                <a:effectLst/>
                <a:latin typeface="Times New Roman" panose="02020603050405020304" pitchFamily="18" charset="0"/>
                <a:ea typeface="Calibri" panose="020F0502020204030204" pitchFamily="34" charset="0"/>
                <a:cs typeface="Times New Roman" panose="02020603050405020304" pitchFamily="18" charset="0"/>
              </a:rPr>
              <a:t>primary function </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is this: we need language to provide a mechanism by which our hominids can communicate with each other. But what does “communicate” mean and what gets communicated? The standard answer to the second question is that in speaking we communicate information. What typically gets communicated are intentional states and the point of doing that is that the intentional states already represent the world, so what gets communicated, by way of communicating intentional states, is typically information about the world. When </a:t>
            </a:r>
            <a:r>
              <a:rPr lang="en-US" sz="2800" dirty="0">
                <a:latin typeface="Times New Roman" panose="02020603050405020304" pitchFamily="18" charset="0"/>
                <a:ea typeface="Calibri" panose="020F0502020204030204" pitchFamily="34" charset="0"/>
                <a:cs typeface="Times New Roman" panose="02020603050405020304" pitchFamily="18" charset="0"/>
              </a:rPr>
              <a:t>one creature intentionally communicates to another, it tries to reproduce its own intentional content in the head of the other.</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138986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1058F90-7DD9-4B06-8B8B-3AFA50128286}"/>
              </a:ext>
            </a:extLst>
          </p:cNvPr>
          <p:cNvSpPr txBox="1"/>
          <p:nvPr/>
        </p:nvSpPr>
        <p:spPr>
          <a:xfrm>
            <a:off x="0" y="0"/>
            <a:ext cx="12192000" cy="2554545"/>
          </a:xfrm>
          <a:prstGeom prst="rect">
            <a:avLst/>
          </a:prstGeom>
          <a:noFill/>
        </p:spPr>
        <p:txBody>
          <a:bodyPr wrap="square">
            <a:spAutoFit/>
          </a:bodyPr>
          <a:lstStyle/>
          <a:p>
            <a:pPr algn="just"/>
            <a:r>
              <a:rPr lang="en-US" sz="3200" dirty="0">
                <a:effectLst/>
                <a:latin typeface="Times New Roman" panose="02020603050405020304" pitchFamily="18" charset="0"/>
                <a:ea typeface="Calibri" panose="020F0502020204030204" pitchFamily="34" charset="0"/>
                <a:cs typeface="Times New Roman" panose="02020603050405020304" pitchFamily="18" charset="0"/>
              </a:rPr>
              <a:t>If I communicate to you my belief that it is raining, the point is typically not to tell you about me and my beliefs, but about the weather. But there is no way I can intentionally tell you something about the weather except by way of using my mental representations of the weather, my weather directed intentional states, such as my beliefs. </a:t>
            </a:r>
            <a:endParaRPr lang="en-US" sz="3200" dirty="0"/>
          </a:p>
        </p:txBody>
      </p:sp>
    </p:spTree>
    <p:extLst>
      <p:ext uri="{BB962C8B-B14F-4D97-AF65-F5344CB8AC3E}">
        <p14:creationId xmlns:p14="http://schemas.microsoft.com/office/powerpoint/2010/main" val="40367976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B4BE1E7-6CB2-4901-9623-A70E35B6E934}"/>
              </a:ext>
            </a:extLst>
          </p:cNvPr>
          <p:cNvSpPr txBox="1"/>
          <p:nvPr/>
        </p:nvSpPr>
        <p:spPr>
          <a:xfrm>
            <a:off x="0" y="0"/>
            <a:ext cx="12192000" cy="4384470"/>
          </a:xfrm>
          <a:prstGeom prst="rect">
            <a:avLst/>
          </a:prstGeom>
          <a:noFill/>
        </p:spPr>
        <p:txBody>
          <a:bodyPr wrap="square">
            <a:spAutoFit/>
          </a:bodyPr>
          <a:lstStyle/>
          <a:p>
            <a:pPr marL="0" marR="0" algn="ctr">
              <a:lnSpc>
                <a:spcPct val="107000"/>
              </a:lnSpc>
              <a:spcBef>
                <a:spcPts val="0"/>
              </a:spcBef>
              <a:spcAft>
                <a:spcPts val="800"/>
              </a:spcAft>
            </a:pP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Language – Conventional? The question of many different Languages</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Qns</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If language is biologically based, then why is it that we speak so many different languages? If evolutionary biology gave us the capacity for language, why did it not give us a single language which all humans could speak? Humans have, with minor variations, the same way of seeing because they all have the same visual apparatus, but they certainly do not have the same way of speaking. Why not?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281978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C781294-0055-43B8-95A9-85B59F8908FA}"/>
              </a:ext>
            </a:extLst>
          </p:cNvPr>
          <p:cNvSpPr txBox="1"/>
          <p:nvPr/>
        </p:nvSpPr>
        <p:spPr>
          <a:xfrm>
            <a:off x="0" y="0"/>
            <a:ext cx="12192000" cy="2554545"/>
          </a:xfrm>
          <a:prstGeom prst="rect">
            <a:avLst/>
          </a:prstGeom>
          <a:noFill/>
        </p:spPr>
        <p:txBody>
          <a:bodyPr wrap="square">
            <a:spAutoFit/>
          </a:bodyPr>
          <a:lstStyle/>
          <a:p>
            <a:pPr algn="just"/>
            <a:r>
              <a:rPr lang="en-US" sz="3200" dirty="0">
                <a:effectLst/>
                <a:latin typeface="Times New Roman" panose="02020603050405020304" pitchFamily="18" charset="0"/>
                <a:ea typeface="Calibri" panose="020F0502020204030204" pitchFamily="34" charset="0"/>
                <a:cs typeface="Times New Roman" panose="02020603050405020304" pitchFamily="18" charset="0"/>
              </a:rPr>
              <a:t>The answer derives from the fact that </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speaking is a voluntary activity</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perhaps the most paradigmatic form of the human </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freedom of the will</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and where free voluntary actions are concerned, people perform these actions in their own free voluntary ways. Biology can give us a basis for talk, but it is up to us how we talk, and it is up to us what we say.</a:t>
            </a:r>
            <a:endParaRPr lang="en-US" sz="3200" dirty="0"/>
          </a:p>
        </p:txBody>
      </p:sp>
    </p:spTree>
    <p:extLst>
      <p:ext uri="{BB962C8B-B14F-4D97-AF65-F5344CB8AC3E}">
        <p14:creationId xmlns:p14="http://schemas.microsoft.com/office/powerpoint/2010/main" val="8990651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601B3F1-851B-4253-A2FA-FAE041E690B1}"/>
              </a:ext>
            </a:extLst>
          </p:cNvPr>
          <p:cNvSpPr txBox="1"/>
          <p:nvPr/>
        </p:nvSpPr>
        <p:spPr>
          <a:xfrm>
            <a:off x="0" y="0"/>
            <a:ext cx="12192000" cy="6001643"/>
          </a:xfrm>
          <a:prstGeom prst="rect">
            <a:avLst/>
          </a:prstGeom>
          <a:noFill/>
        </p:spPr>
        <p:txBody>
          <a:bodyPr wrap="square">
            <a:spAutoFit/>
          </a:bodyPr>
          <a:lstStyle/>
          <a:p>
            <a:pPr algn="just"/>
            <a:r>
              <a:rPr lang="en-US" sz="3200" dirty="0">
                <a:effectLst/>
                <a:latin typeface="Times New Roman" panose="02020603050405020304" pitchFamily="18" charset="0"/>
                <a:ea typeface="Calibri" panose="020F0502020204030204" pitchFamily="34" charset="0"/>
                <a:cs typeface="Times New Roman" panose="02020603050405020304" pitchFamily="18" charset="0"/>
              </a:rPr>
              <a:t>Suppose there had been exactly one primordial language with its own syntax and lexicon. We know from historical linguistics that it would have evolved into different dialects, all of which would be conventional. In a sense the Roman Empire gave its subjects a common language, but over two thousand years they evolved into contemporary French, Portuguese, Spanish, etc. So even assuming one biologically determined language, the free will of language speakers would have evolved this </a:t>
            </a:r>
            <a:r>
              <a:rPr lang="en-US" sz="3200" i="1" dirty="0">
                <a:effectLst/>
                <a:latin typeface="Times New Roman" panose="02020603050405020304" pitchFamily="18" charset="0"/>
                <a:ea typeface="Calibri" panose="020F0502020204030204" pitchFamily="34" charset="0"/>
                <a:cs typeface="Times New Roman" panose="02020603050405020304" pitchFamily="18" charset="0"/>
              </a:rPr>
              <a:t>“biologically determined language” </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into any number of conventional dialects, where “conventional” implies both arbitrariness and normativity. There is a right way and a wrong way to speak any language, but the way that the language fixed rightness and wrongness is conventional and therefore arbitrary.</a:t>
            </a:r>
            <a:endParaRPr lang="en-US" sz="3200" dirty="0"/>
          </a:p>
        </p:txBody>
      </p:sp>
    </p:spTree>
    <p:extLst>
      <p:ext uri="{BB962C8B-B14F-4D97-AF65-F5344CB8AC3E}">
        <p14:creationId xmlns:p14="http://schemas.microsoft.com/office/powerpoint/2010/main" val="21649860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43613A-AB28-441B-9E81-A5188EFCFAEC}"/>
              </a:ext>
            </a:extLst>
          </p:cNvPr>
          <p:cNvSpPr txBox="1"/>
          <p:nvPr/>
        </p:nvSpPr>
        <p:spPr>
          <a:xfrm>
            <a:off x="0" y="0"/>
            <a:ext cx="12192000" cy="2674130"/>
          </a:xfrm>
          <a:prstGeom prst="rect">
            <a:avLst/>
          </a:prstGeom>
          <a:noFill/>
        </p:spPr>
        <p:txBody>
          <a:bodyPr wrap="square">
            <a:spAutoFit/>
          </a:bodyPr>
          <a:lstStyle/>
          <a:p>
            <a:pPr marL="0" marR="0" algn="ctr">
              <a:lnSpc>
                <a:spcPct val="107000"/>
              </a:lnSpc>
              <a:spcBef>
                <a:spcPts val="0"/>
              </a:spcBef>
              <a:spcAft>
                <a:spcPts val="800"/>
              </a:spcAft>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II- Phonology – Syntax, Semantic - &amp; Pragmatic Components of Language</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US" sz="2800" i="1" dirty="0">
                <a:latin typeface="Times New Roman" panose="02020603050405020304" pitchFamily="18" charset="0"/>
                <a:ea typeface="Calibri" panose="020F0502020204030204" pitchFamily="34" charset="0"/>
                <a:cs typeface="Times New Roman" panose="02020603050405020304" pitchFamily="18" charset="0"/>
              </a:rPr>
              <a:t>These are components of a language:</a:t>
            </a:r>
          </a:p>
          <a:p>
            <a:pPr algn="just">
              <a:lnSpc>
                <a:spcPct val="107000"/>
              </a:lnSpc>
              <a:spcAft>
                <a:spcPts val="8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Phonology – this determines how words and sentences are pronounced</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Syntax – form/structure of the sentences/senses. D</a:t>
            </a:r>
            <a:r>
              <a:rPr lang="en-US" sz="2800" dirty="0">
                <a:latin typeface="Times New Roman" panose="02020603050405020304" pitchFamily="18" charset="0"/>
                <a:ea typeface="Calibri" panose="020F0502020204030204" pitchFamily="34" charset="0"/>
                <a:cs typeface="Times New Roman" panose="02020603050405020304" pitchFamily="18" charset="0"/>
              </a:rPr>
              <a:t>etermines the arrangement of words and morphemes in sentences.</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223622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07272C1-1C0B-E77B-6D3B-C2A1CEA46F4C}"/>
              </a:ext>
            </a:extLst>
          </p:cNvPr>
          <p:cNvSpPr txBox="1"/>
          <p:nvPr/>
        </p:nvSpPr>
        <p:spPr>
          <a:xfrm>
            <a:off x="0" y="0"/>
            <a:ext cx="12192000" cy="4059766"/>
          </a:xfrm>
          <a:prstGeom prst="rect">
            <a:avLst/>
          </a:prstGeom>
          <a:noFill/>
        </p:spPr>
        <p:txBody>
          <a:bodyPr wrap="square">
            <a:spAutoFit/>
          </a:bodyPr>
          <a:lstStyle/>
          <a:p>
            <a:pPr algn="just"/>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Semantics</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 meaning. T</a:t>
            </a:r>
            <a:r>
              <a:rPr lang="en-US" sz="2800" dirty="0">
                <a:latin typeface="Times New Roman" panose="02020603050405020304" pitchFamily="18" charset="0"/>
                <a:ea typeface="Calibri" panose="020F0502020204030204" pitchFamily="34" charset="0"/>
                <a:cs typeface="Times New Roman" panose="02020603050405020304" pitchFamily="18" charset="0"/>
              </a:rPr>
              <a:t>hat assigns a meaning or interpretation to words and sentences. It is a</a:t>
            </a:r>
            <a:r>
              <a:rPr lang="en-US" sz="2800" b="0" i="0" u="none" strike="noStrike" baseline="0" dirty="0">
                <a:latin typeface="Times New Roman" panose="02020603050405020304" pitchFamily="18" charset="0"/>
                <a:cs typeface="Times New Roman" panose="02020603050405020304" pitchFamily="18" charset="0"/>
              </a:rPr>
              <a:t> theoretical explanation of the way in which the meaning of sentences depends on the meaning of their parts. The term is sometimes also used to describe the study of the relation between language and the world. So, the term ‘semantic’ is used to describe anything relevant to meaning.</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Pragmatic</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 uses. I</a:t>
            </a:r>
            <a:r>
              <a:rPr lang="en-US" sz="2800" dirty="0">
                <a:latin typeface="Times New Roman" panose="02020603050405020304" pitchFamily="18" charset="0"/>
                <a:ea typeface="Calibri" panose="020F0502020204030204" pitchFamily="34" charset="0"/>
                <a:cs typeface="Times New Roman" panose="02020603050405020304" pitchFamily="18" charset="0"/>
              </a:rPr>
              <a:t>s not a component of specific languages; rather, it sets certain constraints on the use of language and is not internal to specific languages, such as </a:t>
            </a:r>
            <a:r>
              <a:rPr lang="en-US" sz="2800" dirty="0" err="1">
                <a:latin typeface="Times New Roman" panose="02020603050405020304" pitchFamily="18" charset="0"/>
                <a:ea typeface="Calibri" panose="020F0502020204030204" pitchFamily="34" charset="0"/>
                <a:cs typeface="Times New Roman" panose="02020603050405020304" pitchFamily="18" charset="0"/>
              </a:rPr>
              <a:t>Lusoga</a:t>
            </a:r>
            <a:r>
              <a:rPr lang="en-US" sz="2800" dirty="0">
                <a:latin typeface="Times New Roman" panose="02020603050405020304" pitchFamily="18" charset="0"/>
                <a:ea typeface="Calibri" panose="020F0502020204030204" pitchFamily="34" charset="0"/>
                <a:cs typeface="Times New Roman" panose="02020603050405020304" pitchFamily="18" charset="0"/>
              </a:rPr>
              <a:t> or German, in the way that the syntax of </a:t>
            </a:r>
            <a:r>
              <a:rPr lang="en-US" sz="2800" dirty="0" err="1">
                <a:latin typeface="Times New Roman" panose="02020603050405020304" pitchFamily="18" charset="0"/>
                <a:ea typeface="Calibri" panose="020F0502020204030204" pitchFamily="34" charset="0"/>
                <a:cs typeface="Times New Roman" panose="02020603050405020304" pitchFamily="18" charset="0"/>
              </a:rPr>
              <a:t>Lusoga</a:t>
            </a:r>
            <a:r>
              <a:rPr lang="en-US" sz="2800" dirty="0">
                <a:latin typeface="Times New Roman" panose="02020603050405020304" pitchFamily="18" charset="0"/>
                <a:ea typeface="Calibri" panose="020F0502020204030204" pitchFamily="34" charset="0"/>
                <a:cs typeface="Times New Roman" panose="02020603050405020304" pitchFamily="18" charset="0"/>
              </a:rPr>
              <a:t> is internal to </a:t>
            </a:r>
            <a:r>
              <a:rPr lang="en-US" sz="2800" dirty="0" err="1">
                <a:latin typeface="Times New Roman" panose="02020603050405020304" pitchFamily="18" charset="0"/>
                <a:ea typeface="Calibri" panose="020F0502020204030204" pitchFamily="34" charset="0"/>
                <a:cs typeface="Times New Roman" panose="02020603050405020304" pitchFamily="18" charset="0"/>
              </a:rPr>
              <a:t>Lusoga</a:t>
            </a:r>
            <a:r>
              <a:rPr lang="en-US" sz="2800" dirty="0">
                <a:latin typeface="Times New Roman" panose="02020603050405020304" pitchFamily="18" charset="0"/>
                <a:ea typeface="Calibri" panose="020F0502020204030204" pitchFamily="34" charset="0"/>
                <a:cs typeface="Times New Roman" panose="02020603050405020304" pitchFamily="18" charset="0"/>
              </a:rPr>
              <a:t> and the syntax of German is internal to German.</a:t>
            </a:r>
          </a:p>
        </p:txBody>
      </p:sp>
    </p:spTree>
    <p:extLst>
      <p:ext uri="{BB962C8B-B14F-4D97-AF65-F5344CB8AC3E}">
        <p14:creationId xmlns:p14="http://schemas.microsoft.com/office/powerpoint/2010/main" val="30152111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995AFF2-28BF-4C96-9FD6-5B027B63DC12}"/>
              </a:ext>
            </a:extLst>
          </p:cNvPr>
          <p:cNvSpPr txBox="1"/>
          <p:nvPr/>
        </p:nvSpPr>
        <p:spPr>
          <a:xfrm>
            <a:off x="0" y="0"/>
            <a:ext cx="12192000" cy="3970318"/>
          </a:xfrm>
          <a:prstGeom prst="rect">
            <a:avLst/>
          </a:prstGeom>
          <a:noFill/>
        </p:spPr>
        <p:txBody>
          <a:bodyPr wrap="square">
            <a:spAutoFit/>
          </a:bodyPr>
          <a:lstStyle/>
          <a:p>
            <a:pPr algn="just"/>
            <a:r>
              <a:rPr lang="en-US" sz="3600" dirty="0">
                <a:latin typeface="Times New Roman" panose="02020603050405020304" pitchFamily="18" charset="0"/>
                <a:ea typeface="Calibri" panose="020F0502020204030204" pitchFamily="34" charset="0"/>
                <a:cs typeface="Times New Roman" panose="02020603050405020304" pitchFamily="18" charset="0"/>
              </a:rPr>
              <a:t>T</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he component of syntax is very crucial in a language.</a:t>
            </a:r>
            <a:r>
              <a:rPr lang="en-US" sz="3600" dirty="0">
                <a:latin typeface="Times New Roman" panose="02020603050405020304" pitchFamily="18" charset="0"/>
                <a:ea typeface="Calibri" panose="020F0502020204030204" pitchFamily="34" charset="0"/>
                <a:cs typeface="Times New Roman" panose="02020603050405020304" pitchFamily="18" charset="0"/>
              </a:rPr>
              <a:t> It </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organizes semantics according to three distinct features: </a:t>
            </a:r>
            <a:r>
              <a:rPr lang="en-US" sz="3600" i="1" dirty="0">
                <a:effectLst/>
                <a:latin typeface="Times New Roman" panose="02020603050405020304" pitchFamily="18" charset="0"/>
                <a:ea typeface="Calibri" panose="020F0502020204030204" pitchFamily="34" charset="0"/>
                <a:cs typeface="Times New Roman" panose="02020603050405020304" pitchFamily="18" charset="0"/>
              </a:rPr>
              <a:t>discreteness, compositionality, and generativity</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p>
          <a:p>
            <a:pPr algn="just"/>
            <a:r>
              <a:rPr lang="en-US" sz="3600" i="1" dirty="0">
                <a:effectLst/>
                <a:latin typeface="Times New Roman" panose="02020603050405020304" pitchFamily="18" charset="0"/>
                <a:ea typeface="Calibri" panose="020F0502020204030204" pitchFamily="34" charset="0"/>
                <a:cs typeface="Times New Roman" panose="02020603050405020304" pitchFamily="18" charset="0"/>
              </a:rPr>
              <a:t>Discreteness</a:t>
            </a:r>
            <a:r>
              <a:rPr lang="en-US" sz="3600" dirty="0">
                <a:latin typeface="Times New Roman" panose="02020603050405020304" pitchFamily="18" charset="0"/>
                <a:ea typeface="Calibri" panose="020F0502020204030204" pitchFamily="34" charset="0"/>
                <a:cs typeface="Times New Roman" panose="02020603050405020304" pitchFamily="18" charset="0"/>
              </a:rPr>
              <a:t> - </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It</a:t>
            </a:r>
            <a:r>
              <a:rPr lang="en-US" sz="3600" spc="22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is</a:t>
            </a:r>
            <a:r>
              <a:rPr lang="en-US" sz="3600" spc="2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a</a:t>
            </a:r>
            <a:r>
              <a:rPr lang="en-US" sz="3600" spc="23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feature</a:t>
            </a:r>
            <a:r>
              <a:rPr lang="en-US" sz="3600" spc="22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of</a:t>
            </a:r>
            <a:r>
              <a:rPr lang="en-US" sz="3600" spc="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sentences</a:t>
            </a:r>
            <a:r>
              <a:rPr lang="en-US" sz="3600"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that</a:t>
            </a:r>
            <a:r>
              <a:rPr lang="en-US" sz="3600" spc="4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though</a:t>
            </a:r>
            <a:r>
              <a:rPr lang="en-US" sz="3600" spc="6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they</a:t>
            </a:r>
            <a:r>
              <a:rPr lang="en-US" sz="3600" spc="24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are</a:t>
            </a:r>
            <a:r>
              <a:rPr lang="en-US" sz="3600" spc="19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composed</a:t>
            </a:r>
            <a:r>
              <a:rPr lang="en-US" sz="3600" spc="3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of</a:t>
            </a:r>
            <a:r>
              <a:rPr lang="en-US" sz="3600" spc="17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words and morphemes,</a:t>
            </a:r>
            <a:r>
              <a:rPr lang="en-US" sz="3600" spc="12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the</a:t>
            </a:r>
            <a:r>
              <a:rPr lang="en-US" sz="3600" spc="8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words</a:t>
            </a:r>
            <a:r>
              <a:rPr lang="en-US" sz="3600" spc="16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maintain</a:t>
            </a:r>
            <a:r>
              <a:rPr lang="en-US" sz="3600" spc="23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their</a:t>
            </a:r>
            <a:r>
              <a:rPr lang="en-US" sz="3600" spc="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identity in</a:t>
            </a:r>
            <a:r>
              <a:rPr lang="en-US" sz="3600" spc="-2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the</a:t>
            </a:r>
            <a:r>
              <a:rPr lang="en-US" sz="3600" spc="-3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recombinations</a:t>
            </a:r>
            <a:r>
              <a:rPr lang="en-US" sz="3600" dirty="0">
                <a:latin typeface="Times New Roman" panose="02020603050405020304" pitchFamily="18" charset="0"/>
                <a:ea typeface="Calibri" panose="020F0502020204030204" pitchFamily="34" charset="0"/>
                <a:cs typeface="Times New Roman" panose="02020603050405020304" pitchFamily="18" charset="0"/>
              </a:rPr>
              <a:t> or </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under the various syntactical operations.</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22803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2CAF717-A1DD-457E-9F58-D6A046CD76A0}"/>
              </a:ext>
            </a:extLst>
          </p:cNvPr>
          <p:cNvSpPr txBox="1"/>
          <p:nvPr/>
        </p:nvSpPr>
        <p:spPr>
          <a:xfrm>
            <a:off x="0" y="0"/>
            <a:ext cx="11687175" cy="6577057"/>
          </a:xfrm>
          <a:prstGeom prst="rect">
            <a:avLst/>
          </a:prstGeom>
          <a:noFill/>
        </p:spPr>
        <p:txBody>
          <a:bodyPr wrap="square">
            <a:spAutoFit/>
          </a:bodyPr>
          <a:lstStyle/>
          <a:p>
            <a:pPr algn="just">
              <a:lnSpc>
                <a:spcPct val="107000"/>
              </a:lnSpc>
              <a:spcAft>
                <a:spcPts val="800"/>
              </a:spcAft>
            </a:pPr>
            <a:r>
              <a:rPr lang="en-US" sz="4400" dirty="0">
                <a:effectLst/>
                <a:latin typeface="Times New Roman" panose="02020603050405020304" pitchFamily="18" charset="0"/>
                <a:ea typeface="Calibri" panose="020F0502020204030204" pitchFamily="34" charset="0"/>
                <a:cs typeface="Times New Roman" panose="02020603050405020304" pitchFamily="18" charset="0"/>
              </a:rPr>
              <a:t>So, for example, when you change a sentence around, the words (and morphemes), do not lose their identity. Unlike baking a cake where the ingredients are changed by being mixed together, forming a sentence does not change the words and morphemes that are being mixed together, and you can have a sentence containing eight words or twelve words, but you cannot have a sentence containing nine and a half words.</a:t>
            </a:r>
            <a:endParaRPr lang="en-US" sz="4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031746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660E5B-16DC-4B59-BAD8-6856AB32F459}"/>
              </a:ext>
            </a:extLst>
          </p:cNvPr>
          <p:cNvSpPr txBox="1"/>
          <p:nvPr/>
        </p:nvSpPr>
        <p:spPr>
          <a:xfrm>
            <a:off x="0" y="-1"/>
            <a:ext cx="11972925" cy="6186309"/>
          </a:xfrm>
          <a:prstGeom prst="rect">
            <a:avLst/>
          </a:prstGeom>
          <a:noFill/>
        </p:spPr>
        <p:txBody>
          <a:bodyPr wrap="square">
            <a:spAutoFit/>
          </a:bodyPr>
          <a:lstStyle/>
          <a:p>
            <a:pPr algn="just"/>
            <a:r>
              <a:rPr lang="en-US" sz="3600" i="1" dirty="0">
                <a:effectLst/>
                <a:latin typeface="Times New Roman" panose="02020603050405020304" pitchFamily="18" charset="0"/>
                <a:ea typeface="Calibri" panose="020F0502020204030204" pitchFamily="34" charset="0"/>
                <a:cs typeface="Times New Roman" panose="02020603050405020304" pitchFamily="18" charset="0"/>
              </a:rPr>
              <a:t>Compositionality</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is both a syntactic and a semantic property. Syntactically a complex element such as a sentence is built up out of simple elements, words and morphemes, according to the formation rules of the language. Semantically the meaning of the whole sentence is determined by the meanings of the simple elements together with the syntactical structure of the sentence. For example, we understand the sentence “John loves Mary” differently from the sentence “Mary loves John”; even though they both have the same elements, because the elements are arranged differently in the sentences, and this gives a different meaning to the sentence.</a:t>
            </a:r>
            <a:endParaRPr lang="en-US" sz="1200" i="1" dirty="0"/>
          </a:p>
        </p:txBody>
      </p:sp>
    </p:spTree>
    <p:extLst>
      <p:ext uri="{BB962C8B-B14F-4D97-AF65-F5344CB8AC3E}">
        <p14:creationId xmlns:p14="http://schemas.microsoft.com/office/powerpoint/2010/main" val="23270630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960C1E-752A-4E01-BA3B-BAA9F794582B}"/>
              </a:ext>
            </a:extLst>
          </p:cNvPr>
          <p:cNvSpPr txBox="1"/>
          <p:nvPr/>
        </p:nvSpPr>
        <p:spPr>
          <a:xfrm>
            <a:off x="0" y="0"/>
            <a:ext cx="12192000" cy="3745384"/>
          </a:xfrm>
          <a:prstGeom prst="rect">
            <a:avLst/>
          </a:prstGeom>
          <a:noFill/>
        </p:spPr>
        <p:txBody>
          <a:bodyPr wrap="square">
            <a:spAutoFit/>
          </a:bodyPr>
          <a:lstStyle/>
          <a:p>
            <a:pPr marL="0" marR="0" algn="just">
              <a:lnSpc>
                <a:spcPct val="107000"/>
              </a:lnSpc>
              <a:spcBef>
                <a:spcPts val="0"/>
              </a:spcBef>
              <a:spcAft>
                <a:spcPts val="800"/>
              </a:spcAft>
            </a:pPr>
            <a:r>
              <a:rPr lang="en-US" sz="3200" b="1"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Compositionality thus, is understood as a characteristic of how we understand novel sentences, namely that we understand such sentences in virtue of understanding the individual words and how they are strung together. This presupposes that the meaning of a sentence is determined by the meanings of its component words together with their syntactic relations to each other – you can tell the meaning of the sense by telling the meaning of the parts.</a:t>
            </a:r>
          </a:p>
        </p:txBody>
      </p:sp>
    </p:spTree>
    <p:extLst>
      <p:ext uri="{BB962C8B-B14F-4D97-AF65-F5344CB8AC3E}">
        <p14:creationId xmlns:p14="http://schemas.microsoft.com/office/powerpoint/2010/main" val="32281964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F50A491-42E2-43DB-BD9A-DF7F5A1F4DF5}"/>
              </a:ext>
            </a:extLst>
          </p:cNvPr>
          <p:cNvSpPr txBox="1"/>
          <p:nvPr/>
        </p:nvSpPr>
        <p:spPr>
          <a:xfrm>
            <a:off x="0" y="0"/>
            <a:ext cx="11963400" cy="5632311"/>
          </a:xfrm>
          <a:prstGeom prst="rect">
            <a:avLst/>
          </a:prstGeom>
          <a:noFill/>
        </p:spPr>
        <p:txBody>
          <a:bodyPr wrap="square">
            <a:spAutoFit/>
          </a:bodyPr>
          <a:lstStyle/>
          <a:p>
            <a:pPr algn="just"/>
            <a:r>
              <a:rPr lang="en-US" sz="4000" i="1" dirty="0">
                <a:effectLst/>
                <a:latin typeface="Times New Roman" panose="02020603050405020304" pitchFamily="18" charset="0"/>
                <a:ea typeface="Calibri" panose="020F0502020204030204" pitchFamily="34" charset="0"/>
                <a:cs typeface="Times New Roman" panose="02020603050405020304" pitchFamily="18" charset="0"/>
              </a:rPr>
              <a:t>Generativity</a:t>
            </a:r>
            <a:r>
              <a:rPr lang="en-US" sz="4000" dirty="0">
                <a:latin typeface="Times New Roman" panose="02020603050405020304" pitchFamily="18" charset="0"/>
                <a:ea typeface="Calibri" panose="020F0502020204030204" pitchFamily="34" charset="0"/>
                <a:cs typeface="Times New Roman" panose="02020603050405020304" pitchFamily="18" charset="0"/>
              </a:rPr>
              <a:t> </a:t>
            </a:r>
            <a:r>
              <a:rPr lang="en-US" sz="4000" dirty="0">
                <a:effectLst/>
                <a:latin typeface="Times New Roman" panose="02020603050405020304" pitchFamily="18" charset="0"/>
                <a:ea typeface="Calibri" panose="020F0502020204030204" pitchFamily="34" charset="0"/>
                <a:cs typeface="Times New Roman" panose="02020603050405020304" pitchFamily="18" charset="0"/>
              </a:rPr>
              <a:t>implies that the syntactical operations of the language allow the speakers to generate an indefinite number of new sentences. There is, strictly speaking, no upper limit to the number of sentences in any natural human language. Once</a:t>
            </a:r>
            <a:r>
              <a:rPr lang="en-US" sz="4000" spc="-7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000" dirty="0">
                <a:effectLst/>
                <a:latin typeface="Times New Roman" panose="02020603050405020304" pitchFamily="18" charset="0"/>
                <a:ea typeface="Calibri" panose="020F0502020204030204" pitchFamily="34" charset="0"/>
                <a:cs typeface="Times New Roman" panose="02020603050405020304" pitchFamily="18" charset="0"/>
              </a:rPr>
              <a:t>you</a:t>
            </a:r>
            <a:r>
              <a:rPr lang="en-US" sz="4000" spc="3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000" dirty="0">
                <a:effectLst/>
                <a:latin typeface="Times New Roman" panose="02020603050405020304" pitchFamily="18" charset="0"/>
                <a:ea typeface="Calibri" panose="020F0502020204030204" pitchFamily="34" charset="0"/>
                <a:cs typeface="Times New Roman" panose="02020603050405020304" pitchFamily="18" charset="0"/>
              </a:rPr>
              <a:t>have</a:t>
            </a:r>
            <a:r>
              <a:rPr lang="en-US" sz="4000" spc="2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000" dirty="0">
                <a:effectLst/>
                <a:latin typeface="Times New Roman" panose="02020603050405020304" pitchFamily="18" charset="0"/>
                <a:ea typeface="Calibri" panose="020F0502020204030204" pitchFamily="34" charset="0"/>
                <a:cs typeface="Times New Roman" panose="02020603050405020304" pitchFamily="18" charset="0"/>
              </a:rPr>
              <a:t>certain</a:t>
            </a:r>
            <a:r>
              <a:rPr lang="en-US" sz="4000"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000" dirty="0">
                <a:effectLst/>
                <a:latin typeface="Times New Roman" panose="02020603050405020304" pitchFamily="18" charset="0"/>
                <a:ea typeface="Calibri" panose="020F0502020204030204" pitchFamily="34" charset="0"/>
                <a:cs typeface="Times New Roman" panose="02020603050405020304" pitchFamily="18" charset="0"/>
              </a:rPr>
              <a:t>sorts</a:t>
            </a:r>
            <a:r>
              <a:rPr lang="en-US" sz="4000" spc="-2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000" dirty="0">
                <a:effectLst/>
                <a:latin typeface="Times New Roman" panose="02020603050405020304" pitchFamily="18" charset="0"/>
                <a:ea typeface="Calibri" panose="020F0502020204030204" pitchFamily="34" charset="0"/>
                <a:cs typeface="Times New Roman" panose="02020603050405020304" pitchFamily="18" charset="0"/>
              </a:rPr>
              <a:t>of</a:t>
            </a:r>
            <a:r>
              <a:rPr lang="en-US" sz="4000" spc="-2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000" dirty="0">
                <a:effectLst/>
                <a:latin typeface="Times New Roman" panose="02020603050405020304" pitchFamily="18" charset="0"/>
                <a:ea typeface="Calibri" panose="020F0502020204030204" pitchFamily="34" charset="0"/>
                <a:cs typeface="Times New Roman" panose="02020603050405020304" pitchFamily="18" charset="0"/>
              </a:rPr>
              <a:t>rules,</a:t>
            </a:r>
            <a:r>
              <a:rPr lang="en-US" sz="40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000" dirty="0">
                <a:effectLst/>
                <a:latin typeface="Times New Roman" panose="02020603050405020304" pitchFamily="18" charset="0"/>
                <a:ea typeface="Calibri" panose="020F0502020204030204" pitchFamily="34" charset="0"/>
                <a:cs typeface="Times New Roman" panose="02020603050405020304" pitchFamily="18" charset="0"/>
              </a:rPr>
              <a:t>such</a:t>
            </a:r>
            <a:r>
              <a:rPr lang="en-US" sz="4000" spc="-2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000" dirty="0">
                <a:effectLst/>
                <a:latin typeface="Times New Roman" panose="02020603050405020304" pitchFamily="18" charset="0"/>
                <a:ea typeface="Calibri" panose="020F0502020204030204" pitchFamily="34" charset="0"/>
                <a:cs typeface="Times New Roman" panose="02020603050405020304" pitchFamily="18" charset="0"/>
              </a:rPr>
              <a:t>as</a:t>
            </a:r>
            <a:r>
              <a:rPr lang="en-US" sz="4000" spc="-3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000" dirty="0">
                <a:effectLst/>
                <a:latin typeface="Times New Roman" panose="02020603050405020304" pitchFamily="18" charset="0"/>
                <a:ea typeface="Calibri" panose="020F0502020204030204" pitchFamily="34" charset="0"/>
                <a:cs typeface="Times New Roman" panose="02020603050405020304" pitchFamily="18" charset="0"/>
              </a:rPr>
              <a:t>the rule</a:t>
            </a:r>
            <a:r>
              <a:rPr lang="en-US" sz="4000" spc="13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000" dirty="0">
                <a:effectLst/>
                <a:latin typeface="Times New Roman" panose="02020603050405020304" pitchFamily="18" charset="0"/>
                <a:ea typeface="Calibri" panose="020F0502020204030204" pitchFamily="34" charset="0"/>
                <a:cs typeface="Times New Roman" panose="02020603050405020304" pitchFamily="18" charset="0"/>
              </a:rPr>
              <a:t>for</a:t>
            </a:r>
            <a:r>
              <a:rPr lang="en-US" sz="4000" spc="9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000" dirty="0">
                <a:effectLst/>
                <a:latin typeface="Times New Roman" panose="02020603050405020304" pitchFamily="18" charset="0"/>
                <a:ea typeface="Calibri" panose="020F0502020204030204" pitchFamily="34" charset="0"/>
                <a:cs typeface="Times New Roman" panose="02020603050405020304" pitchFamily="18" charset="0"/>
              </a:rPr>
              <a:t>forming</a:t>
            </a:r>
            <a:r>
              <a:rPr lang="en-US" sz="4000" spc="12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000" dirty="0">
                <a:effectLst/>
                <a:latin typeface="Times New Roman" panose="02020603050405020304" pitchFamily="18" charset="0"/>
                <a:ea typeface="Calibri" panose="020F0502020204030204" pitchFamily="34" charset="0"/>
                <a:cs typeface="Times New Roman" panose="02020603050405020304" pitchFamily="18" charset="0"/>
              </a:rPr>
              <a:t>relative</a:t>
            </a:r>
            <a:r>
              <a:rPr lang="en-US" sz="4000" spc="14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000" dirty="0">
                <a:effectLst/>
                <a:latin typeface="Times New Roman" panose="02020603050405020304" pitchFamily="18" charset="0"/>
                <a:ea typeface="Calibri" panose="020F0502020204030204" pitchFamily="34" charset="0"/>
                <a:cs typeface="Times New Roman" panose="02020603050405020304" pitchFamily="18" charset="0"/>
              </a:rPr>
              <a:t>clauses</a:t>
            </a:r>
            <a:r>
              <a:rPr lang="en-US" sz="4000" spc="16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000" dirty="0">
                <a:effectLst/>
                <a:latin typeface="Times New Roman" panose="02020603050405020304" pitchFamily="18" charset="0"/>
                <a:ea typeface="Calibri" panose="020F0502020204030204" pitchFamily="34" charset="0"/>
                <a:cs typeface="Times New Roman" panose="02020603050405020304" pitchFamily="18" charset="0"/>
              </a:rPr>
              <a:t>or</a:t>
            </a:r>
            <a:r>
              <a:rPr lang="en-US" sz="4000" spc="14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000" dirty="0">
                <a:effectLst/>
                <a:latin typeface="Times New Roman" panose="02020603050405020304" pitchFamily="18" charset="0"/>
                <a:ea typeface="Calibri" panose="020F0502020204030204" pitchFamily="34" charset="0"/>
                <a:cs typeface="Times New Roman" panose="02020603050405020304" pitchFamily="18" charset="0"/>
              </a:rPr>
              <a:t>the</a:t>
            </a:r>
            <a:r>
              <a:rPr lang="en-US" sz="4000" spc="14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000" dirty="0">
                <a:effectLst/>
                <a:latin typeface="Times New Roman" panose="02020603050405020304" pitchFamily="18" charset="0"/>
                <a:ea typeface="Calibri" panose="020F0502020204030204" pitchFamily="34" charset="0"/>
                <a:cs typeface="Times New Roman" panose="02020603050405020304" pitchFamily="18" charset="0"/>
              </a:rPr>
              <a:t>rule</a:t>
            </a:r>
            <a:r>
              <a:rPr lang="en-US" sz="4000" spc="13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000" dirty="0">
                <a:effectLst/>
                <a:latin typeface="Times New Roman" panose="02020603050405020304" pitchFamily="18" charset="0"/>
                <a:ea typeface="Calibri" panose="020F0502020204030204" pitchFamily="34" charset="0"/>
                <a:cs typeface="Times New Roman" panose="02020603050405020304" pitchFamily="18" charset="0"/>
              </a:rPr>
              <a:t>for</a:t>
            </a:r>
            <a:r>
              <a:rPr lang="en-US" sz="4000" spc="9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000" dirty="0">
                <a:effectLst/>
                <a:latin typeface="Times New Roman" panose="02020603050405020304" pitchFamily="18" charset="0"/>
                <a:ea typeface="Calibri" panose="020F0502020204030204" pitchFamily="34" charset="0"/>
                <a:cs typeface="Times New Roman" panose="02020603050405020304" pitchFamily="18" charset="0"/>
              </a:rPr>
              <a:t>inserting</a:t>
            </a:r>
            <a:r>
              <a:rPr lang="en-US" sz="4000" spc="13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000" dirty="0">
                <a:effectLst/>
                <a:latin typeface="Times New Roman" panose="02020603050405020304" pitchFamily="18" charset="0"/>
                <a:ea typeface="Calibri" panose="020F0502020204030204" pitchFamily="34" charset="0"/>
                <a:cs typeface="Times New Roman" panose="02020603050405020304" pitchFamily="18" charset="0"/>
              </a:rPr>
              <a:t>conjunctions,</a:t>
            </a:r>
            <a:r>
              <a:rPr lang="en-US" sz="4000" spc="2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000" dirty="0">
                <a:effectLst/>
                <a:latin typeface="Times New Roman" panose="02020603050405020304" pitchFamily="18" charset="0"/>
                <a:ea typeface="Calibri" panose="020F0502020204030204" pitchFamily="34" charset="0"/>
                <a:cs typeface="Times New Roman" panose="02020603050405020304" pitchFamily="18" charset="0"/>
              </a:rPr>
              <a:t>then you</a:t>
            </a:r>
            <a:r>
              <a:rPr lang="en-US" sz="4000" spc="1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000" dirty="0">
                <a:effectLst/>
                <a:latin typeface="Times New Roman" panose="02020603050405020304" pitchFamily="18" charset="0"/>
                <a:ea typeface="Calibri" panose="020F0502020204030204" pitchFamily="34" charset="0"/>
                <a:cs typeface="Times New Roman" panose="02020603050405020304" pitchFamily="18" charset="0"/>
              </a:rPr>
              <a:t>can</a:t>
            </a:r>
            <a:r>
              <a:rPr lang="en-US" sz="4000" spc="8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000" dirty="0">
                <a:effectLst/>
                <a:latin typeface="Times New Roman" panose="02020603050405020304" pitchFamily="18" charset="0"/>
                <a:ea typeface="Calibri" panose="020F0502020204030204" pitchFamily="34" charset="0"/>
                <a:cs typeface="Times New Roman" panose="02020603050405020304" pitchFamily="18" charset="0"/>
              </a:rPr>
              <a:t>have,</a:t>
            </a:r>
            <a:r>
              <a:rPr lang="en-US" sz="4000" spc="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000" dirty="0">
                <a:effectLst/>
                <a:latin typeface="Times New Roman" panose="02020603050405020304" pitchFamily="18" charset="0"/>
                <a:ea typeface="Calibri" panose="020F0502020204030204" pitchFamily="34" charset="0"/>
                <a:cs typeface="Times New Roman" panose="02020603050405020304" pitchFamily="18" charset="0"/>
              </a:rPr>
              <a:t>strictly</a:t>
            </a:r>
            <a:r>
              <a:rPr lang="en-US" sz="4000"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000" dirty="0">
                <a:effectLst/>
                <a:latin typeface="Times New Roman" panose="02020603050405020304" pitchFamily="18" charset="0"/>
                <a:ea typeface="Calibri" panose="020F0502020204030204" pitchFamily="34" charset="0"/>
                <a:cs typeface="Times New Roman" panose="02020603050405020304" pitchFamily="18" charset="0"/>
              </a:rPr>
              <a:t>speaking,</a:t>
            </a:r>
            <a:r>
              <a:rPr lang="en-US" sz="4000" spc="9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000" dirty="0">
                <a:effectLst/>
                <a:latin typeface="Times New Roman" panose="02020603050405020304" pitchFamily="18" charset="0"/>
                <a:ea typeface="Calibri" panose="020F0502020204030204" pitchFamily="34" charset="0"/>
                <a:cs typeface="Times New Roman" panose="02020603050405020304" pitchFamily="18" charset="0"/>
              </a:rPr>
              <a:t>an</a:t>
            </a:r>
            <a:r>
              <a:rPr lang="en-US" sz="4000" spc="7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000" dirty="0">
                <a:effectLst/>
                <a:latin typeface="Times New Roman" panose="02020603050405020304" pitchFamily="18" charset="0"/>
                <a:ea typeface="Calibri" panose="020F0502020204030204" pitchFamily="34" charset="0"/>
                <a:cs typeface="Times New Roman" panose="02020603050405020304" pitchFamily="18" charset="0"/>
              </a:rPr>
              <a:t>infinite</a:t>
            </a:r>
            <a:r>
              <a:rPr lang="en-US" sz="4000" spc="1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000" dirty="0">
                <a:effectLst/>
                <a:latin typeface="Times New Roman" panose="02020603050405020304" pitchFamily="18" charset="0"/>
                <a:ea typeface="Calibri" panose="020F0502020204030204" pitchFamily="34" charset="0"/>
                <a:cs typeface="Times New Roman" panose="02020603050405020304" pitchFamily="18" charset="0"/>
              </a:rPr>
              <a:t>number</a:t>
            </a:r>
            <a:r>
              <a:rPr lang="en-US" sz="4000" spc="13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000" dirty="0">
                <a:effectLst/>
                <a:latin typeface="Times New Roman" panose="02020603050405020304" pitchFamily="18" charset="0"/>
                <a:ea typeface="Calibri" panose="020F0502020204030204" pitchFamily="34" charset="0"/>
                <a:cs typeface="Times New Roman" panose="02020603050405020304" pitchFamily="18" charset="0"/>
              </a:rPr>
              <a:t>of</a:t>
            </a:r>
            <a:r>
              <a:rPr lang="en-US" sz="4000"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000" dirty="0">
                <a:effectLst/>
                <a:latin typeface="Times New Roman" panose="02020603050405020304" pitchFamily="18" charset="0"/>
                <a:ea typeface="Calibri" panose="020F0502020204030204" pitchFamily="34" charset="0"/>
                <a:cs typeface="Times New Roman" panose="02020603050405020304" pitchFamily="18" charset="0"/>
              </a:rPr>
              <a:t>sentences - you can generate new sense using recursive rules.  </a:t>
            </a:r>
            <a:endParaRPr lang="en-US"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42368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CCBD6A3-1D86-4CDC-B1B1-C48592A781F9}"/>
              </a:ext>
            </a:extLst>
          </p:cNvPr>
          <p:cNvSpPr txBox="1"/>
          <p:nvPr/>
        </p:nvSpPr>
        <p:spPr>
          <a:xfrm>
            <a:off x="50800" y="0"/>
            <a:ext cx="12090400" cy="5111656"/>
          </a:xfrm>
          <a:prstGeom prst="rect">
            <a:avLst/>
          </a:prstGeom>
          <a:noFill/>
        </p:spPr>
        <p:txBody>
          <a:bodyPr wrap="square">
            <a:spAutoFit/>
          </a:bodyPr>
          <a:lstStyle/>
          <a:p>
            <a:pPr marL="67945" marR="75565" indent="3175" algn="just">
              <a:lnSpc>
                <a:spcPct val="129000"/>
              </a:lnSpc>
              <a:spcBef>
                <a:spcPts val="0"/>
              </a:spcBef>
              <a:spcAft>
                <a:spcPts val="0"/>
              </a:spcAft>
            </a:pP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So,</a:t>
            </a:r>
            <a:r>
              <a:rPr lang="en-US" sz="3200" spc="16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3200" spc="19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three</a:t>
            </a:r>
            <a:r>
              <a:rPr lang="en-US" sz="3200" spc="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features­ discreteness,</a:t>
            </a:r>
            <a:r>
              <a:rPr lang="en-US" sz="3200" spc="24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compositionality,</a:t>
            </a:r>
            <a:r>
              <a:rPr lang="en-US" sz="3200" spc="25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3200" spc="15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generativity - are</a:t>
            </a:r>
            <a:r>
              <a:rPr lang="en-US" sz="3200" spc="2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not</a:t>
            </a:r>
            <a:r>
              <a:rPr lang="en-US" sz="3200" spc="12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just</a:t>
            </a:r>
            <a:r>
              <a:rPr lang="en-US" sz="3200" spc="3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features</a:t>
            </a:r>
            <a:r>
              <a:rPr lang="en-US" sz="3200" spc="15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3200" spc="13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the syntax;</a:t>
            </a:r>
            <a:r>
              <a:rPr lang="en-US" sz="3200" spc="12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they</a:t>
            </a:r>
            <a:r>
              <a:rPr lang="en-US" sz="3200" spc="8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are</a:t>
            </a:r>
            <a:r>
              <a:rPr lang="en-US" sz="3200" spc="8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3200" spc="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principles</a:t>
            </a:r>
            <a:r>
              <a:rPr lang="en-US" sz="3200" spc="15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by</a:t>
            </a:r>
            <a:r>
              <a:rPr lang="en-US" sz="3200" spc="8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which</a:t>
            </a:r>
            <a:r>
              <a:rPr lang="en-US" sz="3200" spc="14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3200" spc="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syntax</a:t>
            </a:r>
            <a:r>
              <a:rPr lang="en-US" sz="3200" spc="8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organizes</a:t>
            </a:r>
            <a:r>
              <a:rPr lang="en-US" sz="3200" spc="13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3200" spc="7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semantics. The</a:t>
            </a:r>
            <a:r>
              <a:rPr lang="en-US" sz="3200" spc="2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semantic</a:t>
            </a:r>
            <a:r>
              <a:rPr lang="en-US" sz="3200" spc="4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units</a:t>
            </a:r>
            <a:r>
              <a:rPr lang="en-US" sz="3200" spc="6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retain</a:t>
            </a:r>
            <a:r>
              <a:rPr lang="en-US" sz="3200" spc="1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their</a:t>
            </a:r>
            <a:r>
              <a:rPr lang="en-US" sz="3200" spc="8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identity</a:t>
            </a:r>
            <a:r>
              <a:rPr lang="en-US" sz="3200" spc="2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under</a:t>
            </a:r>
            <a:r>
              <a:rPr lang="en-US" sz="3200" spc="12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syntactical</a:t>
            </a:r>
            <a:r>
              <a:rPr lang="en-US" sz="3200" spc="8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transformation.</a:t>
            </a:r>
            <a:r>
              <a:rPr lang="en-US" sz="3200" spc="12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The meaning</a:t>
            </a:r>
            <a:r>
              <a:rPr lang="en-US" sz="3200" spc="18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3200" spc="12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3200" spc="1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sentence</a:t>
            </a:r>
            <a:r>
              <a:rPr lang="en-US" sz="3200" spc="15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is</a:t>
            </a:r>
            <a:r>
              <a:rPr lang="en-US" sz="3200" spc="1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a</a:t>
            </a:r>
            <a:r>
              <a:rPr lang="en-US" sz="3200" spc="13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compositional</a:t>
            </a:r>
            <a:r>
              <a:rPr lang="en-US" sz="3200" spc="23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function</a:t>
            </a:r>
            <a:r>
              <a:rPr lang="en-US" sz="3200" spc="22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3200" spc="12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3200" spc="14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meaning</a:t>
            </a:r>
            <a:r>
              <a:rPr lang="en-US" sz="3200" spc="19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3200" spc="12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the components</a:t>
            </a:r>
            <a:r>
              <a:rPr lang="en-US" sz="3200" spc="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3200" spc="12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3200" spc="3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their</a:t>
            </a:r>
            <a:r>
              <a:rPr lang="en-US" sz="3200" spc="10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syntactical</a:t>
            </a:r>
            <a:r>
              <a:rPr lang="en-US" sz="3200" spc="14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arrangement</a:t>
            </a:r>
            <a:r>
              <a:rPr lang="en-US" sz="3200" spc="15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in</a:t>
            </a:r>
            <a:r>
              <a:rPr lang="en-US" sz="3200" spc="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3200" spc="5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sentence.</a:t>
            </a:r>
            <a:r>
              <a:rPr lang="en-US" sz="3200" spc="9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3200" spc="7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possi­bility</a:t>
            </a:r>
            <a:r>
              <a:rPr lang="en-US" sz="3200" spc="10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3200" spc="2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generating</a:t>
            </a:r>
            <a:r>
              <a:rPr lang="en-US" sz="3200" spc="10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an</a:t>
            </a:r>
            <a:r>
              <a:rPr lang="en-US" sz="3200" spc="9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infinite</a:t>
            </a:r>
            <a:r>
              <a:rPr lang="en-US" sz="3200" spc="14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number</a:t>
            </a:r>
            <a:r>
              <a:rPr lang="en-US" sz="3200" spc="13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3200" spc="2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sentences</a:t>
            </a:r>
            <a:r>
              <a:rPr lang="en-US" sz="3200" spc="10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carries</a:t>
            </a:r>
            <a:r>
              <a:rPr lang="en-US" sz="3200" spc="7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with</a:t>
            </a:r>
            <a:r>
              <a:rPr lang="en-US" sz="3200" spc="12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it</a:t>
            </a:r>
            <a:r>
              <a:rPr lang="en-US" sz="3200" spc="7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the possibility</a:t>
            </a:r>
            <a:r>
              <a:rPr lang="en-US" sz="3200" spc="13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3200" spc="3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generating</a:t>
            </a:r>
            <a:r>
              <a:rPr lang="en-US" sz="3200" spc="9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an</a:t>
            </a:r>
            <a:r>
              <a:rPr lang="en-US" sz="3200" spc="4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infinite</a:t>
            </a:r>
            <a:r>
              <a:rPr lang="en-US" sz="3200" spc="7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number</a:t>
            </a:r>
            <a:r>
              <a:rPr lang="en-US" sz="3200" spc="13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32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new</a:t>
            </a:r>
            <a:r>
              <a:rPr lang="en-US" sz="3200" spc="7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sentential</a:t>
            </a:r>
            <a:r>
              <a:rPr lang="en-US" sz="3200" spc="1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meanings.</a:t>
            </a:r>
          </a:p>
        </p:txBody>
      </p:sp>
    </p:spTree>
    <p:extLst>
      <p:ext uri="{BB962C8B-B14F-4D97-AF65-F5344CB8AC3E}">
        <p14:creationId xmlns:p14="http://schemas.microsoft.com/office/powerpoint/2010/main" val="30763578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8A87A9-32A4-43FF-A2BD-5BACC728E442}"/>
              </a:ext>
            </a:extLst>
          </p:cNvPr>
          <p:cNvSpPr txBox="1"/>
          <p:nvPr/>
        </p:nvSpPr>
        <p:spPr>
          <a:xfrm>
            <a:off x="0" y="0"/>
            <a:ext cx="12192000" cy="4901855"/>
          </a:xfrm>
          <a:prstGeom prst="rect">
            <a:avLst/>
          </a:prstGeom>
          <a:noFill/>
        </p:spPr>
        <p:txBody>
          <a:bodyPr wrap="square">
            <a:spAutoFit/>
          </a:bodyPr>
          <a:lstStyle/>
          <a:p>
            <a:pPr marL="0" marR="0" algn="ctr">
              <a:lnSpc>
                <a:spcPct val="107000"/>
              </a:lnSpc>
              <a:spcBef>
                <a:spcPts val="0"/>
              </a:spcBef>
              <a:spcAft>
                <a:spcPts val="800"/>
              </a:spcAft>
            </a:pPr>
            <a:r>
              <a:rPr lang="en-US" sz="3200" b="1" dirty="0">
                <a:effectLst/>
                <a:latin typeface="Algerian" panose="04020705040A02060702" pitchFamily="82" charset="0"/>
                <a:ea typeface="Calibri" panose="020F0502020204030204" pitchFamily="34" charset="0"/>
                <a:cs typeface="Times New Roman" panose="02020603050405020304" pitchFamily="18" charset="0"/>
              </a:rPr>
              <a:t>III - Philosophy of Language and </a:t>
            </a:r>
            <a:r>
              <a:rPr lang="en-GB" sz="3200" b="1" dirty="0">
                <a:effectLst/>
                <a:latin typeface="Algerian" panose="04020705040A02060702" pitchFamily="82" charset="0"/>
                <a:ea typeface="Calibri" panose="020F0502020204030204" pitchFamily="34" charset="0"/>
                <a:cs typeface="Times New Roman" panose="02020603050405020304" pitchFamily="18" charset="0"/>
              </a:rPr>
              <a:t>Linguistic Philosophy</a:t>
            </a:r>
            <a:endParaRPr lang="en-US" sz="3200" dirty="0">
              <a:effectLst/>
              <a:latin typeface="Algerian" panose="04020705040A02060702" pitchFamily="82"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200"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Philosophy of Language</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attempts</a:t>
            </a:r>
            <a:r>
              <a:rPr lang="en-GB" sz="3200" dirty="0">
                <a:effectLst/>
                <a:latin typeface="Times New Roman" panose="02020603050405020304" pitchFamily="18" charset="0"/>
                <a:ea typeface="Calibri" panose="020F0502020204030204" pitchFamily="34" charset="0"/>
                <a:cs typeface="Times New Roman" panose="02020603050405020304" pitchFamily="18" charset="0"/>
              </a:rPr>
              <a:t> to give philosophically informative expressions of certain general features of language, such as reference, truth, meaning and necessity. It is concerned only incidentally with particular elements in a particular language; though its method of investigation, where empirical and rational rather than a priori and speculative will naturally force it to pay strict attention to the facts of actual natural languages. + It is a name for all that constitutes the content of the subject.</a:t>
            </a:r>
            <a:endParaRPr lang="en-US" sz="32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250117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48A203D-C34E-774C-227C-94E937BE26D1}"/>
              </a:ext>
            </a:extLst>
          </p:cNvPr>
          <p:cNvSpPr txBox="1"/>
          <p:nvPr/>
        </p:nvSpPr>
        <p:spPr>
          <a:xfrm>
            <a:off x="0" y="0"/>
            <a:ext cx="12039600" cy="5975675"/>
          </a:xfrm>
          <a:prstGeom prst="rect">
            <a:avLst/>
          </a:prstGeom>
          <a:noFill/>
        </p:spPr>
        <p:txBody>
          <a:bodyPr wrap="square">
            <a:spAutoFit/>
          </a:bodyPr>
          <a:lstStyle/>
          <a:p>
            <a:pPr marL="0" marR="0" algn="just">
              <a:lnSpc>
                <a:spcPct val="107000"/>
              </a:lnSpc>
              <a:spcBef>
                <a:spcPts val="0"/>
              </a:spcBef>
              <a:spcAft>
                <a:spcPts val="800"/>
              </a:spcAft>
            </a:pPr>
            <a:r>
              <a:rPr lang="en-US" sz="4000" b="1" dirty="0">
                <a:effectLst/>
                <a:latin typeface="Times New Roman" panose="02020603050405020304" pitchFamily="18" charset="0"/>
                <a:ea typeface="Calibri" panose="020F0502020204030204" pitchFamily="34" charset="0"/>
                <a:cs typeface="Times New Roman" panose="02020603050405020304" pitchFamily="18" charset="0"/>
              </a:rPr>
              <a:t>Linguistic Philosophy</a:t>
            </a:r>
            <a:r>
              <a:rPr lang="en-US" sz="4000" dirty="0">
                <a:effectLst/>
                <a:latin typeface="Times New Roman" panose="02020603050405020304" pitchFamily="18" charset="0"/>
                <a:ea typeface="Calibri" panose="020F0502020204030204" pitchFamily="34" charset="0"/>
                <a:cs typeface="Times New Roman" panose="02020603050405020304" pitchFamily="18" charset="0"/>
              </a:rPr>
              <a:t> </a:t>
            </a:r>
            <a:r>
              <a:rPr lang="en-GB" sz="4000" dirty="0">
                <a:effectLst/>
                <a:latin typeface="Times New Roman" panose="02020603050405020304" pitchFamily="18" charset="0"/>
                <a:ea typeface="Calibri" panose="020F0502020204030204" pitchFamily="34" charset="0"/>
                <a:cs typeface="Times New Roman" panose="02020603050405020304" pitchFamily="18" charset="0"/>
              </a:rPr>
              <a:t>confronts particular philosophical challenges by considering the ordinary use of particular words or other elements in a particular language. In a word, it can be said that this is chiefly a name of a methodology of tackling specific philosophical challenges. It is an approach used to investigate problems, difficulties and controversial concepts of a philosophical nature. Linguistic philosophy in this perspective then, is a part of philosophy of language. </a:t>
            </a:r>
            <a:endParaRPr lang="en-US" sz="4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333557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B0FB9AA-BCB1-4CB1-96AE-976E8766E47F}"/>
              </a:ext>
            </a:extLst>
          </p:cNvPr>
          <p:cNvSpPr txBox="1"/>
          <p:nvPr/>
        </p:nvSpPr>
        <p:spPr>
          <a:xfrm>
            <a:off x="0" y="0"/>
            <a:ext cx="12192000" cy="5695213"/>
          </a:xfrm>
          <a:prstGeom prst="rect">
            <a:avLst/>
          </a:prstGeom>
          <a:noFill/>
        </p:spPr>
        <p:txBody>
          <a:bodyPr wrap="square">
            <a:spAutoFit/>
          </a:bodyPr>
          <a:lstStyle/>
          <a:p>
            <a:pPr marL="0" marR="0" algn="ctr">
              <a:lnSpc>
                <a:spcPct val="107000"/>
              </a:lnSpc>
              <a:spcBef>
                <a:spcPts val="0"/>
              </a:spcBef>
              <a:spcAft>
                <a:spcPts val="800"/>
              </a:spcAft>
            </a:pPr>
            <a:r>
              <a:rPr lang="en-US" sz="3600" b="1" dirty="0">
                <a:effectLst/>
                <a:latin typeface="Algerian" panose="04020705040A02060702" pitchFamily="82" charset="0"/>
                <a:ea typeface="Calibri" panose="020F0502020204030204" pitchFamily="34" charset="0"/>
                <a:cs typeface="Times New Roman" panose="02020603050405020304" pitchFamily="18" charset="0"/>
              </a:rPr>
              <a:t>IV – LINGUISTIC DISTINCTIONS</a:t>
            </a:r>
          </a:p>
          <a:p>
            <a:pPr marL="0" marR="0" algn="just">
              <a:lnSpc>
                <a:spcPct val="107000"/>
              </a:lnSpc>
              <a:spcBef>
                <a:spcPts val="0"/>
              </a:spcBef>
              <a:spcAft>
                <a:spcPts val="800"/>
              </a:spcAft>
            </a:pPr>
            <a:r>
              <a:rPr lang="en-US" sz="3600" b="1" dirty="0">
                <a:effectLst/>
                <a:latin typeface="Times New Roman" panose="02020603050405020304" pitchFamily="18" charset="0"/>
                <a:ea typeface="Calibri" panose="020F0502020204030204" pitchFamily="34" charset="0"/>
                <a:cs typeface="Times New Roman" panose="02020603050405020304" pitchFamily="18" charset="0"/>
              </a:rPr>
              <a:t>Synthetic &amp; Analytic Statements</a:t>
            </a:r>
            <a:endParaRPr lang="en-US" sz="3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600" b="1" dirty="0">
                <a:effectLst/>
                <a:latin typeface="Times New Roman" panose="02020603050405020304" pitchFamily="18" charset="0"/>
                <a:ea typeface="Calibri" panose="020F0502020204030204" pitchFamily="34" charset="0"/>
                <a:cs typeface="Times New Roman" panose="02020603050405020304" pitchFamily="18" charset="0"/>
              </a:rPr>
              <a:t>Synthetic Statements</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 true or false in view of facts in the world.</a:t>
            </a:r>
          </a:p>
          <a:p>
            <a:pPr marL="0" marR="0" algn="just">
              <a:lnSpc>
                <a:spcPct val="107000"/>
              </a:lnSpc>
              <a:spcBef>
                <a:spcPts val="0"/>
              </a:spcBef>
              <a:spcAft>
                <a:spcPts val="800"/>
              </a:spcAft>
            </a:pPr>
            <a:r>
              <a:rPr lang="en-US" sz="3600" b="1" dirty="0">
                <a:effectLst/>
                <a:latin typeface="Times New Roman" panose="02020603050405020304" pitchFamily="18" charset="0"/>
                <a:ea typeface="Calibri" panose="020F0502020204030204" pitchFamily="34" charset="0"/>
                <a:cs typeface="Times New Roman" panose="02020603050405020304" pitchFamily="18" charset="0"/>
              </a:rPr>
              <a:t>Analytic Statements</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 A sentence is analytic if its truth, however trivial, is guaranteed by the collective meanings of the words that occur in it. + Meanings of the words themselves. Searle says: a statement is analytic if and only if it is true in virtue of its meaning or by definition. E.g. rectangles are four-sided.</a:t>
            </a:r>
          </a:p>
        </p:txBody>
      </p:sp>
    </p:spTree>
    <p:extLst>
      <p:ext uri="{BB962C8B-B14F-4D97-AF65-F5344CB8AC3E}">
        <p14:creationId xmlns:p14="http://schemas.microsoft.com/office/powerpoint/2010/main" val="33716993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3E7F228-3771-4321-95B9-8C78890E4070}"/>
              </a:ext>
            </a:extLst>
          </p:cNvPr>
          <p:cNvSpPr txBox="1"/>
          <p:nvPr/>
        </p:nvSpPr>
        <p:spPr>
          <a:xfrm>
            <a:off x="0" y="0"/>
            <a:ext cx="12192000" cy="4894225"/>
          </a:xfrm>
          <a:prstGeom prst="rect">
            <a:avLst/>
          </a:prstGeom>
          <a:noFill/>
        </p:spPr>
        <p:txBody>
          <a:bodyPr wrap="square">
            <a:spAutoFit/>
          </a:bodyPr>
          <a:lstStyle/>
          <a:p>
            <a:pPr marL="0" marR="0" algn="just">
              <a:lnSpc>
                <a:spcPct val="107000"/>
              </a:lnSpc>
              <a:spcBef>
                <a:spcPts val="0"/>
              </a:spcBef>
              <a:spcAft>
                <a:spcPts val="800"/>
              </a:spcAft>
            </a:pPr>
            <a:r>
              <a:rPr lang="en-US" sz="3600" b="1" dirty="0">
                <a:effectLst/>
                <a:latin typeface="Times New Roman" panose="02020603050405020304" pitchFamily="18" charset="0"/>
                <a:ea typeface="Calibri" panose="020F0502020204030204" pitchFamily="34" charset="0"/>
                <a:cs typeface="Times New Roman" panose="02020603050405020304" pitchFamily="18" charset="0"/>
              </a:rPr>
              <a:t>A priori &amp; A posteriori Propositions  </a:t>
            </a:r>
            <a:endParaRPr lang="en-US" sz="3600" dirty="0">
              <a:effectLst/>
              <a:latin typeface="Times New Roman" panose="02020603050405020304" pitchFamily="18" charset="0"/>
              <a:ea typeface="Calibri" panose="020F0502020204030204" pitchFamily="34" charset="0"/>
              <a:cs typeface="Times New Roman" panose="02020603050405020304" pitchFamily="18" charset="0"/>
            </a:endParaRPr>
          </a:p>
          <a:p>
            <a:r>
              <a:rPr lang="en-US" sz="3600" b="1" dirty="0">
                <a:effectLst/>
                <a:latin typeface="Times New Roman" panose="02020603050405020304" pitchFamily="18" charset="0"/>
                <a:ea typeface="Calibri" panose="020F0502020204030204" pitchFamily="34" charset="0"/>
                <a:cs typeface="Times New Roman" panose="02020603050405020304" pitchFamily="18" charset="0"/>
              </a:rPr>
              <a:t>A priori</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b="1" dirty="0">
                <a:effectLst/>
                <a:latin typeface="Times New Roman" panose="02020603050405020304" pitchFamily="18" charset="0"/>
                <a:ea typeface="Calibri" panose="020F0502020204030204" pitchFamily="34" charset="0"/>
                <a:cs typeface="Times New Roman" panose="02020603050405020304" pitchFamily="18" charset="0"/>
              </a:rPr>
              <a:t>Propositions</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 Something known to be true or false prior to experience. Here, a</a:t>
            </a:r>
            <a:r>
              <a:rPr lang="en-US" sz="3600" dirty="0">
                <a:latin typeface="Times New Roman" panose="02020603050405020304" pitchFamily="18" charset="0"/>
                <a:cs typeface="Times New Roman" panose="02020603050405020304" pitchFamily="18" charset="0"/>
              </a:rPr>
              <a:t> truth is a priori if it can be known without recourse to experience</a:t>
            </a:r>
            <a:endParaRPr lang="en-US" sz="3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600" b="1" dirty="0">
                <a:effectLst/>
                <a:latin typeface="Times New Roman" panose="02020603050405020304" pitchFamily="18" charset="0"/>
                <a:ea typeface="Calibri" panose="020F0502020204030204" pitchFamily="34" charset="0"/>
                <a:cs typeface="Times New Roman" panose="02020603050405020304" pitchFamily="18" charset="0"/>
              </a:rPr>
              <a:t>A posteriori</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b="1" dirty="0">
                <a:effectLst/>
                <a:latin typeface="Times New Roman" panose="02020603050405020304" pitchFamily="18" charset="0"/>
                <a:ea typeface="Calibri" panose="020F0502020204030204" pitchFamily="34" charset="0"/>
                <a:cs typeface="Times New Roman" panose="02020603050405020304" pitchFamily="18" charset="0"/>
              </a:rPr>
              <a:t>Propositions</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 Propositions after investigations. Knowledge derived from experience. It is </a:t>
            </a:r>
            <a:r>
              <a:rPr lang="en-US" sz="3600" b="0" i="0" u="none" strike="noStrike" baseline="0" dirty="0">
                <a:latin typeface="Times New Roman" panose="02020603050405020304" pitchFamily="18" charset="0"/>
                <a:cs typeface="Times New Roman" panose="02020603050405020304" pitchFamily="18" charset="0"/>
              </a:rPr>
              <a:t>a posteriori if the truth cannot be known without recourse to experience.</a:t>
            </a:r>
          </a:p>
          <a:p>
            <a:pPr marL="0" marR="0" algn="just">
              <a:lnSpc>
                <a:spcPct val="107000"/>
              </a:lnSpc>
              <a:spcBef>
                <a:spcPts val="0"/>
              </a:spcBef>
              <a:spcAft>
                <a:spcPts val="800"/>
              </a:spcAft>
            </a:pPr>
            <a:r>
              <a:rPr lang="en-US" sz="3600" dirty="0">
                <a:latin typeface="Times New Roman" panose="02020603050405020304" pitchFamily="18" charset="0"/>
                <a:cs typeface="Times New Roman" panose="02020603050405020304" pitchFamily="18" charset="0"/>
              </a:rPr>
              <a:t>+</a:t>
            </a:r>
            <a:r>
              <a:rPr lang="en-US" sz="3600" b="0" i="0" u="none" strike="noStrike" baseline="0" dirty="0">
                <a:latin typeface="Times New Roman" panose="02020603050405020304" pitchFamily="18" charset="0"/>
                <a:cs typeface="Times New Roman" panose="02020603050405020304" pitchFamily="18" charset="0"/>
              </a:rPr>
              <a:t>Note that it’s an epistemic distinction.</a:t>
            </a:r>
            <a:endParaRPr lang="en-US" sz="36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7403974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D9B9F62-FE24-25B9-5BDC-1182E5DEFFEB}"/>
              </a:ext>
            </a:extLst>
          </p:cNvPr>
          <p:cNvSpPr txBox="1"/>
          <p:nvPr/>
        </p:nvSpPr>
        <p:spPr>
          <a:xfrm>
            <a:off x="0" y="0"/>
            <a:ext cx="12192000" cy="4308872"/>
          </a:xfrm>
          <a:prstGeom prst="rect">
            <a:avLst/>
          </a:prstGeom>
          <a:noFill/>
        </p:spPr>
        <p:txBody>
          <a:bodyPr wrap="square">
            <a:spAutoFit/>
          </a:bodyPr>
          <a:lstStyle/>
          <a:p>
            <a:pPr algn="ct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Irony and Metaphor </a:t>
            </a:r>
            <a:r>
              <a:rPr lang="en-US" sz="1100" b="1" i="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1100" b="1" i="1" dirty="0" err="1">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cfr</a:t>
            </a:r>
            <a:r>
              <a:rPr lang="en-US" sz="1100" b="1" i="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100" b="0" i="1" u="none" strike="noStrike" baseline="0" dirty="0">
                <a:solidFill>
                  <a:srgbClr val="7030A0"/>
                </a:solidFill>
                <a:latin typeface="Times New Roman" panose="02020603050405020304" pitchFamily="18" charset="0"/>
                <a:cs typeface="Times New Roman" panose="02020603050405020304" pitchFamily="18" charset="0"/>
              </a:rPr>
              <a:t>EXPRESSION AND MEANING: Studies in the Theory of Speech Acts – J. R. Searle]</a:t>
            </a:r>
            <a:endParaRPr lang="en-US" sz="1100" i="1" dirty="0">
              <a:solidFill>
                <a:srgbClr val="7030A0"/>
              </a:solidFill>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T</a:t>
            </a:r>
            <a:r>
              <a:rPr lang="en-US" sz="3200" b="0" i="0" u="none" strike="noStrike" baseline="0" dirty="0">
                <a:latin typeface="Times New Roman" panose="02020603050405020304" pitchFamily="18" charset="0"/>
                <a:cs typeface="Times New Roman" panose="02020603050405020304" pitchFamily="18" charset="0"/>
              </a:rPr>
              <a:t>he problem of metaphor concerns the relations between word and sentence meaning, on the one hand, and speaker’s meaning or utterance meaning, on the other. Many writers on the subject try to locate the metaphorical element of a metaphorical utterance in the sentence or expressions uttered. They think there are two kinds of sentence meaning, literal and metaphorical. However, sentences and words have only the meanings that they have. </a:t>
            </a:r>
          </a:p>
          <a:p>
            <a:pPr algn="l"/>
            <a:r>
              <a:rPr lang="en-US" sz="1800" b="0" i="0" u="none" strike="noStrike" baseline="0" dirty="0">
                <a:latin typeface="Times New Roman" panose="02020603050405020304" pitchFamily="18" charset="0"/>
              </a:rPr>
              <a:t>+ In metaphor we interpret an utterance as meaning something different from what the words would mean, taken literally.</a:t>
            </a:r>
            <a:endParaRPr lang="en-US" sz="32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78198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99817BC-7A88-CDE1-EAAE-BCE84589467D}"/>
              </a:ext>
            </a:extLst>
          </p:cNvPr>
          <p:cNvSpPr txBox="1"/>
          <p:nvPr/>
        </p:nvSpPr>
        <p:spPr>
          <a:xfrm>
            <a:off x="0" y="0"/>
            <a:ext cx="12192000" cy="4524315"/>
          </a:xfrm>
          <a:prstGeom prst="rect">
            <a:avLst/>
          </a:prstGeom>
          <a:noFill/>
        </p:spPr>
        <p:txBody>
          <a:bodyPr wrap="square">
            <a:spAutoFit/>
          </a:bodyPr>
          <a:lstStyle/>
          <a:p>
            <a:pPr algn="just"/>
            <a:r>
              <a:rPr lang="en-US" sz="3200" b="0" i="0" u="none" strike="noStrike" baseline="0" dirty="0">
                <a:latin typeface="Times New Roman" panose="02020603050405020304" pitchFamily="18" charset="0"/>
                <a:cs typeface="Times New Roman" panose="02020603050405020304" pitchFamily="18" charset="0"/>
              </a:rPr>
              <a:t>Strictly speaking, whenever we talk about the metaphorical meaning of a word, expression, or sentence, we are talking about what a speaker might utter it to mean, in a way that departs from what the word, expression, or sentence actually means. We are, therefore, talking about possible speaker's intentions.</a:t>
            </a:r>
            <a:r>
              <a:rPr lang="en-US" sz="3200" b="0" i="1" u="none" strike="noStrike" baseline="0" dirty="0">
                <a:latin typeface="Times New Roman" panose="02020603050405020304" pitchFamily="18" charset="0"/>
                <a:cs typeface="Times New Roman" panose="02020603050405020304" pitchFamily="18" charset="0"/>
              </a:rPr>
              <a:t> </a:t>
            </a:r>
            <a:r>
              <a:rPr lang="en-US" sz="3200" b="0" i="0" u="none" strike="noStrike" baseline="0" dirty="0">
                <a:latin typeface="Times New Roman" panose="02020603050405020304" pitchFamily="18" charset="0"/>
                <a:cs typeface="Times New Roman" panose="02020603050405020304" pitchFamily="18" charset="0"/>
              </a:rPr>
              <a:t>Metaphorical meaning is always speaker's utterance meaning. In metaphorical utterances what the speaker means differs from what he says </a:t>
            </a:r>
          </a:p>
          <a:p>
            <a:pPr algn="just"/>
            <a:r>
              <a:rPr lang="en-US" sz="3200" b="0" i="0" u="none" strike="noStrike" baseline="0" dirty="0">
                <a:latin typeface="Times New Roman" panose="02020603050405020304" pitchFamily="18" charset="0"/>
              </a:rPr>
              <a:t>+ Searle explains metaphorical meaning as speaker-meaning. </a:t>
            </a:r>
          </a:p>
          <a:p>
            <a:pPr algn="just"/>
            <a:r>
              <a:rPr lang="en-US" sz="3200" b="0" i="0" u="none" strike="noStrike" baseline="0" dirty="0">
                <a:latin typeface="Times New Roman" panose="02020603050405020304" pitchFamily="18" charset="0"/>
              </a:rPr>
              <a:t>+ language is metaphorical</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4131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C8D3FB1-8922-3420-E888-EE199FEE6D81}"/>
              </a:ext>
            </a:extLst>
          </p:cNvPr>
          <p:cNvSpPr txBox="1"/>
          <p:nvPr/>
        </p:nvSpPr>
        <p:spPr>
          <a:xfrm>
            <a:off x="0" y="0"/>
            <a:ext cx="12192000" cy="5509200"/>
          </a:xfrm>
          <a:prstGeom prst="rect">
            <a:avLst/>
          </a:prstGeom>
          <a:noFill/>
        </p:spPr>
        <p:txBody>
          <a:bodyPr wrap="square">
            <a:spAutoFit/>
          </a:bodyPr>
          <a:lstStyle/>
          <a:p>
            <a:pPr algn="just"/>
            <a:r>
              <a:rPr lang="en-US" sz="3200" b="0" i="0" u="none" strike="noStrike" baseline="0" dirty="0">
                <a:latin typeface="Times New Roman" panose="02020603050405020304" pitchFamily="18" charset="0"/>
                <a:cs typeface="Times New Roman" panose="02020603050405020304" pitchFamily="18" charset="0"/>
              </a:rPr>
              <a:t>Consider a case of </a:t>
            </a:r>
            <a:r>
              <a:rPr lang="en-US" sz="3200" b="1" i="0" u="none" strike="noStrike" baseline="0" dirty="0">
                <a:latin typeface="Times New Roman" panose="02020603050405020304" pitchFamily="18" charset="0"/>
                <a:cs typeface="Times New Roman" panose="02020603050405020304" pitchFamily="18" charset="0"/>
              </a:rPr>
              <a:t>irony:</a:t>
            </a:r>
            <a:r>
              <a:rPr lang="en-US" sz="3200" b="0" i="0" u="none" strike="noStrike" baseline="0" dirty="0">
                <a:latin typeface="Times New Roman" panose="02020603050405020304" pitchFamily="18" charset="0"/>
                <a:cs typeface="Times New Roman" panose="02020603050405020304" pitchFamily="18" charset="0"/>
              </a:rPr>
              <a:t> Suppose you have just broken an expensive chalice, and I say ironically, "That was a brilliant thing to do." Here, as in metaphor, the speaker's meaning and sentence meaning are different. What are the principles by which the hearer is able to infer that the speaker meant, "That was a stupid thing to do", when what he heard was the sentence, "That was a brilliant thing to do"? Stated very crudely, the mechanism by which irony works is that the utterance, if taken literally, is obviously inappropriate to the situation. Since it is grossly inappropriate, the hearer is compelled to reinterpret it in such a way as to render it appropriate, and the most natural way to interpret it is as meaning the </a:t>
            </a:r>
            <a:r>
              <a:rPr lang="en-US" sz="3200" b="0" i="1" u="none" strike="noStrike" baseline="0" dirty="0">
                <a:latin typeface="Times New Roman" panose="02020603050405020304" pitchFamily="18" charset="0"/>
                <a:cs typeface="Times New Roman" panose="02020603050405020304" pitchFamily="18" charset="0"/>
              </a:rPr>
              <a:t>opposite </a:t>
            </a:r>
            <a:r>
              <a:rPr lang="en-US" sz="3200" b="0" i="0" u="none" strike="noStrike" baseline="0" dirty="0">
                <a:latin typeface="Times New Roman" panose="02020603050405020304" pitchFamily="18" charset="0"/>
                <a:cs typeface="Times New Roman" panose="02020603050405020304" pitchFamily="18" charset="0"/>
              </a:rPr>
              <a:t>of its literal form.</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80107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A3B7709-44C9-4BB2-BDFA-5D38C246B4FD}"/>
              </a:ext>
            </a:extLst>
          </p:cNvPr>
          <p:cNvSpPr txBox="1"/>
          <p:nvPr/>
        </p:nvSpPr>
        <p:spPr>
          <a:xfrm>
            <a:off x="0" y="0"/>
            <a:ext cx="12192000" cy="5613332"/>
          </a:xfrm>
          <a:prstGeom prst="rect">
            <a:avLst/>
          </a:prstGeom>
          <a:noFill/>
        </p:spPr>
        <p:txBody>
          <a:bodyPr wrap="square">
            <a:spAutoFit/>
          </a:bodyPr>
          <a:lstStyle/>
          <a:p>
            <a:pPr marL="0" marR="0" algn="ctr">
              <a:lnSpc>
                <a:spcPct val="107000"/>
              </a:lnSpc>
              <a:spcBef>
                <a:spcPts val="0"/>
              </a:spcBef>
              <a:spcAft>
                <a:spcPts val="800"/>
              </a:spcAft>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Use and Mention</a:t>
            </a:r>
          </a:p>
          <a:p>
            <a:pPr marL="0" marR="0" algn="just">
              <a:lnSpc>
                <a:spcPct val="107000"/>
              </a:lnSpc>
              <a:spcBef>
                <a:spcPts val="0"/>
              </a:spcBef>
              <a:spcAft>
                <a:spcPts val="800"/>
              </a:spcAf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"Use" theories have it that "meanings" are not abstract objects like propositions; a linguistic expression's meaning is determined by the expression's characteristic function in human social behavior.</a:t>
            </a:r>
          </a:p>
          <a:p>
            <a:pPr marL="0" marR="0" algn="just">
              <a:lnSpc>
                <a:spcPct val="107000"/>
              </a:lnSpc>
              <a:spcBef>
                <a:spcPts val="0"/>
              </a:spcBef>
              <a:spcAft>
                <a:spcPts val="8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 Not every occurrence of a referring expression in discourse is a referring occurrence. Sometimes expressions, whether referring expressions or otherwise, occur in discourse without having their normal use but are themselves talked about in the discourse.</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Use</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 </a:t>
            </a: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Jinja</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is in Uganda. Refers to expressions with proper names or definite descriptions. Actual reference to a word, or to other objects. We have th</a:t>
            </a:r>
            <a:r>
              <a:rPr lang="en-US" sz="2400" dirty="0">
                <a:latin typeface="Times New Roman" panose="02020603050405020304" pitchFamily="18" charset="0"/>
                <a:ea typeface="Calibri" panose="020F0502020204030204" pitchFamily="34" charset="0"/>
                <a:cs typeface="Times New Roman" panose="02020603050405020304" pitchFamily="18" charset="0"/>
              </a:rPr>
              <a:t>e institution of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proper names to talk in words about things which are not themselves words and which need not be present when they are being talked about. A word is conventionally in refence to proper name or definite description.</a:t>
            </a:r>
          </a:p>
          <a:p>
            <a:pPr marL="0" marR="0" algn="just">
              <a:lnSpc>
                <a:spcPct val="107000"/>
              </a:lnSpc>
              <a:spcBef>
                <a:spcPts val="0"/>
              </a:spcBef>
              <a:spcAft>
                <a:spcPts val="800"/>
              </a:spcAf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Mention</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 “</a:t>
            </a: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Jinja</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has 5 letters. A word is here uttered but not in its normal use. A word itself is presented and then talked about.</a:t>
            </a:r>
          </a:p>
        </p:txBody>
      </p:sp>
    </p:spTree>
    <p:extLst>
      <p:ext uri="{BB962C8B-B14F-4D97-AF65-F5344CB8AC3E}">
        <p14:creationId xmlns:p14="http://schemas.microsoft.com/office/powerpoint/2010/main" val="19298429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FEB7E6E-EDB4-46F3-9BAD-7F85DF10C2C6}"/>
              </a:ext>
            </a:extLst>
          </p:cNvPr>
          <p:cNvSpPr txBox="1"/>
          <p:nvPr/>
        </p:nvSpPr>
        <p:spPr>
          <a:xfrm>
            <a:off x="0" y="0"/>
            <a:ext cx="12192000" cy="5386090"/>
          </a:xfrm>
          <a:prstGeom prst="rect">
            <a:avLst/>
          </a:prstGeom>
          <a:noFill/>
        </p:spPr>
        <p:txBody>
          <a:bodyPr wrap="square">
            <a:spAutoFit/>
          </a:bodyPr>
          <a:lstStyle/>
          <a:p>
            <a:pPr algn="ctr"/>
            <a:r>
              <a:rPr lang="en-US" sz="3600" b="1" dirty="0">
                <a:solidFill>
                  <a:srgbClr val="7030A0"/>
                </a:solidFill>
                <a:latin typeface="Times New Roman" panose="02020603050405020304" pitchFamily="18" charset="0"/>
                <a:ea typeface="Calibri" panose="020F0502020204030204" pitchFamily="34" charset="0"/>
                <a:cs typeface="Times New Roman" panose="02020603050405020304" pitchFamily="18" charset="0"/>
              </a:rPr>
              <a:t>5</a:t>
            </a:r>
            <a:r>
              <a:rPr lang="en-US"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 Speech Acts</a:t>
            </a:r>
          </a:p>
          <a:p>
            <a:pPr algn="just"/>
            <a:r>
              <a:rPr lang="en-US" sz="4400" dirty="0">
                <a:latin typeface="Times New Roman" panose="02020603050405020304" pitchFamily="18" charset="0"/>
                <a:ea typeface="Calibri" panose="020F0502020204030204" pitchFamily="34" charset="0"/>
                <a:cs typeface="Times New Roman" panose="02020603050405020304" pitchFamily="18" charset="0"/>
              </a:rPr>
              <a:t>We need to pay critical attention to the study of speech acts, for all linguistic communication involves linguistic acts. The unit of linguistic communication is the production or issuance of the symbol, word, or sentence in the performance of the speech act. Speech acts are the basic or minimal units of linguistic communication.</a:t>
            </a:r>
          </a:p>
        </p:txBody>
      </p:sp>
    </p:spTree>
    <p:extLst>
      <p:ext uri="{BB962C8B-B14F-4D97-AF65-F5344CB8AC3E}">
        <p14:creationId xmlns:p14="http://schemas.microsoft.com/office/powerpoint/2010/main" val="41590307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4C568EB-053C-EA77-4FA7-01DF873E6670}"/>
              </a:ext>
            </a:extLst>
          </p:cNvPr>
          <p:cNvSpPr txBox="1"/>
          <p:nvPr/>
        </p:nvSpPr>
        <p:spPr>
          <a:xfrm>
            <a:off x="0" y="0"/>
            <a:ext cx="12192000" cy="5337680"/>
          </a:xfrm>
          <a:prstGeom prst="rect">
            <a:avLst/>
          </a:prstGeom>
          <a:noFill/>
        </p:spPr>
        <p:txBody>
          <a:bodyPr wrap="square">
            <a:spAutoFit/>
          </a:bodyPr>
          <a:lstStyle/>
          <a:p>
            <a:pPr marL="0" marR="0" algn="just">
              <a:lnSpc>
                <a:spcPct val="107000"/>
              </a:lnSpc>
              <a:spcBef>
                <a:spcPts val="0"/>
              </a:spcBef>
              <a:spcAft>
                <a:spcPts val="800"/>
              </a:spcAft>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The question we need to investigate here is: How does language work? How do we get from the physics to the semantics? Two philosophers capture our attention here: J. L. Austin and J. R. Searle. But we shall focus on J.R. Searle.</a:t>
            </a:r>
          </a:p>
          <a:p>
            <a:pPr marL="0" marR="0" algn="just">
              <a:lnSpc>
                <a:spcPct val="107000"/>
              </a:lnSpc>
              <a:spcBef>
                <a:spcPts val="0"/>
              </a:spcBef>
              <a:spcAft>
                <a:spcPts val="800"/>
              </a:spcAft>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We need to distinguish two aspects in speech acts: Performatives and Constatives. </a:t>
            </a:r>
          </a:p>
          <a:p>
            <a:pPr marL="0" marR="0" algn="just">
              <a:lnSpc>
                <a:spcPct val="107000"/>
              </a:lnSpc>
              <a:spcBef>
                <a:spcPts val="0"/>
              </a:spcBef>
              <a:spcAft>
                <a:spcPts val="800"/>
              </a:spcAft>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Performative acts - A performative utterance or use is one in which something is done (an act is performed). The name - performative, is derived, of course, from 'perform', the usual verb with the noun 'action': it indicates that the issuing of the utterance is the performing of an action - it is not normally thought of as just saying something. Each type of speech act is governed by rules of two sorts: constitutive and (merely) regulative. Thus, in performative acts – words perform acts; when people talk – they are doing something, some action. Every action, changes reality.  </a:t>
            </a:r>
          </a:p>
        </p:txBody>
      </p:sp>
    </p:spTree>
    <p:extLst>
      <p:ext uri="{BB962C8B-B14F-4D97-AF65-F5344CB8AC3E}">
        <p14:creationId xmlns:p14="http://schemas.microsoft.com/office/powerpoint/2010/main" val="38959722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35584D-5E7B-6106-D893-C94C5DC7F9B0}"/>
              </a:ext>
            </a:extLst>
          </p:cNvPr>
          <p:cNvSpPr txBox="1"/>
          <p:nvPr/>
        </p:nvSpPr>
        <p:spPr>
          <a:xfrm>
            <a:off x="0" y="0"/>
            <a:ext cx="12192000" cy="3777509"/>
          </a:xfrm>
          <a:prstGeom prst="rect">
            <a:avLst/>
          </a:prstGeom>
          <a:noFill/>
        </p:spPr>
        <p:txBody>
          <a:bodyPr wrap="square">
            <a:spAutoFit/>
          </a:bodyPr>
          <a:lstStyle/>
          <a:p>
            <a:pPr marL="0" marR="0" algn="just">
              <a:lnSpc>
                <a:spcPct val="107000"/>
              </a:lnSpc>
              <a:spcBef>
                <a:spcPts val="0"/>
              </a:spcBef>
              <a:spcAft>
                <a:spcPts val="800"/>
              </a:spcAft>
            </a:pP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In uttering a performative act - performing a social act - </a:t>
            </a:r>
            <a:r>
              <a:rPr lang="en-US" sz="2000" i="1" dirty="0">
                <a:effectLst/>
                <a:latin typeface="Times New Roman" panose="02020603050405020304" pitchFamily="18" charset="0"/>
                <a:ea typeface="Calibri" panose="020F0502020204030204" pitchFamily="34" charset="0"/>
                <a:cs typeface="Times New Roman" panose="02020603050405020304" pitchFamily="18" charset="0"/>
              </a:rPr>
              <a:t>Austin called such social actions "speech acts," and so gave birth to the branch of linguistics and philosophy of language that ever since has been called "speech-act theory". </a:t>
            </a:r>
          </a:p>
          <a:p>
            <a:pPr marL="0" marR="0" algn="just">
              <a:lnSpc>
                <a:spcPct val="107000"/>
              </a:lnSpc>
              <a:spcBef>
                <a:spcPts val="0"/>
              </a:spcBef>
              <a:spcAft>
                <a:spcPts val="800"/>
              </a:spcAft>
            </a:pP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Constative - constatives being just the usual sorts of descriptive, fact-stating, true-or-false sentences that philosophers like.</a:t>
            </a:r>
            <a:r>
              <a:rPr lang="en-US" sz="3600" kern="1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A use or utterance whose business is to state something (to make a statement)</a:t>
            </a:r>
          </a:p>
        </p:txBody>
      </p:sp>
    </p:spTree>
    <p:extLst>
      <p:ext uri="{BB962C8B-B14F-4D97-AF65-F5344CB8AC3E}">
        <p14:creationId xmlns:p14="http://schemas.microsoft.com/office/powerpoint/2010/main" val="13918014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B68F1D4-9B68-DB1B-07F7-CB38E29A5C39}"/>
              </a:ext>
            </a:extLst>
          </p:cNvPr>
          <p:cNvSpPr txBox="1"/>
          <p:nvPr/>
        </p:nvSpPr>
        <p:spPr>
          <a:xfrm>
            <a:off x="0" y="0"/>
            <a:ext cx="12192000" cy="6186309"/>
          </a:xfrm>
          <a:prstGeom prst="rect">
            <a:avLst/>
          </a:prstGeom>
          <a:noFill/>
        </p:spPr>
        <p:txBody>
          <a:bodyPr wrap="square">
            <a:spAutoFit/>
          </a:bodyPr>
          <a:lstStyle/>
          <a:p>
            <a:pPr algn="just"/>
            <a:r>
              <a:rPr lang="en-US" sz="3600" dirty="0">
                <a:effectLst/>
                <a:latin typeface="Times New Roman" panose="02020603050405020304" pitchFamily="18" charset="0"/>
                <a:ea typeface="Calibri" panose="020F0502020204030204" pitchFamily="34" charset="0"/>
              </a:rPr>
              <a:t>The uttering of the words is, indeed, usually a, or even </a:t>
            </a:r>
            <a:r>
              <a:rPr lang="en-US" sz="3600" i="1" dirty="0">
                <a:effectLst/>
                <a:latin typeface="Times New Roman" panose="02020603050405020304" pitchFamily="18" charset="0"/>
                <a:ea typeface="Calibri" panose="020F0502020204030204" pitchFamily="34" charset="0"/>
              </a:rPr>
              <a:t>the</a:t>
            </a:r>
            <a:r>
              <a:rPr lang="en-US" sz="3600" dirty="0">
                <a:effectLst/>
                <a:latin typeface="Times New Roman" panose="02020603050405020304" pitchFamily="18" charset="0"/>
                <a:ea typeface="Calibri" panose="020F0502020204030204" pitchFamily="34" charset="0"/>
              </a:rPr>
              <a:t> leading incident in the performance of the act, the performance of which is also the object of the utterance, but it is far from being usually, even if it is ever, the sole thing necessary if the act is to be deemed to have been performed. Speaking generally, it is always necessary that the circumstances in which the words are uttered should be in some way, or ways, appropriate, and it is very commonly necessary that either the speaker himself or other persons should also perform certain other actions, whether 'physical' or 'mental' actions or even acts of uttering further words. </a:t>
            </a:r>
            <a:endParaRPr lang="en-US" sz="3600" dirty="0"/>
          </a:p>
        </p:txBody>
      </p:sp>
    </p:spTree>
    <p:extLst>
      <p:ext uri="{BB962C8B-B14F-4D97-AF65-F5344CB8AC3E}">
        <p14:creationId xmlns:p14="http://schemas.microsoft.com/office/powerpoint/2010/main" val="25487286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A6ADF86-35CB-5756-FE50-68591EF0C980}"/>
              </a:ext>
            </a:extLst>
          </p:cNvPr>
          <p:cNvSpPr txBox="1"/>
          <p:nvPr/>
        </p:nvSpPr>
        <p:spPr>
          <a:xfrm>
            <a:off x="0" y="0"/>
            <a:ext cx="12192000" cy="4524315"/>
          </a:xfrm>
          <a:prstGeom prst="rect">
            <a:avLst/>
          </a:prstGeom>
          <a:noFill/>
        </p:spPr>
        <p:txBody>
          <a:bodyPr wrap="square">
            <a:spAutoFit/>
          </a:bodyPr>
          <a:lstStyle/>
          <a:p>
            <a:pPr algn="just"/>
            <a:r>
              <a:rPr lang="en-US" sz="3600" dirty="0">
                <a:effectLst/>
                <a:latin typeface="Times New Roman" panose="02020603050405020304" pitchFamily="18" charset="0"/>
                <a:ea typeface="Calibri" panose="020F0502020204030204" pitchFamily="34" charset="0"/>
              </a:rPr>
              <a:t>There must exist an accepted conventional procedure having a certain conventional effect, the procedure to include the uttering of certain words by certain persons in certain circumstances. For instance, the utterance 'I do' (take this woman to be my lawful wedded wife), as uttered in the course of a marriage ceremony. Here we should say that in saying-these words we are doing something- namely, marrying, rather than reporting something, namely that we are marrying. </a:t>
            </a:r>
            <a:endParaRPr lang="en-US" sz="3600" dirty="0"/>
          </a:p>
        </p:txBody>
      </p:sp>
    </p:spTree>
    <p:extLst>
      <p:ext uri="{BB962C8B-B14F-4D97-AF65-F5344CB8AC3E}">
        <p14:creationId xmlns:p14="http://schemas.microsoft.com/office/powerpoint/2010/main" val="367093977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E32104A-130A-17C8-A394-E2AFC3260863}"/>
              </a:ext>
            </a:extLst>
          </p:cNvPr>
          <p:cNvSpPr txBox="1"/>
          <p:nvPr/>
        </p:nvSpPr>
        <p:spPr>
          <a:xfrm>
            <a:off x="0" y="0"/>
            <a:ext cx="12192000" cy="3423630"/>
          </a:xfrm>
          <a:prstGeom prst="rect">
            <a:avLst/>
          </a:prstGeom>
          <a:noFill/>
        </p:spPr>
        <p:txBody>
          <a:bodyPr wrap="square">
            <a:spAutoFit/>
          </a:bodyPr>
          <a:lstStyle/>
          <a:p>
            <a:pPr marL="0" marR="0" algn="just">
              <a:lnSpc>
                <a:spcPct val="107000"/>
              </a:lnSpc>
              <a:spcBef>
                <a:spcPts val="0"/>
              </a:spcBef>
              <a:spcAft>
                <a:spcPts val="800"/>
              </a:spcAf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Though performative utterance is not ever true or false, it still is subject to criticism - it could be unhappy (</a:t>
            </a:r>
            <a:r>
              <a:rPr lang="en-US" sz="3200" i="1" dirty="0">
                <a:effectLst/>
                <a:latin typeface="Times New Roman" panose="02020603050405020304" pitchFamily="18" charset="0"/>
                <a:ea typeface="Calibri" panose="020F0502020204030204" pitchFamily="34" charset="0"/>
                <a:cs typeface="Times New Roman" panose="02020603050405020304" pitchFamily="18" charset="0"/>
              </a:rPr>
              <a:t>infelicity</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 act can be defective.</a:t>
            </a:r>
          </a:p>
          <a:p>
            <a:pPr marL="0" marR="0" algn="just">
              <a:lnSpc>
                <a:spcPct val="107000"/>
              </a:lnSpc>
              <a:spcBef>
                <a:spcPts val="0"/>
              </a:spcBef>
              <a:spcAft>
                <a:spcPts val="800"/>
              </a:spcAf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+some conditions to follow for performatives to be successful:</a:t>
            </a:r>
          </a:p>
          <a:p>
            <a:pPr marL="0" marR="0" algn="just">
              <a:lnSpc>
                <a:spcPct val="107000"/>
              </a:lnSpc>
              <a:spcBef>
                <a:spcPts val="0"/>
              </a:spcBef>
              <a:spcAft>
                <a:spcPts val="800"/>
              </a:spcAf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1- There must exist an accepted conventional procedure having a certain conventional effect, that procedure to include the uttering of certain words by certain persons in certain circumstances.</a:t>
            </a:r>
          </a:p>
        </p:txBody>
      </p:sp>
    </p:spTree>
    <p:extLst>
      <p:ext uri="{BB962C8B-B14F-4D97-AF65-F5344CB8AC3E}">
        <p14:creationId xmlns:p14="http://schemas.microsoft.com/office/powerpoint/2010/main" val="188855528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04C377D-E3C6-7BBB-0FBC-C4B93D42364D}"/>
              </a:ext>
            </a:extLst>
          </p:cNvPr>
          <p:cNvSpPr txBox="1"/>
          <p:nvPr/>
        </p:nvSpPr>
        <p:spPr>
          <a:xfrm>
            <a:off x="0" y="0"/>
            <a:ext cx="12192000" cy="6106480"/>
          </a:xfrm>
          <a:prstGeom prst="rect">
            <a:avLst/>
          </a:prstGeom>
          <a:noFill/>
        </p:spPr>
        <p:txBody>
          <a:bodyPr wrap="square">
            <a:spAutoFit/>
          </a:bodyPr>
          <a:lstStyle/>
          <a:p>
            <a:pPr marL="0" marR="0" algn="just">
              <a:lnSpc>
                <a:spcPct val="107000"/>
              </a:lnSpc>
              <a:spcBef>
                <a:spcPts val="0"/>
              </a:spcBef>
              <a:spcAft>
                <a:spcPts val="8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2 - T</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he particular persons and circumstances in a given case must be appropriate for the invocation of the particular procedure invoked.</a:t>
            </a:r>
          </a:p>
          <a:p>
            <a:pPr marL="0" marR="0" algn="just">
              <a:lnSpc>
                <a:spcPct val="107000"/>
              </a:lnSpc>
              <a:spcBef>
                <a:spcPts val="0"/>
              </a:spcBef>
              <a:spcAft>
                <a:spcPts val="8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3 - </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The procedure must be executed by all participants both correctly and, </a:t>
            </a:r>
          </a:p>
          <a:p>
            <a:pPr marL="0" marR="0" algn="just">
              <a:lnSpc>
                <a:spcPct val="107000"/>
              </a:lnSpc>
              <a:spcBef>
                <a:spcPts val="0"/>
              </a:spcBef>
              <a:spcAft>
                <a:spcPts val="8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4 - C</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ompletely.</a:t>
            </a:r>
          </a:p>
          <a:p>
            <a:pPr marL="0" marR="0" algn="just">
              <a:lnSpc>
                <a:spcPct val="107000"/>
              </a:lnSpc>
              <a:spcBef>
                <a:spcPts val="0"/>
              </a:spcBef>
              <a:spcAft>
                <a:spcPts val="8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5 - </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Where, as often, the procedure is designed for use by persons having certain thoughts or feelings, or for the inauguration of certain consequential conduct on the part of any participant, then a person participating in and so invoking the procedure must in fact have those thoughts or feelings, and the participants must intend so to conduct themselves, and further</a:t>
            </a:r>
          </a:p>
          <a:p>
            <a:pPr marL="0" marR="0" algn="just">
              <a:lnSpc>
                <a:spcPct val="107000"/>
              </a:lnSpc>
              <a:spcBef>
                <a:spcPts val="0"/>
              </a:spcBef>
              <a:spcAft>
                <a:spcPts val="8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6 - M</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ust actually so conduct themselves subsequently.</a:t>
            </a:r>
          </a:p>
          <a:p>
            <a:pPr marL="0" marR="0" algn="just">
              <a:lnSpc>
                <a:spcPct val="107000"/>
              </a:lnSpc>
              <a:spcBef>
                <a:spcPts val="0"/>
              </a:spcBef>
              <a:spcAft>
                <a:spcPts val="800"/>
              </a:spcAft>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Now if we sin against anyone (or more) of these six conditions, our performative utterance will be (in one way or another) unhappy or defective. </a:t>
            </a:r>
          </a:p>
        </p:txBody>
      </p:sp>
    </p:spTree>
    <p:extLst>
      <p:ext uri="{BB962C8B-B14F-4D97-AF65-F5344CB8AC3E}">
        <p14:creationId xmlns:p14="http://schemas.microsoft.com/office/powerpoint/2010/main" val="8320621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FBD7FC3-8C7C-6F48-3225-793A3B5A4A5C}"/>
              </a:ext>
            </a:extLst>
          </p:cNvPr>
          <p:cNvSpPr txBox="1"/>
          <p:nvPr/>
        </p:nvSpPr>
        <p:spPr>
          <a:xfrm>
            <a:off x="0" y="0"/>
            <a:ext cx="12192000" cy="4897238"/>
          </a:xfrm>
          <a:prstGeom prst="rect">
            <a:avLst/>
          </a:prstGeom>
          <a:noFill/>
        </p:spPr>
        <p:txBody>
          <a:bodyPr wrap="square">
            <a:spAutoFit/>
          </a:bodyPr>
          <a:lstStyle/>
          <a:p>
            <a:pPr marL="0" marR="0" algn="just">
              <a:lnSpc>
                <a:spcPct val="107000"/>
              </a:lnSpc>
              <a:spcBef>
                <a:spcPts val="0"/>
              </a:spcBef>
              <a:spcAft>
                <a:spcPts val="800"/>
              </a:spcAft>
            </a:pPr>
            <a:r>
              <a:rPr lang="en-US"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Speech Act Theory: From Aristotle to </a:t>
            </a:r>
            <a:r>
              <a:rPr lang="en-US" sz="3600" b="1" dirty="0" err="1">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Reinach</a:t>
            </a:r>
            <a:endParaRPr lang="en-US" sz="3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Already Aristotle had noted that there are uses of language, for example prayers, which are not of the statement-making sort. Unfortunately, he confined the study of such uses of language to the peripheral realms of rhetoric and poetry, and this had fateful consequences for subsequent attempts to develop a general theory of uses of language along the lines with which, as a result of the work of Austin and Searle, we are now familiar.</a:t>
            </a:r>
          </a:p>
        </p:txBody>
      </p:sp>
    </p:spTree>
    <p:extLst>
      <p:ext uri="{BB962C8B-B14F-4D97-AF65-F5344CB8AC3E}">
        <p14:creationId xmlns:p14="http://schemas.microsoft.com/office/powerpoint/2010/main" val="39540735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846C40D-2A84-500F-DE0B-38F9DBB329C0}"/>
              </a:ext>
            </a:extLst>
          </p:cNvPr>
          <p:cNvSpPr txBox="1"/>
          <p:nvPr/>
        </p:nvSpPr>
        <p:spPr>
          <a:xfrm>
            <a:off x="0" y="0"/>
            <a:ext cx="12192000" cy="5632311"/>
          </a:xfrm>
          <a:prstGeom prst="rect">
            <a:avLst/>
          </a:prstGeom>
          <a:noFill/>
        </p:spPr>
        <p:txBody>
          <a:bodyPr wrap="square">
            <a:spAutoFit/>
          </a:bodyPr>
          <a:lstStyle/>
          <a:p>
            <a:pPr algn="just"/>
            <a:r>
              <a:rPr lang="en-US" sz="3600" dirty="0">
                <a:effectLst/>
                <a:latin typeface="Times New Roman" panose="02020603050405020304" pitchFamily="18" charset="0"/>
                <a:ea typeface="Calibri" panose="020F0502020204030204" pitchFamily="34" charset="0"/>
              </a:rPr>
              <a:t>Two philosophers can, however, be credited with having made early efforts to advance a theory of the needed sort. The first, significantly, is Thomas Reid, who recognized that the principles of the art of language are to be found in a just analysis of the various species of sentences. Aristotle and the logicians have analyzed one species – </a:t>
            </a:r>
            <a:r>
              <a:rPr lang="en-US" sz="1200" i="1" dirty="0">
                <a:solidFill>
                  <a:srgbClr val="FF0000"/>
                </a:solidFill>
                <a:effectLst/>
                <a:latin typeface="Times New Roman" panose="02020603050405020304" pitchFamily="18" charset="0"/>
                <a:ea typeface="Calibri" panose="020F0502020204030204" pitchFamily="34" charset="0"/>
              </a:rPr>
              <a:t>to wit</a:t>
            </a:r>
            <a:r>
              <a:rPr lang="en-US" sz="3600" dirty="0">
                <a:effectLst/>
                <a:latin typeface="Times New Roman" panose="02020603050405020304" pitchFamily="18" charset="0"/>
                <a:ea typeface="Calibri" panose="020F0502020204030204" pitchFamily="34" charset="0"/>
              </a:rPr>
              <a:t>, the </a:t>
            </a:r>
            <a:r>
              <a:rPr lang="en-US" sz="3600" i="1" dirty="0">
                <a:effectLst/>
                <a:latin typeface="Times New Roman" panose="02020603050405020304" pitchFamily="18" charset="0"/>
                <a:ea typeface="Calibri" panose="020F0502020204030204" pitchFamily="34" charset="0"/>
              </a:rPr>
              <a:t>proposition</a:t>
            </a:r>
            <a:r>
              <a:rPr lang="en-US" sz="3600" dirty="0">
                <a:effectLst/>
                <a:latin typeface="Times New Roman" panose="02020603050405020304" pitchFamily="18" charset="0"/>
                <a:ea typeface="Calibri" panose="020F0502020204030204" pitchFamily="34" charset="0"/>
              </a:rPr>
              <a:t>. To enumerate and analyze the other species must, I think, be the foundation of a just theory of language. Reid’s technical term for such uses of language as </a:t>
            </a:r>
            <a:r>
              <a:rPr lang="en-US" sz="3600" dirty="0" err="1">
                <a:effectLst/>
                <a:latin typeface="Times New Roman" panose="02020603050405020304" pitchFamily="18" charset="0"/>
                <a:ea typeface="Calibri" panose="020F0502020204030204" pitchFamily="34" charset="0"/>
              </a:rPr>
              <a:t>promisings</a:t>
            </a:r>
            <a:r>
              <a:rPr lang="en-US" sz="3600" dirty="0">
                <a:effectLst/>
                <a:latin typeface="Times New Roman" panose="02020603050405020304" pitchFamily="18" charset="0"/>
                <a:ea typeface="Calibri" panose="020F0502020204030204" pitchFamily="34" charset="0"/>
              </a:rPr>
              <a:t>, warnings, </a:t>
            </a:r>
            <a:r>
              <a:rPr lang="en-US" sz="3600" dirty="0" err="1">
                <a:effectLst/>
                <a:latin typeface="Times New Roman" panose="02020603050405020304" pitchFamily="18" charset="0"/>
                <a:ea typeface="Calibri" panose="020F0502020204030204" pitchFamily="34" charset="0"/>
              </a:rPr>
              <a:t>forgivings</a:t>
            </a:r>
            <a:r>
              <a:rPr lang="en-US" sz="3600" dirty="0">
                <a:effectLst/>
                <a:latin typeface="Times New Roman" panose="02020603050405020304" pitchFamily="18" charset="0"/>
                <a:ea typeface="Calibri" panose="020F0502020204030204" pitchFamily="34" charset="0"/>
              </a:rPr>
              <a:t>, and so on, is ‘social operations’. </a:t>
            </a:r>
            <a:endParaRPr lang="en-US" sz="3600" dirty="0"/>
          </a:p>
        </p:txBody>
      </p:sp>
    </p:spTree>
    <p:extLst>
      <p:ext uri="{BB962C8B-B14F-4D97-AF65-F5344CB8AC3E}">
        <p14:creationId xmlns:p14="http://schemas.microsoft.com/office/powerpoint/2010/main" val="352561933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55B2E90-BC15-39A9-0C74-0CDAA3AD63D8}"/>
              </a:ext>
            </a:extLst>
          </p:cNvPr>
          <p:cNvSpPr txBox="1"/>
          <p:nvPr/>
        </p:nvSpPr>
        <p:spPr>
          <a:xfrm>
            <a:off x="0" y="0"/>
            <a:ext cx="12192000" cy="5398209"/>
          </a:xfrm>
          <a:prstGeom prst="rect">
            <a:avLst/>
          </a:prstGeom>
          <a:noFill/>
        </p:spPr>
        <p:txBody>
          <a:bodyPr wrap="square">
            <a:spAutoFit/>
          </a:bodyPr>
          <a:lstStyle/>
          <a:p>
            <a:pPr marL="0" marR="0" algn="just">
              <a:lnSpc>
                <a:spcPct val="107000"/>
              </a:lnSpc>
              <a:spcBef>
                <a:spcPts val="0"/>
              </a:spcBef>
              <a:spcAft>
                <a:spcPts val="800"/>
              </a:spcAft>
            </a:pP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Sometimes he also calls them ‘social acts’, opposing them to ‘solitary acts’ such as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judgings</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intendings</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deliberatings</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and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desirings</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The latter are characterized by the fact that their performance does not presuppose any ‘intelligent being in the universe’ in addition to the person who performs them. A social act, in contrast, must be directed to some other person, and for this reason it constitutes a miniature ‘civil society’, a special kind of structured whole, embracing both the one who initiates it and the one to whom it is directed.</a:t>
            </a:r>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76696544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E22733C-E981-797B-77F5-2FA3003005E4}"/>
              </a:ext>
            </a:extLst>
          </p:cNvPr>
          <p:cNvSpPr txBox="1"/>
          <p:nvPr/>
        </p:nvSpPr>
        <p:spPr>
          <a:xfrm>
            <a:off x="0" y="0"/>
            <a:ext cx="12192000" cy="4524315"/>
          </a:xfrm>
          <a:prstGeom prst="rect">
            <a:avLst/>
          </a:prstGeom>
          <a:noFill/>
        </p:spPr>
        <p:txBody>
          <a:bodyPr wrap="square">
            <a:spAutoFit/>
          </a:bodyPr>
          <a:lstStyle/>
          <a:p>
            <a:pPr algn="just"/>
            <a:r>
              <a:rPr lang="en-US" sz="3200" dirty="0">
                <a:effectLst/>
                <a:latin typeface="Times New Roman" panose="02020603050405020304" pitchFamily="18" charset="0"/>
                <a:ea typeface="Calibri" panose="020F0502020204030204" pitchFamily="34" charset="0"/>
              </a:rPr>
              <a:t>The second is Adolf </a:t>
            </a:r>
            <a:r>
              <a:rPr lang="en-US" sz="3200" dirty="0" err="1">
                <a:effectLst/>
                <a:latin typeface="Times New Roman" panose="02020603050405020304" pitchFamily="18" charset="0"/>
                <a:ea typeface="Calibri" panose="020F0502020204030204" pitchFamily="34" charset="0"/>
              </a:rPr>
              <a:t>Reinach</a:t>
            </a:r>
            <a:r>
              <a:rPr lang="en-US" sz="3200" dirty="0">
                <a:effectLst/>
                <a:latin typeface="Times New Roman" panose="02020603050405020304" pitchFamily="18" charset="0"/>
                <a:ea typeface="Calibri" panose="020F0502020204030204" pitchFamily="34" charset="0"/>
              </a:rPr>
              <a:t>, a member of a group of followers of Husserl based in Munich in the early years of the last century who distinguished themselves from later phenomenologists by their adherence to philosophical realism. Husserl had developed in his </a:t>
            </a:r>
            <a:r>
              <a:rPr lang="en-US" sz="3200" i="1" dirty="0">
                <a:effectLst/>
                <a:latin typeface="Times New Roman" panose="02020603050405020304" pitchFamily="18" charset="0"/>
                <a:ea typeface="Calibri" panose="020F0502020204030204" pitchFamily="34" charset="0"/>
              </a:rPr>
              <a:t>Logical Investigations </a:t>
            </a:r>
            <a:r>
              <a:rPr lang="en-US" sz="3200" dirty="0">
                <a:effectLst/>
                <a:latin typeface="Times New Roman" panose="02020603050405020304" pitchFamily="18" charset="0"/>
                <a:ea typeface="Calibri" panose="020F0502020204030204" pitchFamily="34" charset="0"/>
              </a:rPr>
              <a:t>a remarkably rich and subtle theory of linguistic meaning, which the group to which </a:t>
            </a:r>
            <a:r>
              <a:rPr lang="en-US" sz="3200" dirty="0" err="1">
                <a:effectLst/>
                <a:latin typeface="Times New Roman" panose="02020603050405020304" pitchFamily="18" charset="0"/>
                <a:ea typeface="Calibri" panose="020F0502020204030204" pitchFamily="34" charset="0"/>
              </a:rPr>
              <a:t>Reinach</a:t>
            </a:r>
            <a:r>
              <a:rPr lang="en-US" sz="3200" dirty="0">
                <a:effectLst/>
                <a:latin typeface="Times New Roman" panose="02020603050405020304" pitchFamily="18" charset="0"/>
                <a:ea typeface="Calibri" panose="020F0502020204030204" pitchFamily="34" charset="0"/>
              </a:rPr>
              <a:t> belonged took as the starting point of its own philosophical reflections on language, meaning and intentionality. Husserl was interested in providing a general theory of how thought and language and perception hook onto extra-mental reality. </a:t>
            </a:r>
            <a:endParaRPr lang="en-US" sz="3200" dirty="0"/>
          </a:p>
        </p:txBody>
      </p:sp>
    </p:spTree>
    <p:extLst>
      <p:ext uri="{BB962C8B-B14F-4D97-AF65-F5344CB8AC3E}">
        <p14:creationId xmlns:p14="http://schemas.microsoft.com/office/powerpoint/2010/main" val="355576634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8CBA4D5-52DE-B871-5DDF-444E5D82B27B}"/>
              </a:ext>
            </a:extLst>
          </p:cNvPr>
          <p:cNvSpPr txBox="1"/>
          <p:nvPr/>
        </p:nvSpPr>
        <p:spPr>
          <a:xfrm>
            <a:off x="0" y="0"/>
            <a:ext cx="12192000" cy="4805418"/>
          </a:xfrm>
          <a:prstGeom prst="rect">
            <a:avLst/>
          </a:prstGeom>
          <a:noFill/>
        </p:spPr>
        <p:txBody>
          <a:bodyPr wrap="square">
            <a:spAutoFit/>
          </a:bodyPr>
          <a:lstStyle/>
          <a:p>
            <a:pPr marL="0" marR="0" algn="just">
              <a:lnSpc>
                <a:spcPct val="107000"/>
              </a:lnSpc>
              <a:spcBef>
                <a:spcPts val="0"/>
              </a:spcBef>
              <a:spcAft>
                <a:spcPts val="800"/>
              </a:spcAft>
            </a:pP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His conception of meaning anticipates that of Searle in treating language as essentially representational. Husserl’s theory of meaning is, however,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internalistic</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in the following special sense: it starts from an analysis of the individual mental act of meaning something by a linguistic expression as this occurs in silent monologue. The meaning of an expression is the same (the very same entity), Husserl insists, independently of whether or not it is uttered in public discourse.</a:t>
            </a:r>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5576438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94D001B-A7CD-01C2-9754-CCEEB61F77D1}"/>
              </a:ext>
            </a:extLst>
          </p:cNvPr>
          <p:cNvSpPr txBox="1"/>
          <p:nvPr/>
        </p:nvSpPr>
        <p:spPr>
          <a:xfrm>
            <a:off x="0" y="0"/>
            <a:ext cx="12192000" cy="4805418"/>
          </a:xfrm>
          <a:prstGeom prst="rect">
            <a:avLst/>
          </a:prstGeom>
          <a:noFill/>
        </p:spPr>
        <p:txBody>
          <a:bodyPr wrap="square">
            <a:spAutoFit/>
          </a:bodyPr>
          <a:lstStyle/>
          <a:p>
            <a:pPr marL="0" marR="0" algn="just">
              <a:lnSpc>
                <a:spcPct val="107000"/>
              </a:lnSpc>
              <a:spcBef>
                <a:spcPts val="0"/>
              </a:spcBef>
              <a:spcAft>
                <a:spcPts val="800"/>
              </a:spcAft>
            </a:pP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But how are we to analyze, within such a framework, the meanings of those special kinds of uses of language which are involved in promises or questions or commands? It was in the effort to resolve this puzzle that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Reinach</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developed the first systematic theory of performative uses of language, not only in promising and commanding but also in warning, entreating, accusing, flattering, declaring, baptizing, etc. – phenomena which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Reinach</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like Reid before him, called ‘social acts’. </a:t>
            </a:r>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140563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EA11ED8-EBD7-65C2-4F38-E3F130B3C3C9}"/>
              </a:ext>
            </a:extLst>
          </p:cNvPr>
          <p:cNvSpPr txBox="1"/>
          <p:nvPr/>
        </p:nvSpPr>
        <p:spPr>
          <a:xfrm>
            <a:off x="0" y="0"/>
            <a:ext cx="12192000" cy="3754939"/>
          </a:xfrm>
          <a:prstGeom prst="rect">
            <a:avLst/>
          </a:prstGeom>
          <a:noFill/>
        </p:spPr>
        <p:txBody>
          <a:bodyPr wrap="square">
            <a:spAutoFit/>
          </a:bodyPr>
          <a:lstStyle/>
          <a:p>
            <a:pPr marL="0" marR="0" algn="just">
              <a:lnSpc>
                <a:spcPct val="107000"/>
              </a:lnSpc>
              <a:spcBef>
                <a:spcPts val="0"/>
              </a:spcBef>
              <a:spcAft>
                <a:spcPts val="800"/>
              </a:spcAft>
            </a:pP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Reinach</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presented his ideas on social acts in a monograph published in 1913 (four years before his death on the Western Front) under the title </a:t>
            </a:r>
            <a:r>
              <a:rPr lang="en-US" sz="3200" i="1" dirty="0">
                <a:effectLst/>
                <a:latin typeface="Times New Roman" panose="02020603050405020304" pitchFamily="18" charset="0"/>
                <a:ea typeface="Calibri" panose="020F0502020204030204" pitchFamily="34" charset="0"/>
                <a:cs typeface="Times New Roman" panose="02020603050405020304" pitchFamily="18" charset="0"/>
              </a:rPr>
              <a:t>The A Priori Foundations of the Civil Law</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He concentrated especially on the act of promising, applying his method also to the analysis of legal phenomena such as contract and legislation and describing the theory which results as a ‘contribution to the general ontology of social interaction’.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7630131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B45949-3D89-926F-B7DC-585EEBEEFDAC}"/>
              </a:ext>
            </a:extLst>
          </p:cNvPr>
          <p:cNvSpPr txBox="1"/>
          <p:nvPr/>
        </p:nvSpPr>
        <p:spPr>
          <a:xfrm>
            <a:off x="0" y="0"/>
            <a:ext cx="12192000" cy="3416320"/>
          </a:xfrm>
          <a:prstGeom prst="rect">
            <a:avLst/>
          </a:prstGeom>
          <a:noFill/>
        </p:spPr>
        <p:txBody>
          <a:bodyPr wrap="square">
            <a:spAutoFit/>
          </a:bodyPr>
          <a:lstStyle/>
          <a:p>
            <a:pPr algn="just"/>
            <a:r>
              <a:rPr lang="en-US" sz="3600" dirty="0">
                <a:effectLst/>
                <a:latin typeface="Times New Roman" panose="02020603050405020304" pitchFamily="18" charset="0"/>
                <a:ea typeface="Calibri" panose="020F0502020204030204" pitchFamily="34" charset="0"/>
                <a:cs typeface="Times New Roman" panose="02020603050405020304" pitchFamily="18" charset="0"/>
              </a:rPr>
              <a:t>His work comprehends many of the elements we find in the writings of Austin and Searle, and even incorporates additional perspectives deriving from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Reinach’s</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background as a student of law. Unfortunately, however,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Reinach’s</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theory of </a:t>
            </a:r>
            <a:r>
              <a:rPr lang="en-US" sz="3600" i="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social acts </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was doomed, like Reid’s theory of </a:t>
            </a:r>
            <a:r>
              <a:rPr lang="en-US" sz="3600" i="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social operations </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before it, to remain almost entirely without influence.</a:t>
            </a:r>
            <a:endParaRPr lang="en-US" sz="3600" dirty="0"/>
          </a:p>
        </p:txBody>
      </p:sp>
    </p:spTree>
    <p:extLst>
      <p:ext uri="{BB962C8B-B14F-4D97-AF65-F5344CB8AC3E}">
        <p14:creationId xmlns:p14="http://schemas.microsoft.com/office/powerpoint/2010/main" val="176112652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27A0E09-81E1-93AD-6BC1-794446304BDB}"/>
              </a:ext>
            </a:extLst>
          </p:cNvPr>
          <p:cNvSpPr txBox="1"/>
          <p:nvPr/>
        </p:nvSpPr>
        <p:spPr>
          <a:xfrm>
            <a:off x="0" y="0"/>
            <a:ext cx="12192000" cy="4300665"/>
          </a:xfrm>
          <a:prstGeom prst="rect">
            <a:avLst/>
          </a:prstGeom>
          <a:noFill/>
        </p:spPr>
        <p:txBody>
          <a:bodyPr wrap="square">
            <a:spAutoFit/>
          </a:bodyPr>
          <a:lstStyle/>
          <a:p>
            <a:pPr marL="0" marR="0" algn="ctr">
              <a:lnSpc>
                <a:spcPct val="107000"/>
              </a:lnSpc>
              <a:spcBef>
                <a:spcPts val="0"/>
              </a:spcBef>
              <a:spcAft>
                <a:spcPts val="800"/>
              </a:spcAft>
            </a:pPr>
            <a:r>
              <a:rPr lang="en-US" sz="40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Speech Act Theory: From Austin to Searle</a:t>
            </a:r>
            <a:endParaRPr lang="en-US" sz="4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r>
              <a:rPr lang="en-US" sz="3200" dirty="0">
                <a:effectLst/>
                <a:latin typeface="Times New Roman" panose="02020603050405020304" pitchFamily="18" charset="0"/>
                <a:ea typeface="Calibri" panose="020F0502020204030204" pitchFamily="34" charset="0"/>
                <a:cs typeface="Times New Roman" panose="02020603050405020304" pitchFamily="18" charset="0"/>
              </a:rPr>
              <a:t>Anglo-American philosophy in the first half of the twentieth century was shaped above all by the new Frege-inspired logic. One side effect of the successes of this new logic was that it consolidated still further the predominance of the Aristotelian conception of language as consisting essentially of statements or propositions in the business of being either true or false. All the more remarkable, therefore, is the break with these conceptions that is represented by the work of Austin and Searle. </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832146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89CD08E-57DE-17B0-A870-D580818423D5}"/>
              </a:ext>
            </a:extLst>
          </p:cNvPr>
          <p:cNvSpPr txBox="1"/>
          <p:nvPr/>
        </p:nvSpPr>
        <p:spPr>
          <a:xfrm>
            <a:off x="0" y="0"/>
            <a:ext cx="12192000" cy="3228000"/>
          </a:xfrm>
          <a:prstGeom prst="rect">
            <a:avLst/>
          </a:prstGeom>
          <a:noFill/>
        </p:spPr>
        <p:txBody>
          <a:bodyPr wrap="square">
            <a:spAutoFit/>
          </a:bodyPr>
          <a:lstStyle/>
          <a:p>
            <a:pPr marL="0" marR="0" algn="just">
              <a:lnSpc>
                <a:spcPct val="107000"/>
              </a:lnSpc>
              <a:spcBef>
                <a:spcPts val="0"/>
              </a:spcBef>
              <a:spcAft>
                <a:spcPts val="800"/>
              </a:spcAf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The beginnings of this break are documented in Austin’s 1946 paper “Other Minds” in a discussion of the way we use phrases like ‘I am sure that’ and ‘I know that’ in ordinary language. Saying ‘I know that S is P’, Austin tells us, ‘is </a:t>
            </a:r>
            <a:r>
              <a:rPr lang="en-US" sz="3200" i="1" dirty="0">
                <a:effectLst/>
                <a:latin typeface="Times New Roman" panose="02020603050405020304" pitchFamily="18" charset="0"/>
                <a:ea typeface="Calibri" panose="020F0502020204030204" pitchFamily="34" charset="0"/>
                <a:cs typeface="Times New Roman" panose="02020603050405020304" pitchFamily="18" charset="0"/>
              </a:rPr>
              <a:t>not </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saying “I have performed a specially striking feat of cognition ...”.’ Rather, ‘When I say, “I know” I give others my word: I give others my authority for saying that “S is P”.’</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9071510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20640D6-900A-6159-B79C-231CC8FCC8D6}"/>
              </a:ext>
            </a:extLst>
          </p:cNvPr>
          <p:cNvSpPr txBox="1"/>
          <p:nvPr/>
        </p:nvSpPr>
        <p:spPr>
          <a:xfrm>
            <a:off x="0" y="0"/>
            <a:ext cx="12192000" cy="3228000"/>
          </a:xfrm>
          <a:prstGeom prst="rect">
            <a:avLst/>
          </a:prstGeom>
          <a:noFill/>
        </p:spPr>
        <p:txBody>
          <a:bodyPr wrap="square">
            <a:spAutoFit/>
          </a:bodyPr>
          <a:lstStyle/>
          <a:p>
            <a:pPr marL="0" marR="0" algn="just">
              <a:lnSpc>
                <a:spcPct val="107000"/>
              </a:lnSpc>
              <a:spcBef>
                <a:spcPts val="0"/>
              </a:spcBef>
              <a:spcAft>
                <a:spcPts val="800"/>
              </a:spcAf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And similarly, Austin notes: ‘promising is not something superior, in the same scale as hoping and intending’. Promising does indeed presuppose an intention to act, but it is not itself a feat of cognition at all. Rather, when I say ‘I promise’ I have not merely announced my intention, but by using this formula (performing this ritual), I have bound myself to others, and staked my reputation, in a new way.</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0752038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BCF0739-874E-9498-4B11-3100C57E417F}"/>
              </a:ext>
            </a:extLst>
          </p:cNvPr>
          <p:cNvSpPr txBox="1"/>
          <p:nvPr/>
        </p:nvSpPr>
        <p:spPr>
          <a:xfrm>
            <a:off x="0" y="0"/>
            <a:ext cx="12192000" cy="2434256"/>
          </a:xfrm>
          <a:prstGeom prst="rect">
            <a:avLst/>
          </a:prstGeom>
          <a:noFill/>
        </p:spPr>
        <p:txBody>
          <a:bodyPr wrap="square">
            <a:spAutoFit/>
          </a:bodyPr>
          <a:lstStyle/>
          <a:p>
            <a:pPr marL="0" marR="0" algn="just">
              <a:lnSpc>
                <a:spcPct val="107000"/>
              </a:lnSpc>
              <a:spcBef>
                <a:spcPts val="0"/>
              </a:spcBef>
              <a:spcAft>
                <a:spcPts val="800"/>
              </a:spcAft>
            </a:pP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Austin’s ideas on what he called </a:t>
            </a:r>
            <a:r>
              <a:rPr lang="en-US" sz="3600" i="1" dirty="0">
                <a:effectLst/>
                <a:latin typeface="Times New Roman" panose="02020603050405020304" pitchFamily="18" charset="0"/>
                <a:ea typeface="Calibri" panose="020F0502020204030204" pitchFamily="34" charset="0"/>
                <a:cs typeface="Times New Roman" panose="02020603050405020304" pitchFamily="18" charset="0"/>
              </a:rPr>
              <a:t>performative utterances </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were expressed in lectures he delivered in Harvard in 1955, lectures which were published posthumously under the title </a:t>
            </a:r>
            <a:r>
              <a:rPr lang="en-US" sz="3600" i="1" dirty="0">
                <a:effectLst/>
                <a:latin typeface="Times New Roman" panose="02020603050405020304" pitchFamily="18" charset="0"/>
                <a:ea typeface="Calibri" panose="020F0502020204030204" pitchFamily="34" charset="0"/>
                <a:cs typeface="Times New Roman" panose="02020603050405020304" pitchFamily="18" charset="0"/>
              </a:rPr>
              <a:t>How to Do Things with Words. </a:t>
            </a:r>
            <a:r>
              <a:rPr lang="en-US" sz="1200" i="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(NB. a soft copy of this book was given to you)</a:t>
            </a:r>
            <a:endParaRPr lang="en-US" sz="1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2018444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DABD89E-2386-39E1-1254-A595F3545534}"/>
              </a:ext>
            </a:extLst>
          </p:cNvPr>
          <p:cNvSpPr txBox="1"/>
          <p:nvPr/>
        </p:nvSpPr>
        <p:spPr>
          <a:xfrm>
            <a:off x="0" y="0"/>
            <a:ext cx="12192000" cy="4524315"/>
          </a:xfrm>
          <a:prstGeom prst="rect">
            <a:avLst/>
          </a:prstGeom>
          <a:noFill/>
        </p:spPr>
        <p:txBody>
          <a:bodyPr wrap="square">
            <a:spAutoFit/>
          </a:bodyPr>
          <a:lstStyle/>
          <a:p>
            <a:pPr algn="just"/>
            <a:r>
              <a:rPr lang="en-US" sz="3200" dirty="0">
                <a:effectLst/>
                <a:latin typeface="Times New Roman" panose="02020603050405020304" pitchFamily="18" charset="0"/>
                <a:ea typeface="Calibri" panose="020F0502020204030204" pitchFamily="34" charset="0"/>
              </a:rPr>
              <a:t>Performative utterances are those uses of language, often involving some ritual aspect, which are themselves a kind of action and whose very utterance brings about some result. Of an utterance like ‘I promise to mow your lawn’ we ask not whether it is true, but whether it is successful. The conditions of success for performatives Austin called </a:t>
            </a:r>
            <a:r>
              <a:rPr lang="en-US" sz="3200" i="1" dirty="0">
                <a:effectLst/>
                <a:latin typeface="Times New Roman" panose="02020603050405020304" pitchFamily="18" charset="0"/>
                <a:ea typeface="Calibri" panose="020F0502020204030204" pitchFamily="34" charset="0"/>
              </a:rPr>
              <a:t>felicity conditions </a:t>
            </a:r>
            <a:r>
              <a:rPr lang="en-US" sz="3200" dirty="0">
                <a:effectLst/>
                <a:latin typeface="Times New Roman" panose="02020603050405020304" pitchFamily="18" charset="0"/>
                <a:ea typeface="Calibri" panose="020F0502020204030204" pitchFamily="34" charset="0"/>
              </a:rPr>
              <a:t>and he saw them as ranging from the highly formal (such as for example those governing a judge when pronouncing sentence), to the informal conventions governing expressions of gratitude or sympathy in the circumstances of everyday life.</a:t>
            </a:r>
            <a:endParaRPr lang="en-US" sz="3200" dirty="0"/>
          </a:p>
        </p:txBody>
      </p:sp>
    </p:spTree>
    <p:extLst>
      <p:ext uri="{BB962C8B-B14F-4D97-AF65-F5344CB8AC3E}">
        <p14:creationId xmlns:p14="http://schemas.microsoft.com/office/powerpoint/2010/main" val="254354041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125F356-3613-0CE4-DC05-DED6B7142CA9}"/>
              </a:ext>
            </a:extLst>
          </p:cNvPr>
          <p:cNvSpPr txBox="1"/>
          <p:nvPr/>
        </p:nvSpPr>
        <p:spPr>
          <a:xfrm>
            <a:off x="0" y="0"/>
            <a:ext cx="12192000" cy="4011676"/>
          </a:xfrm>
          <a:prstGeom prst="rect">
            <a:avLst/>
          </a:prstGeom>
          <a:noFill/>
        </p:spPr>
        <p:txBody>
          <a:bodyPr wrap="square">
            <a:spAutoFit/>
          </a:bodyPr>
          <a:lstStyle/>
          <a:p>
            <a:pPr marL="0" marR="0" algn="just">
              <a:lnSpc>
                <a:spcPct val="107000"/>
              </a:lnSpc>
              <a:spcBef>
                <a:spcPts val="0"/>
              </a:spcBef>
              <a:spcAft>
                <a:spcPts val="800"/>
              </a:spcAft>
            </a:pPr>
            <a:r>
              <a:rPr lang="en-US" sz="4000" dirty="0">
                <a:effectLst/>
                <a:latin typeface="Times New Roman" panose="02020603050405020304" pitchFamily="18" charset="0"/>
                <a:ea typeface="Calibri" panose="020F0502020204030204" pitchFamily="34" charset="0"/>
                <a:cs typeface="Times New Roman" panose="02020603050405020304" pitchFamily="18" charset="0"/>
              </a:rPr>
              <a:t>Austin pointed also to the existence of a further set of conditions, which have to do primarily with the mental side of performatives, conditions to the effect that participants must have the thoughts, feelings and intentions appropriate to the performance of each given type of act.</a:t>
            </a:r>
            <a:endParaRPr lang="en-US" sz="4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9733096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8BCBACF-2D43-3E42-B064-FDAE0EE26FE1}"/>
              </a:ext>
            </a:extLst>
          </p:cNvPr>
          <p:cNvSpPr txBox="1"/>
          <p:nvPr/>
        </p:nvSpPr>
        <p:spPr>
          <a:xfrm>
            <a:off x="0" y="15240"/>
            <a:ext cx="12192000" cy="5724324"/>
          </a:xfrm>
          <a:prstGeom prst="rect">
            <a:avLst/>
          </a:prstGeom>
          <a:noFill/>
        </p:spPr>
        <p:txBody>
          <a:bodyPr wrap="square">
            <a:spAutoFit/>
          </a:bodyPr>
          <a:lstStyle/>
          <a:p>
            <a:pPr marL="0" marR="0" algn="ctr">
              <a:lnSpc>
                <a:spcPct val="107000"/>
              </a:lnSpc>
              <a:spcBef>
                <a:spcPts val="0"/>
              </a:spcBef>
              <a:spcAft>
                <a:spcPts val="800"/>
              </a:spcAft>
            </a:pPr>
            <a:r>
              <a:rPr lang="en-US" sz="40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Speech Acts in General</a:t>
            </a:r>
            <a:endParaRPr lang="en-US" sz="4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4000" dirty="0">
                <a:effectLst/>
                <a:latin typeface="Times New Roman" panose="02020603050405020304" pitchFamily="18" charset="0"/>
                <a:ea typeface="Calibri" panose="020F0502020204030204" pitchFamily="34" charset="0"/>
                <a:cs typeface="Times New Roman" panose="02020603050405020304" pitchFamily="18" charset="0"/>
              </a:rPr>
              <a:t> </a:t>
            </a:r>
          </a:p>
          <a:p>
            <a:pPr marL="0" marR="0" algn="just">
              <a:lnSpc>
                <a:spcPct val="107000"/>
              </a:lnSpc>
              <a:spcBef>
                <a:spcPts val="0"/>
              </a:spcBef>
              <a:spcAft>
                <a:spcPts val="800"/>
              </a:spcAft>
            </a:pP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When I open the mouth, an acoustic blast that comes out of my mouth can be said to be a statement, a question, an explanation, a command, an exhortation, an order, a promise, and so on, or a very large number of other possibilities. Further­ more, what comes out can be said to be true or false or boring or uninteresting or exciting or original or stupid or simply irrelevant. </a:t>
            </a:r>
          </a:p>
        </p:txBody>
      </p:sp>
    </p:spTree>
    <p:extLst>
      <p:ext uri="{BB962C8B-B14F-4D97-AF65-F5344CB8AC3E}">
        <p14:creationId xmlns:p14="http://schemas.microsoft.com/office/powerpoint/2010/main" val="232147160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E89BA66-53A7-2011-480E-E392A483F299}"/>
              </a:ext>
            </a:extLst>
          </p:cNvPr>
          <p:cNvSpPr txBox="1"/>
          <p:nvPr/>
        </p:nvSpPr>
        <p:spPr>
          <a:xfrm>
            <a:off x="0" y="0"/>
            <a:ext cx="12192000" cy="6389634"/>
          </a:xfrm>
          <a:prstGeom prst="rect">
            <a:avLst/>
          </a:prstGeom>
          <a:noFill/>
        </p:spPr>
        <p:txBody>
          <a:bodyPr wrap="square">
            <a:spAutoFit/>
          </a:bodyPr>
          <a:lstStyle/>
          <a:p>
            <a:pPr marL="0" marR="0" algn="just">
              <a:lnSpc>
                <a:spcPct val="107000"/>
              </a:lnSpc>
              <a:spcBef>
                <a:spcPts val="0"/>
              </a:spcBef>
              <a:spcAft>
                <a:spcPts val="800"/>
              </a:spcAf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Whenever I emit one of these acoustic blasts in a normal speech situation, I can be said to have performed a </a:t>
            </a:r>
            <a:r>
              <a:rPr lang="en-US" sz="3200" i="1" dirty="0">
                <a:effectLst/>
                <a:latin typeface="Times New Roman" panose="02020603050405020304" pitchFamily="18" charset="0"/>
                <a:ea typeface="Calibri" panose="020F0502020204030204" pitchFamily="34" charset="0"/>
                <a:cs typeface="Times New Roman" panose="02020603050405020304" pitchFamily="18" charset="0"/>
              </a:rPr>
              <a:t>speech act. </a:t>
            </a:r>
            <a:r>
              <a:rPr lang="en-US" sz="32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Speech acts are acts characteristically performed by uttering expressions in accordance with certain constitutive rules </a:t>
            </a:r>
            <a:r>
              <a:rPr lang="en-US" sz="12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1200" i="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Searle</a:t>
            </a:r>
            <a:r>
              <a:rPr lang="en-US" sz="12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Speech acts come in a variety of types. By means of these acoustical blasts, I make a statement or ask a question, I give an order or make a request, or I explain some scientific problem or predict an event in the future. All of these, and dozens of other examples like them, were baptized by the</a:t>
            </a:r>
            <a:r>
              <a:rPr lang="en-US" sz="3200" spc="17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British philosopher J.</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L.</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Austin as “</a:t>
            </a:r>
            <a:r>
              <a:rPr lang="en-US" sz="32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illocutionary acts”. </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The illocu­tionary act is the minimal complete unit of human linguistic communication. Whenever we talk or write to each other, we are performing illocutionary acts. These illocutionary acts have effects (perlocutionary acts).</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9702321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3A3199B-1E36-003F-0F85-48647129104B}"/>
              </a:ext>
            </a:extLst>
          </p:cNvPr>
          <p:cNvSpPr txBox="1"/>
          <p:nvPr/>
        </p:nvSpPr>
        <p:spPr>
          <a:xfrm>
            <a:off x="0" y="0"/>
            <a:ext cx="12192000" cy="5016758"/>
          </a:xfrm>
          <a:prstGeom prst="rect">
            <a:avLst/>
          </a:prstGeom>
          <a:noFill/>
        </p:spPr>
        <p:txBody>
          <a:bodyPr wrap="square">
            <a:spAutoFit/>
          </a:bodyPr>
          <a:lstStyle/>
          <a:p>
            <a:pPr algn="just"/>
            <a:r>
              <a:rPr lang="en-US" sz="3200" dirty="0">
                <a:latin typeface="Times New Roman" panose="02020603050405020304" pitchFamily="18" charset="0"/>
                <a:ea typeface="Calibri" panose="020F0502020204030204" pitchFamily="34" charset="0"/>
              </a:rPr>
              <a:t>Hence, </a:t>
            </a:r>
            <a:r>
              <a:rPr lang="en-US" sz="3200" dirty="0">
                <a:effectLst/>
                <a:latin typeface="Times New Roman" panose="02020603050405020304" pitchFamily="18" charset="0"/>
                <a:ea typeface="Calibri" panose="020F0502020204030204" pitchFamily="34" charset="0"/>
              </a:rPr>
              <a:t>illocutionary acts are different from perlocutionary acts: say for example,</a:t>
            </a:r>
            <a:r>
              <a:rPr lang="en-US" sz="3200" spc="-80" dirty="0">
                <a:effectLst/>
                <a:latin typeface="Times New Roman" panose="02020603050405020304" pitchFamily="18" charset="0"/>
                <a:ea typeface="Calibri" panose="020F0502020204030204" pitchFamily="34" charset="0"/>
              </a:rPr>
              <a:t> </a:t>
            </a:r>
            <a:r>
              <a:rPr lang="en-US" sz="3200" dirty="0">
                <a:effectLst/>
                <a:latin typeface="Times New Roman" panose="02020603050405020304" pitchFamily="18" charset="0"/>
                <a:ea typeface="Calibri" panose="020F0502020204030204" pitchFamily="34" charset="0"/>
              </a:rPr>
              <a:t>by</a:t>
            </a:r>
            <a:r>
              <a:rPr lang="en-US" sz="3200" spc="-115" dirty="0">
                <a:effectLst/>
                <a:latin typeface="Times New Roman" panose="02020603050405020304" pitchFamily="18" charset="0"/>
                <a:ea typeface="Calibri" panose="020F0502020204030204" pitchFamily="34" charset="0"/>
              </a:rPr>
              <a:t> </a:t>
            </a:r>
            <a:r>
              <a:rPr lang="en-US" sz="3200" i="1" dirty="0">
                <a:solidFill>
                  <a:srgbClr val="7030A0"/>
                </a:solidFill>
                <a:effectLst/>
                <a:latin typeface="Times New Roman" panose="02020603050405020304" pitchFamily="18" charset="0"/>
                <a:ea typeface="Calibri" panose="020F0502020204030204" pitchFamily="34" charset="0"/>
              </a:rPr>
              <a:t>ordering</a:t>
            </a:r>
            <a:r>
              <a:rPr lang="en-US" sz="3200" i="1" spc="-110" dirty="0">
                <a:effectLst/>
                <a:latin typeface="Times New Roman" panose="02020603050405020304" pitchFamily="18" charset="0"/>
                <a:ea typeface="Calibri" panose="020F0502020204030204" pitchFamily="34" charset="0"/>
              </a:rPr>
              <a:t> </a:t>
            </a:r>
            <a:r>
              <a:rPr lang="en-US" sz="3200" dirty="0">
                <a:effectLst/>
                <a:latin typeface="Times New Roman" panose="02020603050405020304" pitchFamily="18" charset="0"/>
                <a:ea typeface="Calibri" panose="020F0502020204030204" pitchFamily="34" charset="0"/>
              </a:rPr>
              <a:t>you</a:t>
            </a:r>
            <a:r>
              <a:rPr lang="en-US" sz="3200" spc="-90" dirty="0">
                <a:effectLst/>
                <a:latin typeface="Times New Roman" panose="02020603050405020304" pitchFamily="18" charset="0"/>
                <a:ea typeface="Calibri" panose="020F0502020204030204" pitchFamily="34" charset="0"/>
              </a:rPr>
              <a:t> </a:t>
            </a:r>
            <a:r>
              <a:rPr lang="en-US" sz="3200" dirty="0">
                <a:effectLst/>
                <a:latin typeface="Times New Roman" panose="02020603050405020304" pitchFamily="18" charset="0"/>
                <a:ea typeface="Calibri" panose="020F0502020204030204" pitchFamily="34" charset="0"/>
              </a:rPr>
              <a:t>to</a:t>
            </a:r>
            <a:r>
              <a:rPr lang="en-US" sz="3200" spc="-95" dirty="0">
                <a:effectLst/>
                <a:latin typeface="Times New Roman" panose="02020603050405020304" pitchFamily="18" charset="0"/>
                <a:ea typeface="Calibri" panose="020F0502020204030204" pitchFamily="34" charset="0"/>
              </a:rPr>
              <a:t> </a:t>
            </a:r>
            <a:r>
              <a:rPr lang="en-US" sz="3200" dirty="0">
                <a:effectLst/>
                <a:latin typeface="Times New Roman" panose="02020603050405020304" pitchFamily="18" charset="0"/>
                <a:ea typeface="Calibri" panose="020F0502020204030204" pitchFamily="34" charset="0"/>
              </a:rPr>
              <a:t>do</a:t>
            </a:r>
            <a:r>
              <a:rPr lang="en-US" sz="3200" spc="-120" dirty="0">
                <a:effectLst/>
                <a:latin typeface="Times New Roman" panose="02020603050405020304" pitchFamily="18" charset="0"/>
                <a:ea typeface="Calibri" panose="020F0502020204030204" pitchFamily="34" charset="0"/>
              </a:rPr>
              <a:t> </a:t>
            </a:r>
            <a:r>
              <a:rPr lang="en-US" sz="3200" dirty="0">
                <a:effectLst/>
                <a:latin typeface="Times New Roman" panose="02020603050405020304" pitchFamily="18" charset="0"/>
                <a:ea typeface="Calibri" panose="020F0502020204030204" pitchFamily="34" charset="0"/>
              </a:rPr>
              <a:t>something,</a:t>
            </a:r>
            <a:r>
              <a:rPr lang="en-US" sz="3200" spc="-75" dirty="0">
                <a:effectLst/>
                <a:latin typeface="Times New Roman" panose="02020603050405020304" pitchFamily="18" charset="0"/>
                <a:ea typeface="Calibri" panose="020F0502020204030204" pitchFamily="34" charset="0"/>
              </a:rPr>
              <a:t> </a:t>
            </a:r>
            <a:r>
              <a:rPr lang="en-US" sz="3200" dirty="0">
                <a:effectLst/>
                <a:latin typeface="Times New Roman" panose="02020603050405020304" pitchFamily="18" charset="0"/>
                <a:ea typeface="Calibri" panose="020F0502020204030204" pitchFamily="34" charset="0"/>
              </a:rPr>
              <a:t>I</a:t>
            </a:r>
            <a:r>
              <a:rPr lang="en-US" sz="3200" spc="-75" dirty="0">
                <a:effectLst/>
                <a:latin typeface="Times New Roman" panose="02020603050405020304" pitchFamily="18" charset="0"/>
                <a:ea typeface="Calibri" panose="020F0502020204030204" pitchFamily="34" charset="0"/>
              </a:rPr>
              <a:t> </a:t>
            </a:r>
            <a:r>
              <a:rPr lang="en-US" sz="3200" dirty="0">
                <a:effectLst/>
                <a:latin typeface="Times New Roman" panose="02020603050405020304" pitchFamily="18" charset="0"/>
                <a:ea typeface="Calibri" panose="020F0502020204030204" pitchFamily="34" charset="0"/>
              </a:rPr>
              <a:t>might</a:t>
            </a:r>
            <a:r>
              <a:rPr lang="en-US" sz="3200" spc="-80" dirty="0">
                <a:effectLst/>
                <a:latin typeface="Times New Roman" panose="02020603050405020304" pitchFamily="18" charset="0"/>
                <a:ea typeface="Calibri" panose="020F0502020204030204" pitchFamily="34" charset="0"/>
              </a:rPr>
              <a:t> </a:t>
            </a:r>
            <a:r>
              <a:rPr lang="en-US" sz="3200" i="1" dirty="0">
                <a:effectLst/>
                <a:latin typeface="Times New Roman" panose="02020603050405020304" pitchFamily="18" charset="0"/>
                <a:ea typeface="Calibri" panose="020F0502020204030204" pitchFamily="34" charset="0"/>
              </a:rPr>
              <a:t>get</a:t>
            </a:r>
            <a:r>
              <a:rPr lang="en-US" sz="3200" i="1" spc="-135" dirty="0">
                <a:effectLst/>
                <a:latin typeface="Times New Roman" panose="02020603050405020304" pitchFamily="18" charset="0"/>
                <a:ea typeface="Calibri" panose="020F0502020204030204" pitchFamily="34" charset="0"/>
              </a:rPr>
              <a:t> </a:t>
            </a:r>
            <a:r>
              <a:rPr lang="en-US" sz="3200" i="1" dirty="0">
                <a:effectLst/>
                <a:latin typeface="Times New Roman" panose="02020603050405020304" pitchFamily="18" charset="0"/>
                <a:ea typeface="Calibri" panose="020F0502020204030204" pitchFamily="34" charset="0"/>
              </a:rPr>
              <a:t>you</a:t>
            </a:r>
            <a:r>
              <a:rPr lang="en-US" sz="3200" i="1" spc="-110" dirty="0">
                <a:effectLst/>
                <a:latin typeface="Times New Roman" panose="02020603050405020304" pitchFamily="18" charset="0"/>
                <a:ea typeface="Calibri" panose="020F0502020204030204" pitchFamily="34" charset="0"/>
              </a:rPr>
              <a:t> </a:t>
            </a:r>
            <a:r>
              <a:rPr lang="en-US" sz="3200" i="1" dirty="0">
                <a:effectLst/>
                <a:latin typeface="Times New Roman" panose="02020603050405020304" pitchFamily="18" charset="0"/>
                <a:ea typeface="Calibri" panose="020F0502020204030204" pitchFamily="34" charset="0"/>
              </a:rPr>
              <a:t>to</a:t>
            </a:r>
            <a:r>
              <a:rPr lang="en-US" sz="3200" i="1" spc="-115" dirty="0">
                <a:effectLst/>
                <a:latin typeface="Times New Roman" panose="02020603050405020304" pitchFamily="18" charset="0"/>
                <a:ea typeface="Calibri" panose="020F0502020204030204" pitchFamily="34" charset="0"/>
              </a:rPr>
              <a:t> </a:t>
            </a:r>
            <a:r>
              <a:rPr lang="en-US" sz="3200" i="1" dirty="0">
                <a:effectLst/>
                <a:latin typeface="Times New Roman" panose="02020603050405020304" pitchFamily="18" charset="0"/>
                <a:ea typeface="Calibri" panose="020F0502020204030204" pitchFamily="34" charset="0"/>
              </a:rPr>
              <a:t>do</a:t>
            </a:r>
            <a:r>
              <a:rPr lang="en-US" sz="3200" i="1" spc="-115" dirty="0">
                <a:effectLst/>
                <a:latin typeface="Times New Roman" panose="02020603050405020304" pitchFamily="18" charset="0"/>
                <a:ea typeface="Calibri" panose="020F0502020204030204" pitchFamily="34" charset="0"/>
              </a:rPr>
              <a:t> </a:t>
            </a:r>
            <a:r>
              <a:rPr lang="en-US" sz="3200" i="1" dirty="0">
                <a:effectLst/>
                <a:latin typeface="Times New Roman" panose="02020603050405020304" pitchFamily="18" charset="0"/>
                <a:ea typeface="Calibri" panose="020F0502020204030204" pitchFamily="34" charset="0"/>
              </a:rPr>
              <a:t>it. </a:t>
            </a:r>
            <a:r>
              <a:rPr lang="en-US" sz="3200" dirty="0">
                <a:effectLst/>
                <a:latin typeface="Times New Roman" panose="02020603050405020304" pitchFamily="18" charset="0"/>
                <a:ea typeface="Calibri" panose="020F0502020204030204" pitchFamily="34" charset="0"/>
              </a:rPr>
              <a:t>By</a:t>
            </a:r>
            <a:r>
              <a:rPr lang="en-US" sz="3200" spc="-155" dirty="0">
                <a:effectLst/>
                <a:latin typeface="Times New Roman" panose="02020603050405020304" pitchFamily="18" charset="0"/>
                <a:ea typeface="Calibri" panose="020F0502020204030204" pitchFamily="34" charset="0"/>
              </a:rPr>
              <a:t> </a:t>
            </a:r>
            <a:r>
              <a:rPr lang="en-US" sz="3200" i="1" dirty="0">
                <a:solidFill>
                  <a:srgbClr val="7030A0"/>
                </a:solidFill>
                <a:effectLst/>
                <a:latin typeface="Times New Roman" panose="02020603050405020304" pitchFamily="18" charset="0"/>
                <a:ea typeface="Calibri" panose="020F0502020204030204" pitchFamily="34" charset="0"/>
              </a:rPr>
              <a:t>arguing</a:t>
            </a:r>
            <a:r>
              <a:rPr lang="en-US" sz="3200" i="1" spc="-145" dirty="0">
                <a:effectLst/>
                <a:latin typeface="Times New Roman" panose="02020603050405020304" pitchFamily="18" charset="0"/>
                <a:ea typeface="Calibri" panose="020F0502020204030204" pitchFamily="34" charset="0"/>
              </a:rPr>
              <a:t> </a:t>
            </a:r>
            <a:r>
              <a:rPr lang="en-US" sz="3200" dirty="0">
                <a:effectLst/>
                <a:latin typeface="Times New Roman" panose="02020603050405020304" pitchFamily="18" charset="0"/>
                <a:ea typeface="Calibri" panose="020F0502020204030204" pitchFamily="34" charset="0"/>
              </a:rPr>
              <a:t>with</a:t>
            </a:r>
            <a:r>
              <a:rPr lang="en-US" sz="3200" spc="-125" dirty="0">
                <a:effectLst/>
                <a:latin typeface="Times New Roman" panose="02020603050405020304" pitchFamily="18" charset="0"/>
                <a:ea typeface="Calibri" panose="020F0502020204030204" pitchFamily="34" charset="0"/>
              </a:rPr>
              <a:t> </a:t>
            </a:r>
            <a:r>
              <a:rPr lang="en-US" sz="3200" dirty="0">
                <a:effectLst/>
                <a:latin typeface="Times New Roman" panose="02020603050405020304" pitchFamily="18" charset="0"/>
                <a:ea typeface="Calibri" panose="020F0502020204030204" pitchFamily="34" charset="0"/>
              </a:rPr>
              <a:t>you,</a:t>
            </a:r>
            <a:r>
              <a:rPr lang="en-US" sz="3200" spc="-120" dirty="0">
                <a:effectLst/>
                <a:latin typeface="Times New Roman" panose="02020603050405020304" pitchFamily="18" charset="0"/>
                <a:ea typeface="Calibri" panose="020F0502020204030204" pitchFamily="34" charset="0"/>
              </a:rPr>
              <a:t> </a:t>
            </a:r>
            <a:r>
              <a:rPr lang="en-US" sz="3200" dirty="0">
                <a:effectLst/>
                <a:latin typeface="Times New Roman" panose="02020603050405020304" pitchFamily="18" charset="0"/>
                <a:ea typeface="Calibri" panose="020F0502020204030204" pitchFamily="34" charset="0"/>
              </a:rPr>
              <a:t>I</a:t>
            </a:r>
            <a:r>
              <a:rPr lang="en-US" sz="3200" spc="-105" dirty="0">
                <a:effectLst/>
                <a:latin typeface="Times New Roman" panose="02020603050405020304" pitchFamily="18" charset="0"/>
                <a:ea typeface="Calibri" panose="020F0502020204030204" pitchFamily="34" charset="0"/>
              </a:rPr>
              <a:t> </a:t>
            </a:r>
            <a:r>
              <a:rPr lang="en-US" sz="3200" dirty="0">
                <a:effectLst/>
                <a:latin typeface="Times New Roman" panose="02020603050405020304" pitchFamily="18" charset="0"/>
                <a:ea typeface="Calibri" panose="020F0502020204030204" pitchFamily="34" charset="0"/>
              </a:rPr>
              <a:t>might</a:t>
            </a:r>
            <a:r>
              <a:rPr lang="en-US" sz="3200" spc="-90" dirty="0">
                <a:effectLst/>
                <a:latin typeface="Times New Roman" panose="02020603050405020304" pitchFamily="18" charset="0"/>
                <a:ea typeface="Calibri" panose="020F0502020204030204" pitchFamily="34" charset="0"/>
              </a:rPr>
              <a:t> </a:t>
            </a:r>
            <a:r>
              <a:rPr lang="en-US" sz="3200" i="1" dirty="0">
                <a:solidFill>
                  <a:srgbClr val="7030A0"/>
                </a:solidFill>
                <a:effectLst/>
                <a:latin typeface="Times New Roman" panose="02020603050405020304" pitchFamily="18" charset="0"/>
                <a:ea typeface="Calibri" panose="020F0502020204030204" pitchFamily="34" charset="0"/>
              </a:rPr>
              <a:t>persuade</a:t>
            </a:r>
            <a:r>
              <a:rPr lang="en-US" sz="3200" i="1" spc="-150" dirty="0">
                <a:effectLst/>
                <a:latin typeface="Times New Roman" panose="02020603050405020304" pitchFamily="18" charset="0"/>
                <a:ea typeface="Calibri" panose="020F0502020204030204" pitchFamily="34" charset="0"/>
              </a:rPr>
              <a:t> </a:t>
            </a:r>
            <a:r>
              <a:rPr lang="en-US" sz="3200" dirty="0">
                <a:effectLst/>
                <a:latin typeface="Times New Roman" panose="02020603050405020304" pitchFamily="18" charset="0"/>
                <a:ea typeface="Calibri" panose="020F0502020204030204" pitchFamily="34" charset="0"/>
              </a:rPr>
              <a:t>you.</a:t>
            </a:r>
            <a:r>
              <a:rPr lang="en-US" sz="3200" spc="-145" dirty="0">
                <a:effectLst/>
                <a:latin typeface="Times New Roman" panose="02020603050405020304" pitchFamily="18" charset="0"/>
                <a:ea typeface="Calibri" panose="020F0502020204030204" pitchFamily="34" charset="0"/>
              </a:rPr>
              <a:t> </a:t>
            </a:r>
            <a:r>
              <a:rPr lang="en-US" sz="3200" dirty="0">
                <a:effectLst/>
                <a:latin typeface="Times New Roman" panose="02020603050405020304" pitchFamily="18" charset="0"/>
                <a:ea typeface="Calibri" panose="020F0502020204030204" pitchFamily="34" charset="0"/>
              </a:rPr>
              <a:t>In</a:t>
            </a:r>
            <a:r>
              <a:rPr lang="en-US" sz="3200" spc="-115" dirty="0">
                <a:effectLst/>
                <a:latin typeface="Times New Roman" panose="02020603050405020304" pitchFamily="18" charset="0"/>
                <a:ea typeface="Calibri" panose="020F0502020204030204" pitchFamily="34" charset="0"/>
              </a:rPr>
              <a:t> </a:t>
            </a:r>
            <a:r>
              <a:rPr lang="en-US" sz="3200" i="1" dirty="0">
                <a:solidFill>
                  <a:srgbClr val="7030A0"/>
                </a:solidFill>
                <a:effectLst/>
                <a:latin typeface="Times New Roman" panose="02020603050405020304" pitchFamily="18" charset="0"/>
                <a:ea typeface="Calibri" panose="020F0502020204030204" pitchFamily="34" charset="0"/>
              </a:rPr>
              <a:t>making</a:t>
            </a:r>
            <a:r>
              <a:rPr lang="en-US" sz="3200" i="1" spc="-130" dirty="0">
                <a:solidFill>
                  <a:srgbClr val="7030A0"/>
                </a:solidFill>
                <a:effectLst/>
                <a:latin typeface="Times New Roman" panose="02020603050405020304" pitchFamily="18" charset="0"/>
                <a:ea typeface="Calibri" panose="020F0502020204030204" pitchFamily="34" charset="0"/>
              </a:rPr>
              <a:t> </a:t>
            </a:r>
            <a:r>
              <a:rPr lang="en-US" sz="3200" dirty="0">
                <a:effectLst/>
                <a:latin typeface="Times New Roman" panose="02020603050405020304" pitchFamily="18" charset="0"/>
                <a:ea typeface="Calibri" panose="020F0502020204030204" pitchFamily="34" charset="0"/>
              </a:rPr>
              <a:t>a</a:t>
            </a:r>
            <a:r>
              <a:rPr lang="en-US" sz="3200" spc="-150" dirty="0">
                <a:effectLst/>
                <a:latin typeface="Times New Roman" panose="02020603050405020304" pitchFamily="18" charset="0"/>
                <a:ea typeface="Calibri" panose="020F0502020204030204" pitchFamily="34" charset="0"/>
              </a:rPr>
              <a:t> </a:t>
            </a:r>
            <a:r>
              <a:rPr lang="en-US" sz="3200" dirty="0">
                <a:effectLst/>
                <a:latin typeface="Times New Roman" panose="02020603050405020304" pitchFamily="18" charset="0"/>
                <a:ea typeface="Calibri" panose="020F0502020204030204" pitchFamily="34" charset="0"/>
              </a:rPr>
              <a:t>statement, I might </a:t>
            </a:r>
            <a:r>
              <a:rPr lang="en-US" sz="3200" i="1" dirty="0">
                <a:effectLst/>
                <a:latin typeface="Times New Roman" panose="02020603050405020304" pitchFamily="18" charset="0"/>
                <a:ea typeface="Calibri" panose="020F0502020204030204" pitchFamily="34" charset="0"/>
              </a:rPr>
              <a:t>convince </a:t>
            </a:r>
            <a:r>
              <a:rPr lang="en-US" sz="3200" dirty="0">
                <a:effectLst/>
                <a:latin typeface="Times New Roman" panose="02020603050405020304" pitchFamily="18" charset="0"/>
                <a:ea typeface="Calibri" panose="020F0502020204030204" pitchFamily="34" charset="0"/>
              </a:rPr>
              <a:t>you, by </a:t>
            </a:r>
            <a:r>
              <a:rPr lang="en-US" sz="3200" i="1" dirty="0">
                <a:solidFill>
                  <a:srgbClr val="7030A0"/>
                </a:solidFill>
                <a:effectLst/>
                <a:latin typeface="Times New Roman" panose="02020603050405020304" pitchFamily="18" charset="0"/>
                <a:ea typeface="Calibri" panose="020F0502020204030204" pitchFamily="34" charset="0"/>
              </a:rPr>
              <a:t>recounting</a:t>
            </a:r>
            <a:r>
              <a:rPr lang="en-US" sz="3200" i="1" dirty="0">
                <a:effectLst/>
                <a:latin typeface="Times New Roman" panose="02020603050405020304" pitchFamily="18" charset="0"/>
                <a:ea typeface="Calibri" panose="020F0502020204030204" pitchFamily="34" charset="0"/>
              </a:rPr>
              <a:t> </a:t>
            </a:r>
            <a:r>
              <a:rPr lang="en-US" sz="3200" dirty="0">
                <a:effectLst/>
                <a:latin typeface="Times New Roman" panose="02020603050405020304" pitchFamily="18" charset="0"/>
                <a:ea typeface="Calibri" panose="020F0502020204030204" pitchFamily="34" charset="0"/>
              </a:rPr>
              <a:t>a story, I might </a:t>
            </a:r>
            <a:r>
              <a:rPr lang="en-US" sz="3200" i="1" dirty="0">
                <a:effectLst/>
                <a:latin typeface="Times New Roman" panose="02020603050405020304" pitchFamily="18" charset="0"/>
                <a:ea typeface="Calibri" panose="020F0502020204030204" pitchFamily="34" charset="0"/>
              </a:rPr>
              <a:t>amuse </a:t>
            </a:r>
            <a:r>
              <a:rPr lang="en-US" sz="3200" dirty="0">
                <a:effectLst/>
                <a:latin typeface="Times New Roman" panose="02020603050405020304" pitchFamily="18" charset="0"/>
                <a:ea typeface="Calibri" panose="020F0502020204030204" pitchFamily="34" charset="0"/>
              </a:rPr>
              <a:t>you. In these examples, the first of each pair of verbs mentions an illocutionary act or acts, but the second verb phrase mentions the effect that the illocutionary act has on a hearer, an effect such as persuading, convincing, and getting someone to do something. Austin, the inventor of this terminology, baptized these acts that have to do with further consequences beyond linguistic communication as “perlocutionary acts.”</a:t>
            </a:r>
            <a:endParaRPr lang="en-US" sz="3200" dirty="0"/>
          </a:p>
        </p:txBody>
      </p:sp>
    </p:spTree>
    <p:extLst>
      <p:ext uri="{BB962C8B-B14F-4D97-AF65-F5344CB8AC3E}">
        <p14:creationId xmlns:p14="http://schemas.microsoft.com/office/powerpoint/2010/main" val="193229108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6EE82FE-B272-A0A9-C3AD-28E200B3B146}"/>
              </a:ext>
            </a:extLst>
          </p:cNvPr>
          <p:cNvSpPr txBox="1"/>
          <p:nvPr/>
        </p:nvSpPr>
        <p:spPr>
          <a:xfrm>
            <a:off x="0" y="0"/>
            <a:ext cx="12192000" cy="5509200"/>
          </a:xfrm>
          <a:prstGeom prst="rect">
            <a:avLst/>
          </a:prstGeom>
          <a:noFill/>
        </p:spPr>
        <p:txBody>
          <a:bodyPr wrap="square">
            <a:spAutoFit/>
          </a:bodyPr>
          <a:lstStyle/>
          <a:p>
            <a:pPr algn="just"/>
            <a:r>
              <a:rPr lang="en-US" sz="3200" b="1" i="0" u="none" strike="noStrike" baseline="0" dirty="0">
                <a:latin typeface="Times New Roman" panose="02020603050405020304" pitchFamily="18" charset="0"/>
                <a:cs typeface="Times New Roman" panose="02020603050405020304" pitchFamily="18" charset="0"/>
              </a:rPr>
              <a:t>Locutionary/Illocutionary/Perlocutionary acts: </a:t>
            </a:r>
          </a:p>
          <a:p>
            <a:pPr algn="just"/>
            <a:r>
              <a:rPr lang="en-US" sz="3200" b="0" i="0" u="none" strike="noStrike" baseline="0" dirty="0">
                <a:latin typeface="Times New Roman" panose="02020603050405020304" pitchFamily="18" charset="0"/>
                <a:cs typeface="Times New Roman" panose="02020603050405020304" pitchFamily="18" charset="0"/>
              </a:rPr>
              <a:t>This threefold distinction was adopted by Austin after he abandoned his constative-performative distinction</a:t>
            </a:r>
            <a:r>
              <a:rPr lang="en-US" sz="3200" b="1" i="0" u="none" strike="noStrike" baseline="0" dirty="0">
                <a:latin typeface="Times New Roman" panose="02020603050405020304" pitchFamily="18" charset="0"/>
                <a:cs typeface="Times New Roman" panose="02020603050405020304" pitchFamily="18" charset="0"/>
              </a:rPr>
              <a:t>. </a:t>
            </a:r>
            <a:r>
              <a:rPr lang="en-US" sz="3200" b="0" i="0" u="none" strike="noStrike" baseline="0" dirty="0">
                <a:latin typeface="Times New Roman" panose="02020603050405020304" pitchFamily="18" charset="0"/>
                <a:cs typeface="Times New Roman" panose="02020603050405020304" pitchFamily="18" charset="0"/>
              </a:rPr>
              <a:t>A locutionary act is the act of saying something, characterized by him as a matter of uttering certain words 'with a certain “meaning” in the </a:t>
            </a:r>
            <a:r>
              <a:rPr lang="en-US" sz="3200" b="0" i="0" u="none" strike="noStrike" baseline="0" dirty="0" err="1">
                <a:latin typeface="Times New Roman" panose="02020603050405020304" pitchFamily="18" charset="0"/>
                <a:cs typeface="Times New Roman" panose="02020603050405020304" pitchFamily="18" charset="0"/>
              </a:rPr>
              <a:t>favourite</a:t>
            </a:r>
            <a:r>
              <a:rPr lang="en-US" sz="3200" b="0" i="0" u="none" strike="noStrike" baseline="0" dirty="0">
                <a:latin typeface="Times New Roman" panose="02020603050405020304" pitchFamily="18" charset="0"/>
                <a:cs typeface="Times New Roman" panose="02020603050405020304" pitchFamily="18" charset="0"/>
              </a:rPr>
              <a:t> philosophical sense of that word, i.e. with a certain sense and with a certain reference’: (Austin, </a:t>
            </a:r>
            <a:r>
              <a:rPr lang="en-US" sz="3200" b="0" i="1" u="none" strike="noStrike" baseline="0" dirty="0">
                <a:latin typeface="Times New Roman" panose="02020603050405020304" pitchFamily="18" charset="0"/>
                <a:cs typeface="Times New Roman" panose="02020603050405020304" pitchFamily="18" charset="0"/>
              </a:rPr>
              <a:t>How to Do Things with Words</a:t>
            </a:r>
            <a:r>
              <a:rPr lang="en-US" sz="3200" b="0" i="0" u="none" strike="noStrike" baseline="0" dirty="0">
                <a:latin typeface="Times New Roman" panose="02020603050405020304" pitchFamily="18" charset="0"/>
                <a:cs typeface="Times New Roman" panose="02020603050405020304" pitchFamily="18" charset="0"/>
              </a:rPr>
              <a:t>, p. 94). An illocutionary act is the performance of an act </a:t>
            </a:r>
            <a:r>
              <a:rPr lang="en-US" sz="3200" b="0" i="1" u="none" strike="noStrike" baseline="0" dirty="0">
                <a:latin typeface="Times New Roman" panose="02020603050405020304" pitchFamily="18" charset="0"/>
                <a:cs typeface="Times New Roman" panose="02020603050405020304" pitchFamily="18" charset="0"/>
              </a:rPr>
              <a:t>in </a:t>
            </a:r>
            <a:r>
              <a:rPr lang="en-US" sz="3200" b="0" i="0" u="none" strike="noStrike" baseline="0" dirty="0">
                <a:latin typeface="Times New Roman" panose="02020603050405020304" pitchFamily="18" charset="0"/>
                <a:cs typeface="Times New Roman" panose="02020603050405020304" pitchFamily="18" charset="0"/>
              </a:rPr>
              <a:t>saying something in this sense, such as giving a warning, making a promise, etc. A perlocutionary act is an act - such as drawing someone’s attention to a bull or reassuring them – performed </a:t>
            </a:r>
            <a:r>
              <a:rPr lang="en-US" sz="3200" b="0" i="1" u="none" strike="noStrike" baseline="0" dirty="0">
                <a:latin typeface="Times New Roman" panose="02020603050405020304" pitchFamily="18" charset="0"/>
                <a:cs typeface="Times New Roman" panose="02020603050405020304" pitchFamily="18" charset="0"/>
              </a:rPr>
              <a:t>through </a:t>
            </a:r>
            <a:r>
              <a:rPr lang="en-US" sz="3200" b="0" i="0" u="none" strike="noStrike" baseline="0" dirty="0">
                <a:latin typeface="Times New Roman" panose="02020603050405020304" pitchFamily="18" charset="0"/>
                <a:cs typeface="Times New Roman" panose="02020603050405020304" pitchFamily="18" charset="0"/>
              </a:rPr>
              <a:t>or </a:t>
            </a:r>
            <a:r>
              <a:rPr lang="en-US" sz="3200" b="0" i="1" u="none" strike="noStrike" baseline="0" dirty="0">
                <a:latin typeface="Times New Roman" panose="02020603050405020304" pitchFamily="18" charset="0"/>
                <a:cs typeface="Times New Roman" panose="02020603050405020304" pitchFamily="18" charset="0"/>
              </a:rPr>
              <a:t>by </a:t>
            </a:r>
            <a:r>
              <a:rPr lang="en-US" sz="3200" b="0" i="0" u="none" strike="noStrike" baseline="0" dirty="0">
                <a:latin typeface="Times New Roman" panose="02020603050405020304" pitchFamily="18" charset="0"/>
                <a:cs typeface="Times New Roman" panose="02020603050405020304" pitchFamily="18" charset="0"/>
              </a:rPr>
              <a:t>the illocutionary act (the actual result of </a:t>
            </a:r>
            <a:r>
              <a:rPr lang="en-US" sz="3200" dirty="0">
                <a:latin typeface="Times New Roman" panose="02020603050405020304" pitchFamily="18" charset="0"/>
                <a:cs typeface="Times New Roman" panose="02020603050405020304" pitchFamily="18" charset="0"/>
              </a:rPr>
              <a:t>an</a:t>
            </a:r>
            <a:r>
              <a:rPr lang="en-US" sz="3200" b="0" i="0" u="none" strike="noStrike" baseline="0" dirty="0">
                <a:latin typeface="Times New Roman" panose="02020603050405020304" pitchFamily="18" charset="0"/>
                <a:cs typeface="Times New Roman" panose="02020603050405020304" pitchFamily="18" charset="0"/>
              </a:rPr>
              <a:t> illocutionary act)</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07508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FE4EFF0-1A1D-5F20-A1C4-7882D6D4004E}"/>
              </a:ext>
            </a:extLst>
          </p:cNvPr>
          <p:cNvSpPr txBox="1"/>
          <p:nvPr/>
        </p:nvSpPr>
        <p:spPr>
          <a:xfrm>
            <a:off x="0" y="0"/>
            <a:ext cx="12192000" cy="5016758"/>
          </a:xfrm>
          <a:prstGeom prst="rect">
            <a:avLst/>
          </a:prstGeom>
          <a:noFill/>
        </p:spPr>
        <p:txBody>
          <a:bodyPr wrap="square">
            <a:spAutoFit/>
          </a:bodyPr>
          <a:lstStyle/>
          <a:p>
            <a:pPr algn="just"/>
            <a:r>
              <a:rPr lang="en-US" sz="4000" dirty="0">
                <a:latin typeface="Times New Roman" panose="02020603050405020304" pitchFamily="18" charset="0"/>
                <a:ea typeface="Calibri" panose="020F0502020204030204" pitchFamily="34" charset="0"/>
              </a:rPr>
              <a:t>Thus, when the speaker says something, and means something by what he says, and tries to communicate what he means to a hearer, he will, if successful, have performed an illocutionary act. </a:t>
            </a:r>
            <a:r>
              <a:rPr lang="en-US" sz="4000" dirty="0">
                <a:effectLst/>
                <a:latin typeface="Times New Roman" panose="02020603050405020304" pitchFamily="18" charset="0"/>
                <a:ea typeface="Calibri" panose="020F0502020204030204" pitchFamily="34" charset="0"/>
              </a:rPr>
              <a:t>Typically, illocutionary acts have to be performed intentionally, whereas perlocutionary acts may or may not be intentional. Illocutionary acts, meaning, and intention are all tied together.</a:t>
            </a:r>
            <a:endParaRPr lang="en-US" sz="4000" dirty="0"/>
          </a:p>
        </p:txBody>
      </p:sp>
    </p:spTree>
    <p:extLst>
      <p:ext uri="{BB962C8B-B14F-4D97-AF65-F5344CB8AC3E}">
        <p14:creationId xmlns:p14="http://schemas.microsoft.com/office/powerpoint/2010/main" val="161685687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D4462A2-A7D6-7D0A-1594-596AD631DB2A}"/>
              </a:ext>
            </a:extLst>
          </p:cNvPr>
          <p:cNvSpPr txBox="1"/>
          <p:nvPr/>
        </p:nvSpPr>
        <p:spPr>
          <a:xfrm>
            <a:off x="0" y="0"/>
            <a:ext cx="12192000" cy="5385770"/>
          </a:xfrm>
          <a:prstGeom prst="rect">
            <a:avLst/>
          </a:prstGeom>
          <a:noFill/>
        </p:spPr>
        <p:txBody>
          <a:bodyPr wrap="square">
            <a:spAutoFit/>
          </a:bodyPr>
          <a:lstStyle/>
          <a:p>
            <a:pPr marL="0" marR="0" algn="just">
              <a:lnSpc>
                <a:spcPct val="107000"/>
              </a:lnSpc>
              <a:spcBef>
                <a:spcPts val="0"/>
              </a:spcBef>
              <a:spcAft>
                <a:spcPts val="800"/>
              </a:spcAft>
            </a:pPr>
            <a:r>
              <a:rPr lang="en-US" sz="4000" dirty="0">
                <a:effectLst/>
                <a:latin typeface="Times New Roman" panose="02020603050405020304" pitchFamily="18" charset="0"/>
                <a:ea typeface="Calibri" panose="020F0502020204030204" pitchFamily="34" charset="0"/>
                <a:cs typeface="Times New Roman" panose="02020603050405020304" pitchFamily="18" charset="0"/>
              </a:rPr>
              <a:t>In addition to the distinction between illocutionary and perlocutionary acts, we also need a distinction within the illocutionary act between </a:t>
            </a:r>
            <a:r>
              <a:rPr lang="en-US" sz="40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the content of the act </a:t>
            </a:r>
            <a:r>
              <a:rPr lang="en-US" sz="4000" dirty="0">
                <a:effectLst/>
                <a:latin typeface="Times New Roman" panose="02020603050405020304" pitchFamily="18" charset="0"/>
                <a:ea typeface="Calibri" panose="020F0502020204030204" pitchFamily="34" charset="0"/>
                <a:cs typeface="Times New Roman" panose="02020603050405020304" pitchFamily="18" charset="0"/>
              </a:rPr>
              <a:t>and the </a:t>
            </a:r>
            <a:r>
              <a:rPr lang="en-US" sz="40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type of act </a:t>
            </a:r>
            <a:r>
              <a:rPr lang="en-US" sz="4000" dirty="0">
                <a:effectLst/>
                <a:latin typeface="Times New Roman" panose="02020603050405020304" pitchFamily="18" charset="0"/>
                <a:ea typeface="Calibri" panose="020F0502020204030204" pitchFamily="34" charset="0"/>
                <a:cs typeface="Times New Roman" panose="02020603050405020304" pitchFamily="18" charset="0"/>
              </a:rPr>
              <a:t>it is. To take an obvious example, consider the differences between utterances of these</a:t>
            </a:r>
            <a:r>
              <a:rPr lang="en-US" sz="4000" spc="-5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000" dirty="0">
                <a:effectLst/>
                <a:latin typeface="Times New Roman" panose="02020603050405020304" pitchFamily="18" charset="0"/>
                <a:ea typeface="Calibri" panose="020F0502020204030204" pitchFamily="34" charset="0"/>
                <a:cs typeface="Times New Roman" panose="02020603050405020304" pitchFamily="18" charset="0"/>
              </a:rPr>
              <a:t>sentences:</a:t>
            </a:r>
            <a:endParaRPr lang="en-US" sz="4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54330" marR="1748790" indent="3175">
              <a:lnSpc>
                <a:spcPct val="105000"/>
              </a:lnSpc>
              <a:spcBef>
                <a:spcPts val="0"/>
              </a:spcBef>
              <a:spcAft>
                <a:spcPts val="0"/>
              </a:spcAft>
            </a:pPr>
            <a:r>
              <a:rPr lang="en-US" sz="4000" i="1"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Please </a:t>
            </a:r>
            <a:r>
              <a:rPr lang="en-US" sz="4000" b="1" i="1"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leave the room. </a:t>
            </a:r>
          </a:p>
          <a:p>
            <a:pPr marL="354330" marR="1748790" indent="3175">
              <a:lnSpc>
                <a:spcPct val="105000"/>
              </a:lnSpc>
              <a:spcBef>
                <a:spcPts val="0"/>
              </a:spcBef>
              <a:spcAft>
                <a:spcPts val="0"/>
              </a:spcAft>
            </a:pPr>
            <a:r>
              <a:rPr lang="en-US" sz="4000" i="1"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Will you </a:t>
            </a:r>
            <a:r>
              <a:rPr lang="en-US" sz="4000" b="1" i="1"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leave the room</a:t>
            </a:r>
            <a:r>
              <a:rPr lang="en-US" sz="4000" i="1"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 </a:t>
            </a:r>
          </a:p>
          <a:p>
            <a:pPr marL="354330" marR="1748790" indent="3175">
              <a:lnSpc>
                <a:spcPct val="105000"/>
              </a:lnSpc>
              <a:spcBef>
                <a:spcPts val="0"/>
              </a:spcBef>
              <a:spcAft>
                <a:spcPts val="0"/>
              </a:spcAft>
            </a:pPr>
            <a:r>
              <a:rPr lang="en-US" sz="4000" i="1"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You will </a:t>
            </a:r>
            <a:r>
              <a:rPr lang="en-US" sz="4000" b="1" i="1"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leave the room</a:t>
            </a:r>
            <a:r>
              <a:rPr lang="en-US" sz="4000" i="1"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15118811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DC342F8-D6DA-55C8-A974-4004A3542F24}"/>
              </a:ext>
            </a:extLst>
          </p:cNvPr>
          <p:cNvSpPr txBox="1"/>
          <p:nvPr/>
        </p:nvSpPr>
        <p:spPr>
          <a:xfrm>
            <a:off x="0" y="0"/>
            <a:ext cx="12192000" cy="4281878"/>
          </a:xfrm>
          <a:prstGeom prst="rect">
            <a:avLst/>
          </a:prstGeom>
          <a:noFill/>
        </p:spPr>
        <p:txBody>
          <a:bodyPr wrap="square">
            <a:spAutoFit/>
          </a:bodyPr>
          <a:lstStyle/>
          <a:p>
            <a:pPr marL="0" marR="0" algn="just">
              <a:lnSpc>
                <a:spcPct val="107000"/>
              </a:lnSpc>
              <a:spcBef>
                <a:spcPts val="0"/>
              </a:spcBef>
              <a:spcAft>
                <a:spcPts val="800"/>
              </a:spcAf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These utterances have something in common, namely, each contains an expression of the proposition that </a:t>
            </a:r>
            <a:r>
              <a:rPr lang="en-US" sz="3200" i="1" dirty="0">
                <a:effectLst/>
                <a:latin typeface="Times New Roman" panose="02020603050405020304" pitchFamily="18" charset="0"/>
                <a:ea typeface="Calibri" panose="020F0502020204030204" pitchFamily="34" charset="0"/>
                <a:cs typeface="Times New Roman" panose="02020603050405020304" pitchFamily="18" charset="0"/>
              </a:rPr>
              <a:t>you will leave the room </a:t>
            </a:r>
            <a:r>
              <a:rPr lang="en-US" sz="1600" dirty="0">
                <a:solidFill>
                  <a:srgbClr val="00B0F0"/>
                </a:solidFill>
                <a:effectLst/>
                <a:latin typeface="Times New Roman" panose="02020603050405020304" pitchFamily="18" charset="0"/>
                <a:ea typeface="Calibri" panose="020F0502020204030204" pitchFamily="34" charset="0"/>
                <a:cs typeface="Times New Roman" panose="02020603050405020304" pitchFamily="18" charset="0"/>
              </a:rPr>
              <a:t>(content of the act). </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In each utterance, however, there is something different from the other utterances </a:t>
            </a:r>
            <a:r>
              <a:rPr lang="en-US" sz="1600" dirty="0">
                <a:solidFill>
                  <a:srgbClr val="00B0F0"/>
                </a:solidFill>
                <a:effectLst/>
                <a:latin typeface="Times New Roman" panose="02020603050405020304" pitchFamily="18" charset="0"/>
                <a:ea typeface="Calibri" panose="020F0502020204030204" pitchFamily="34" charset="0"/>
                <a:cs typeface="Times New Roman" panose="02020603050405020304" pitchFamily="18" charset="0"/>
              </a:rPr>
              <a:t>(type of act)</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The first is a </a:t>
            </a:r>
            <a:r>
              <a:rPr lang="en-US" sz="3200" i="1" dirty="0">
                <a:effectLst/>
                <a:latin typeface="Times New Roman" panose="02020603050405020304" pitchFamily="18" charset="0"/>
                <a:ea typeface="Calibri" panose="020F0502020204030204" pitchFamily="34" charset="0"/>
                <a:cs typeface="Times New Roman" panose="02020603050405020304" pitchFamily="18" charset="0"/>
              </a:rPr>
              <a:t>request</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the second a </a:t>
            </a:r>
            <a:r>
              <a:rPr lang="en-US" sz="3200" i="1" dirty="0">
                <a:effectLst/>
                <a:latin typeface="Times New Roman" panose="02020603050405020304" pitchFamily="18" charset="0"/>
                <a:ea typeface="Calibri" panose="020F0502020204030204" pitchFamily="34" charset="0"/>
                <a:cs typeface="Times New Roman" panose="02020603050405020304" pitchFamily="18" charset="0"/>
              </a:rPr>
              <a:t>question</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the third a </a:t>
            </a:r>
            <a:r>
              <a:rPr lang="en-US" sz="3200" i="1" dirty="0">
                <a:effectLst/>
                <a:latin typeface="Times New Roman" panose="02020603050405020304" pitchFamily="18" charset="0"/>
                <a:ea typeface="Calibri" panose="020F0502020204030204" pitchFamily="34" charset="0"/>
                <a:cs typeface="Times New Roman" panose="02020603050405020304" pitchFamily="18" charset="0"/>
              </a:rPr>
              <a:t>prediction</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We need a distinction between the content of an illocutionary act and the illocutionary </a:t>
            </a:r>
            <a:r>
              <a:rPr lang="en-US" sz="3200" i="1" dirty="0">
                <a:effectLst/>
                <a:latin typeface="Times New Roman" panose="02020603050405020304" pitchFamily="18" charset="0"/>
                <a:ea typeface="Calibri" panose="020F0502020204030204" pitchFamily="34" charset="0"/>
                <a:cs typeface="Times New Roman" panose="02020603050405020304" pitchFamily="18" charset="0"/>
              </a:rPr>
              <a:t>force </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it has or-what is the same thing-the type of illocutionary act it is. The question now is this: How do we get from the sounds we make to the illocutionary act?</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1809670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AC86757-D9AD-DEE8-26D5-0D517339725A}"/>
              </a:ext>
            </a:extLst>
          </p:cNvPr>
          <p:cNvSpPr txBox="1"/>
          <p:nvPr/>
        </p:nvSpPr>
        <p:spPr>
          <a:xfrm>
            <a:off x="0" y="0"/>
            <a:ext cx="12192000" cy="4201856"/>
          </a:xfrm>
          <a:prstGeom prst="rect">
            <a:avLst/>
          </a:prstGeom>
          <a:noFill/>
        </p:spPr>
        <p:txBody>
          <a:bodyPr wrap="square">
            <a:spAutoFit/>
          </a:bodyPr>
          <a:lstStyle/>
          <a:p>
            <a:pPr marL="0" marR="0" algn="just">
              <a:lnSpc>
                <a:spcPct val="107000"/>
              </a:lnSpc>
              <a:spcBef>
                <a:spcPts val="0"/>
              </a:spcBef>
              <a:spcAft>
                <a:spcPts val="800"/>
              </a:spcAft>
            </a:pP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The answer to that question will give us an analysis</a:t>
            </a:r>
            <a:r>
              <a:rPr lang="en-US" sz="3600" spc="-4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of</a:t>
            </a:r>
            <a:r>
              <a:rPr lang="en-US" sz="3600" spc="-5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the</a:t>
            </a:r>
            <a:r>
              <a:rPr lang="en-US" sz="3600" spc="-5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concept</a:t>
            </a:r>
            <a:r>
              <a:rPr lang="en-US" sz="3600" spc="-2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of</a:t>
            </a:r>
            <a:r>
              <a:rPr lang="en-US" sz="3600" spc="-5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meaning</a:t>
            </a:r>
            <a:r>
              <a:rPr lang="en-US" sz="3600" spc="-5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that</a:t>
            </a:r>
            <a:r>
              <a:rPr lang="en-US" sz="3600" spc="-8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we</a:t>
            </a:r>
            <a:r>
              <a:rPr lang="en-US" sz="3600" spc="-5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can</a:t>
            </a:r>
            <a:r>
              <a:rPr lang="en-US" sz="3600" spc="-3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use</a:t>
            </a:r>
            <a:r>
              <a:rPr lang="en-US" sz="3600" spc="-6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to</a:t>
            </a:r>
            <a:r>
              <a:rPr lang="en-US" sz="3600" spc="-7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explain how</a:t>
            </a:r>
            <a:r>
              <a:rPr lang="en-US" sz="3600" spc="-9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language</a:t>
            </a:r>
            <a:r>
              <a:rPr lang="en-US" sz="3600"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relates</a:t>
            </a:r>
            <a:r>
              <a:rPr lang="en-US" sz="3600" spc="-4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to</a:t>
            </a:r>
            <a:r>
              <a:rPr lang="en-US" sz="36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reality.</a:t>
            </a:r>
            <a:r>
              <a:rPr lang="en-US" sz="3600" spc="-5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Language</a:t>
            </a:r>
            <a:r>
              <a:rPr lang="en-US" sz="3600"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relates</a:t>
            </a:r>
            <a:r>
              <a:rPr lang="en-US" sz="3600" spc="-6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to</a:t>
            </a:r>
            <a:r>
              <a:rPr lang="en-US" sz="3600" spc="-7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reality</a:t>
            </a:r>
            <a:r>
              <a:rPr lang="en-US" sz="3600" spc="-8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in virtue of meaning, but meaning is the property that turns mere utterances into illocutionary acts. Illocutionary acts</a:t>
            </a:r>
            <a:r>
              <a:rPr lang="en-US" sz="3600" spc="-13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are meaningful in a very special sense of the word, and it is that type of meaningfulness that enables language to relate to reality.</a:t>
            </a:r>
          </a:p>
        </p:txBody>
      </p:sp>
    </p:spTree>
    <p:extLst>
      <p:ext uri="{BB962C8B-B14F-4D97-AF65-F5344CB8AC3E}">
        <p14:creationId xmlns:p14="http://schemas.microsoft.com/office/powerpoint/2010/main" val="155626033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BFCCDBA-6F1D-9026-6644-849B29268959}"/>
              </a:ext>
            </a:extLst>
          </p:cNvPr>
          <p:cNvSpPr txBox="1"/>
          <p:nvPr/>
        </p:nvSpPr>
        <p:spPr>
          <a:xfrm>
            <a:off x="0" y="0"/>
            <a:ext cx="12192000" cy="1830694"/>
          </a:xfrm>
          <a:prstGeom prst="rect">
            <a:avLst/>
          </a:prstGeom>
          <a:noFill/>
        </p:spPr>
        <p:txBody>
          <a:bodyPr wrap="square">
            <a:spAutoFit/>
          </a:bodyPr>
          <a:lstStyle/>
          <a:p>
            <a:pPr algn="just">
              <a:lnSpc>
                <a:spcPct val="107000"/>
              </a:lnSpc>
              <a:spcAft>
                <a:spcPts val="800"/>
              </a:spcAft>
            </a:pPr>
            <a:r>
              <a:rPr lang="en-GB" sz="3600" dirty="0">
                <a:latin typeface="Times New Roman" panose="02020603050405020304" pitchFamily="18" charset="0"/>
                <a:ea typeface="Calibri" panose="020F0502020204030204" pitchFamily="34" charset="0"/>
                <a:cs typeface="Times New Roman" panose="02020603050405020304" pitchFamily="18" charset="0"/>
              </a:rPr>
              <a:t>Searle took his former teacher’s notion of </a:t>
            </a:r>
            <a:r>
              <a:rPr lang="en-GB" sz="3600" i="1" dirty="0">
                <a:latin typeface="Times New Roman" panose="02020603050405020304" pitchFamily="18" charset="0"/>
                <a:ea typeface="Calibri" panose="020F0502020204030204" pitchFamily="34" charset="0"/>
                <a:cs typeface="Times New Roman" panose="02020603050405020304" pitchFamily="18" charset="0"/>
              </a:rPr>
              <a:t>illocutionary acts, </a:t>
            </a:r>
            <a:r>
              <a:rPr lang="en-GB" sz="3600" dirty="0">
                <a:latin typeface="Times New Roman" panose="02020603050405020304" pitchFamily="18" charset="0"/>
                <a:ea typeface="Calibri" panose="020F0502020204030204" pitchFamily="34" charset="0"/>
                <a:cs typeface="Times New Roman" panose="02020603050405020304" pitchFamily="18" charset="0"/>
              </a:rPr>
              <a:t>but </a:t>
            </a:r>
            <a:r>
              <a:rPr lang="en-GB" sz="3600" dirty="0">
                <a:effectLst/>
                <a:latin typeface="Times New Roman" panose="02020603050405020304" pitchFamily="18" charset="0"/>
                <a:ea typeface="Calibri" panose="020F0502020204030204" pitchFamily="34" charset="0"/>
                <a:cs typeface="Times New Roman" panose="02020603050405020304" pitchFamily="18" charset="0"/>
              </a:rPr>
              <a:t>then, he </a:t>
            </a:r>
            <a:r>
              <a:rPr lang="en-GB" sz="3600" dirty="0">
                <a:latin typeface="Times New Roman" panose="02020603050405020304" pitchFamily="18" charset="0"/>
                <a:ea typeface="Calibri" panose="020F0502020204030204" pitchFamily="34" charset="0"/>
                <a:cs typeface="Times New Roman" panose="02020603050405020304" pitchFamily="18" charset="0"/>
              </a:rPr>
              <a:t>preferred the </a:t>
            </a:r>
            <a:r>
              <a:rPr lang="en-GB" sz="3600" dirty="0">
                <a:effectLst/>
                <a:latin typeface="Times New Roman" panose="02020603050405020304" pitchFamily="18" charset="0"/>
                <a:ea typeface="Calibri" panose="020F0502020204030204" pitchFamily="34" charset="0"/>
                <a:cs typeface="Times New Roman" panose="02020603050405020304" pitchFamily="18" charset="0"/>
              </a:rPr>
              <a:t>expression </a:t>
            </a:r>
            <a:r>
              <a:rPr lang="en-GB" sz="3600" i="1" dirty="0">
                <a:effectLst/>
                <a:latin typeface="Times New Roman" panose="02020603050405020304" pitchFamily="18" charset="0"/>
                <a:ea typeface="Calibri" panose="020F0502020204030204" pitchFamily="34" charset="0"/>
                <a:cs typeface="Times New Roman" panose="02020603050405020304" pitchFamily="18" charset="0"/>
              </a:rPr>
              <a:t>speech acts </a:t>
            </a:r>
            <a:r>
              <a:rPr lang="en-GB" sz="3600" dirty="0">
                <a:latin typeface="Times New Roman" panose="02020603050405020304" pitchFamily="18" charset="0"/>
                <a:ea typeface="Calibri" panose="020F0502020204030204" pitchFamily="34" charset="0"/>
                <a:cs typeface="Times New Roman" panose="02020603050405020304" pitchFamily="18" charset="0"/>
              </a:rPr>
              <a:t>to signify the same </a:t>
            </a:r>
            <a:r>
              <a:rPr lang="en-GB" sz="3600" dirty="0">
                <a:effectLst/>
                <a:latin typeface="Times New Roman" panose="02020603050405020304" pitchFamily="18" charset="0"/>
                <a:ea typeface="Calibri" panose="020F0502020204030204" pitchFamily="34" charset="0"/>
                <a:cs typeface="Times New Roman" panose="02020603050405020304" pitchFamily="18" charset="0"/>
              </a:rPr>
              <a:t>notion as illocutionary acts, and he developed it in detail. </a:t>
            </a:r>
            <a:endParaRPr lang="en-US" sz="36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1842665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1AF9C5-0C1A-F2EC-BC19-EC451FD763B3}"/>
              </a:ext>
            </a:extLst>
          </p:cNvPr>
          <p:cNvSpPr txBox="1"/>
          <p:nvPr/>
        </p:nvSpPr>
        <p:spPr>
          <a:xfrm>
            <a:off x="0" y="0"/>
            <a:ext cx="12192000" cy="5632311"/>
          </a:xfrm>
          <a:prstGeom prst="rect">
            <a:avLst/>
          </a:prstGeom>
          <a:noFill/>
        </p:spPr>
        <p:txBody>
          <a:bodyPr wrap="square">
            <a:spAutoFit/>
          </a:bodyPr>
          <a:lstStyle/>
          <a:p>
            <a:pPr algn="just"/>
            <a:r>
              <a:rPr lang="en-GB" sz="3600" dirty="0">
                <a:effectLst/>
                <a:latin typeface="Times New Roman" panose="02020603050405020304" pitchFamily="18" charset="0"/>
                <a:ea typeface="Calibri" panose="020F0502020204030204" pitchFamily="34" charset="0"/>
              </a:rPr>
              <a:t>Speech acts then, for Searle, would mean acts which are produced in ordinary speech circumstances. Like Austin, Searle’s approach in examining these acts entails “a treatment of the speaker’s meaning as a matter of his </a:t>
            </a:r>
            <a:r>
              <a:rPr lang="en-GB" sz="3600" dirty="0">
                <a:solidFill>
                  <a:srgbClr val="FF0000"/>
                </a:solidFill>
                <a:effectLst/>
                <a:latin typeface="Times New Roman" panose="02020603050405020304" pitchFamily="18" charset="0"/>
                <a:ea typeface="Calibri" panose="020F0502020204030204" pitchFamily="34" charset="0"/>
              </a:rPr>
              <a:t>intentions</a:t>
            </a:r>
            <a:r>
              <a:rPr lang="en-GB" sz="3600" dirty="0">
                <a:effectLst/>
                <a:latin typeface="Times New Roman" panose="02020603050405020304" pitchFamily="18" charset="0"/>
                <a:ea typeface="Calibri" panose="020F0502020204030204" pitchFamily="34" charset="0"/>
              </a:rPr>
              <a:t> in performing an illocutionary act”. And as such, the argument here is that “speaking a language is performing illocutionary acts with certain intentions, according to constitutive rules. Therefore, engaging in speech acts leads to a generation of what Searle calls institutional facts in a sense that the speaker imposes his intrinsic </a:t>
            </a:r>
            <a:r>
              <a:rPr lang="en-GB" sz="3600" i="1" dirty="0">
                <a:effectLst/>
                <a:latin typeface="Times New Roman" panose="02020603050405020304" pitchFamily="18" charset="0"/>
                <a:ea typeface="Calibri" panose="020F0502020204030204" pitchFamily="34" charset="0"/>
              </a:rPr>
              <a:t>intentionality</a:t>
            </a:r>
            <a:r>
              <a:rPr lang="en-GB" sz="3600" dirty="0">
                <a:effectLst/>
                <a:latin typeface="Times New Roman" panose="02020603050405020304" pitchFamily="18" charset="0"/>
                <a:ea typeface="Calibri" panose="020F0502020204030204" pitchFamily="34" charset="0"/>
              </a:rPr>
              <a:t> on the utterances. </a:t>
            </a:r>
            <a:endParaRPr lang="en-US" sz="3600" i="1" dirty="0">
              <a:solidFill>
                <a:srgbClr val="FF0000"/>
              </a:solidFill>
            </a:endParaRPr>
          </a:p>
        </p:txBody>
      </p:sp>
    </p:spTree>
    <p:extLst>
      <p:ext uri="{BB962C8B-B14F-4D97-AF65-F5344CB8AC3E}">
        <p14:creationId xmlns:p14="http://schemas.microsoft.com/office/powerpoint/2010/main" val="320849276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7885407-92A1-61AC-8D2B-A849DB4AFA3B}"/>
              </a:ext>
            </a:extLst>
          </p:cNvPr>
          <p:cNvSpPr txBox="1"/>
          <p:nvPr/>
        </p:nvSpPr>
        <p:spPr>
          <a:xfrm>
            <a:off x="0" y="0"/>
            <a:ext cx="12192000" cy="6186309"/>
          </a:xfrm>
          <a:prstGeom prst="rect">
            <a:avLst/>
          </a:prstGeom>
          <a:noFill/>
        </p:spPr>
        <p:txBody>
          <a:bodyPr wrap="square">
            <a:spAutoFit/>
          </a:bodyPr>
          <a:lstStyle/>
          <a:p>
            <a:pPr algn="just"/>
            <a:r>
              <a:rPr lang="en-GB" sz="3600" dirty="0">
                <a:effectLst/>
                <a:latin typeface="Times New Roman" panose="02020603050405020304" pitchFamily="18" charset="0"/>
                <a:ea typeface="Calibri" panose="020F0502020204030204" pitchFamily="34" charset="0"/>
              </a:rPr>
              <a:t>Searle approaches the reality of speech acts by identifying the proper expressions and kinds of speech acts in which he talks of </a:t>
            </a:r>
            <a:r>
              <a:rPr lang="en-GB" sz="3600" dirty="0">
                <a:solidFill>
                  <a:srgbClr val="FF0000"/>
                </a:solidFill>
                <a:effectLst/>
                <a:latin typeface="Times New Roman" panose="02020603050405020304" pitchFamily="18" charset="0"/>
                <a:ea typeface="Calibri" panose="020F0502020204030204" pitchFamily="34" charset="0"/>
              </a:rPr>
              <a:t>utterance acts</a:t>
            </a:r>
            <a:r>
              <a:rPr lang="en-GB" sz="3600" dirty="0">
                <a:effectLst/>
                <a:latin typeface="Times New Roman" panose="02020603050405020304" pitchFamily="18" charset="0"/>
                <a:ea typeface="Calibri" panose="020F0502020204030204" pitchFamily="34" charset="0"/>
              </a:rPr>
              <a:t>, </a:t>
            </a:r>
            <a:r>
              <a:rPr lang="en-GB" sz="3600" dirty="0">
                <a:solidFill>
                  <a:srgbClr val="7030A0"/>
                </a:solidFill>
                <a:effectLst/>
                <a:latin typeface="Times New Roman" panose="02020603050405020304" pitchFamily="18" charset="0"/>
                <a:ea typeface="Calibri" panose="020F0502020204030204" pitchFamily="34" charset="0"/>
              </a:rPr>
              <a:t>propositional acts </a:t>
            </a:r>
            <a:r>
              <a:rPr lang="en-GB" sz="3600" dirty="0">
                <a:effectLst/>
                <a:latin typeface="Times New Roman" panose="02020603050405020304" pitchFamily="18" charset="0"/>
                <a:ea typeface="Calibri" panose="020F0502020204030204" pitchFamily="34" charset="0"/>
              </a:rPr>
              <a:t>and </a:t>
            </a:r>
            <a:r>
              <a:rPr lang="en-GB" sz="3600" dirty="0">
                <a:solidFill>
                  <a:srgbClr val="FF0000"/>
                </a:solidFill>
                <a:effectLst/>
                <a:latin typeface="Times New Roman" panose="02020603050405020304" pitchFamily="18" charset="0"/>
                <a:ea typeface="Calibri" panose="020F0502020204030204" pitchFamily="34" charset="0"/>
              </a:rPr>
              <a:t>illocutionary acts</a:t>
            </a:r>
            <a:r>
              <a:rPr lang="en-GB" sz="3600" dirty="0">
                <a:effectLst/>
                <a:latin typeface="Times New Roman" panose="02020603050405020304" pitchFamily="18" charset="0"/>
                <a:ea typeface="Calibri" panose="020F0502020204030204" pitchFamily="34" charset="0"/>
              </a:rPr>
              <a:t>. To these, he adds </a:t>
            </a:r>
            <a:r>
              <a:rPr lang="en-GB" sz="3600" dirty="0">
                <a:solidFill>
                  <a:srgbClr val="FF0000"/>
                </a:solidFill>
                <a:effectLst/>
                <a:latin typeface="Times New Roman" panose="02020603050405020304" pitchFamily="18" charset="0"/>
                <a:ea typeface="Calibri" panose="020F0502020204030204" pitchFamily="34" charset="0"/>
              </a:rPr>
              <a:t>perlocutionary acts</a:t>
            </a:r>
            <a:r>
              <a:rPr lang="en-GB" sz="3600" dirty="0">
                <a:effectLst/>
                <a:latin typeface="Times New Roman" panose="02020603050405020304" pitchFamily="18" charset="0"/>
                <a:ea typeface="Calibri" panose="020F0502020204030204" pitchFamily="34" charset="0"/>
              </a:rPr>
              <a:t>. In uttering certain words in an orderly way, one performs utterance acts. These words, however, do not necessarily have to be multiple and semantically thought of, for example, if one says, </a:t>
            </a:r>
            <a:r>
              <a:rPr lang="en-GB" sz="3600" i="1" dirty="0" err="1">
                <a:effectLst/>
                <a:latin typeface="Times New Roman" panose="02020603050405020304" pitchFamily="18" charset="0"/>
                <a:ea typeface="Calibri" panose="020F0502020204030204" pitchFamily="34" charset="0"/>
              </a:rPr>
              <a:t>ooops</a:t>
            </a:r>
            <a:r>
              <a:rPr lang="en-GB" sz="3600" dirty="0">
                <a:effectLst/>
                <a:latin typeface="Times New Roman" panose="02020603050405020304" pitchFamily="18" charset="0"/>
                <a:ea typeface="Calibri" panose="020F0502020204030204" pitchFamily="34" charset="0"/>
              </a:rPr>
              <a:t>, it is an utterance act although it may have no semantic implications. In uttering words, the uttered words may refer to an entity and may at the same time predicate it. This referring or predicating of some entity is what Searle envisages as performing of propositional acts. </a:t>
            </a:r>
            <a:endParaRPr lang="en-US" sz="3600" dirty="0"/>
          </a:p>
        </p:txBody>
      </p:sp>
    </p:spTree>
    <p:extLst>
      <p:ext uri="{BB962C8B-B14F-4D97-AF65-F5344CB8AC3E}">
        <p14:creationId xmlns:p14="http://schemas.microsoft.com/office/powerpoint/2010/main" val="364541194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80E70C6-08B4-2275-1CCF-5CC951F19953}"/>
              </a:ext>
            </a:extLst>
          </p:cNvPr>
          <p:cNvSpPr txBox="1"/>
          <p:nvPr/>
        </p:nvSpPr>
        <p:spPr>
          <a:xfrm>
            <a:off x="0" y="0"/>
            <a:ext cx="12192000" cy="6186309"/>
          </a:xfrm>
          <a:prstGeom prst="rect">
            <a:avLst/>
          </a:prstGeom>
          <a:noFill/>
        </p:spPr>
        <p:txBody>
          <a:bodyPr wrap="square">
            <a:spAutoFit/>
          </a:bodyPr>
          <a:lstStyle/>
          <a:p>
            <a:pPr algn="just"/>
            <a:r>
              <a:rPr lang="en-GB" sz="3600" dirty="0">
                <a:effectLst/>
                <a:latin typeface="Times New Roman" panose="02020603050405020304" pitchFamily="18" charset="0"/>
                <a:ea typeface="Calibri" panose="020F0502020204030204" pitchFamily="34" charset="0"/>
              </a:rPr>
              <a:t>Searle, however, says that “propositional acts cannot occur alone, that is, one cannot just refer and predicate without making an assertion or asking a question or performing some other illocutionary act”. He indicates and lays emphasis on the fact that these acts are not clear-cut separate acts from one another, rather, they are performed together. It is, for instance, performing a propositional act to say, </a:t>
            </a:r>
            <a:r>
              <a:rPr lang="en-GB" sz="3600" dirty="0" err="1">
                <a:effectLst/>
                <a:latin typeface="Times New Roman" panose="02020603050405020304" pitchFamily="18" charset="0"/>
                <a:ea typeface="Calibri" panose="020F0502020204030204" pitchFamily="34" charset="0"/>
              </a:rPr>
              <a:t>Antonianum</a:t>
            </a:r>
            <a:r>
              <a:rPr lang="en-GB" sz="3600" dirty="0">
                <a:effectLst/>
                <a:latin typeface="Times New Roman" panose="02020603050405020304" pitchFamily="18" charset="0"/>
                <a:ea typeface="Calibri" panose="020F0502020204030204" pitchFamily="34" charset="0"/>
              </a:rPr>
              <a:t> university is a pontifical university. In this case, the reference is to </a:t>
            </a:r>
            <a:r>
              <a:rPr lang="en-GB" sz="3600" dirty="0" err="1">
                <a:effectLst/>
                <a:latin typeface="Times New Roman" panose="02020603050405020304" pitchFamily="18" charset="0"/>
                <a:ea typeface="Calibri" panose="020F0502020204030204" pitchFamily="34" charset="0"/>
              </a:rPr>
              <a:t>Antonianum</a:t>
            </a:r>
            <a:r>
              <a:rPr lang="en-GB" sz="3600" dirty="0">
                <a:effectLst/>
                <a:latin typeface="Times New Roman" panose="02020603050405020304" pitchFamily="18" charset="0"/>
                <a:ea typeface="Calibri" panose="020F0502020204030204" pitchFamily="34" charset="0"/>
              </a:rPr>
              <a:t> university as an entity, and it is predicated as a pontifical university. Consequently, reference and predication may take the form of stating, questioning, commanding, promising, declaring, etc. </a:t>
            </a:r>
            <a:endParaRPr lang="en-US" sz="3600" dirty="0"/>
          </a:p>
        </p:txBody>
      </p:sp>
    </p:spTree>
    <p:extLst>
      <p:ext uri="{BB962C8B-B14F-4D97-AF65-F5344CB8AC3E}">
        <p14:creationId xmlns:p14="http://schemas.microsoft.com/office/powerpoint/2010/main" val="196764585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1C0DD16-5DF9-C405-EF56-4F4A1663E140}"/>
              </a:ext>
            </a:extLst>
          </p:cNvPr>
          <p:cNvSpPr txBox="1"/>
          <p:nvPr/>
        </p:nvSpPr>
        <p:spPr>
          <a:xfrm>
            <a:off x="0" y="0"/>
            <a:ext cx="12192000" cy="5335756"/>
          </a:xfrm>
          <a:prstGeom prst="rect">
            <a:avLst/>
          </a:prstGeom>
          <a:noFill/>
        </p:spPr>
        <p:txBody>
          <a:bodyPr wrap="square">
            <a:spAutoFit/>
          </a:bodyPr>
          <a:lstStyle/>
          <a:p>
            <a:pPr marL="0" marR="0" algn="just">
              <a:lnSpc>
                <a:spcPct val="107000"/>
              </a:lnSpc>
              <a:spcBef>
                <a:spcPts val="0"/>
              </a:spcBef>
              <a:spcAft>
                <a:spcPts val="800"/>
              </a:spcAft>
            </a:pPr>
            <a:r>
              <a:rPr lang="en-GB" sz="3200" dirty="0">
                <a:effectLst/>
                <a:latin typeface="Times New Roman" panose="02020603050405020304" pitchFamily="18" charset="0"/>
                <a:ea typeface="Calibri" panose="020F0502020204030204" pitchFamily="34" charset="0"/>
                <a:cs typeface="Times New Roman" panose="02020603050405020304" pitchFamily="18" charset="0"/>
              </a:rPr>
              <a:t>But when reference and predication take any of the forms like promising or commanding, it ceases to be mere reference and predication. It is then said to be performing illocutionary acts. It now states, questions, commands, promises, declares, and so forth. These illocutionary acts result into action, for example, on the part of one questioned to give a certain answer, he actually gives the answer, one commanded to go out of the country, he actually goes out of the country or one who is promised a car receives the actual promised car. The consequences of the various forms of illocutionary acts is what Searle then refers to as perlocutionary acts, like living a certain country when one is commanded to do so.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8054353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579AC7-262A-A21A-4902-475C7991180E}"/>
              </a:ext>
            </a:extLst>
          </p:cNvPr>
          <p:cNvSpPr txBox="1"/>
          <p:nvPr/>
        </p:nvSpPr>
        <p:spPr>
          <a:xfrm>
            <a:off x="0" y="0"/>
            <a:ext cx="12192000" cy="5335756"/>
          </a:xfrm>
          <a:prstGeom prst="rect">
            <a:avLst/>
          </a:prstGeom>
          <a:noFill/>
        </p:spPr>
        <p:txBody>
          <a:bodyPr wrap="square">
            <a:spAutoFit/>
          </a:bodyPr>
          <a:lstStyle/>
          <a:p>
            <a:pPr marL="0" marR="0" algn="just">
              <a:lnSpc>
                <a:spcPct val="107000"/>
              </a:lnSpc>
              <a:spcBef>
                <a:spcPts val="0"/>
              </a:spcBef>
              <a:spcAft>
                <a:spcPts val="800"/>
              </a:spcAft>
            </a:pPr>
            <a:r>
              <a:rPr lang="en-GB" sz="3200" dirty="0">
                <a:effectLst/>
                <a:latin typeface="Times New Roman" panose="02020603050405020304" pitchFamily="18" charset="0"/>
                <a:ea typeface="Calibri" panose="020F0502020204030204" pitchFamily="34" charset="0"/>
                <a:cs typeface="Times New Roman" panose="02020603050405020304" pitchFamily="18" charset="0"/>
              </a:rPr>
              <a:t>It could then be noted that one utterance act can involve more than one kind of speech acts. Take the case of the Ugandan living in Italy. If the Ugandan is ordered to leave Italy, the order makes him actually leave Italy. In this case, ordering the Ugandan to leave Italy is an utterance act and the order is in reference to the Ugandan and he is the one leaving, hence, constitutes the propositional act. The order itself constitutes the illocutionary act and, leaving Italy for Uganda serves as the perlocutionary act since it is a consequence of the order given to leave Italy. So, all the four kinds of speech acts are invoked in this single case resulting into one reality of </a:t>
            </a:r>
            <a:r>
              <a:rPr lang="en-GB" sz="3200" i="1" dirty="0">
                <a:effectLst/>
                <a:latin typeface="Times New Roman" panose="02020603050405020304" pitchFamily="18" charset="0"/>
                <a:ea typeface="Calibri" panose="020F0502020204030204" pitchFamily="34" charset="0"/>
                <a:cs typeface="Times New Roman" panose="02020603050405020304" pitchFamily="18" charset="0"/>
              </a:rPr>
              <a:t>leaving Italy.</a:t>
            </a:r>
            <a:endParaRPr lang="en-US" sz="3200" i="1"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9279237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0DD2065-8EF3-10EB-07F4-66E206770C2C}"/>
              </a:ext>
            </a:extLst>
          </p:cNvPr>
          <p:cNvSpPr txBox="1"/>
          <p:nvPr/>
        </p:nvSpPr>
        <p:spPr>
          <a:xfrm>
            <a:off x="0" y="0"/>
            <a:ext cx="12192000" cy="5140831"/>
          </a:xfrm>
          <a:prstGeom prst="rect">
            <a:avLst/>
          </a:prstGeom>
          <a:noFill/>
        </p:spPr>
        <p:txBody>
          <a:bodyPr wrap="square">
            <a:spAutoFit/>
          </a:bodyPr>
          <a:lstStyle/>
          <a:p>
            <a:pPr marL="0" marR="0" algn="just">
              <a:lnSpc>
                <a:spcPct val="107000"/>
              </a:lnSpc>
              <a:spcBef>
                <a:spcPts val="0"/>
              </a:spcBef>
              <a:spcAft>
                <a:spcPts val="800"/>
              </a:spcAft>
            </a:pPr>
            <a:r>
              <a:rPr lang="en-GB" sz="2800" dirty="0">
                <a:effectLst/>
                <a:latin typeface="Times New Roman" panose="02020603050405020304" pitchFamily="18" charset="0"/>
                <a:ea typeface="Calibri" panose="020F0502020204030204" pitchFamily="34" charset="0"/>
                <a:cs typeface="Times New Roman" panose="02020603050405020304" pitchFamily="18" charset="0"/>
              </a:rPr>
              <a:t>Searle further points out that whereas utterance acts and illocutionary acts entail uttering words in sentences within particular contexts, perlocutionary acts on the other hand are the consequences or effects of illocutionary acts on the listeners. Perlocutionary acts is a notion of the consequences or effects which illocutionary acts have on the actions. Hence, illocutionary acts as the unit of meaning in communication have to be performed intentionally with an intention, while perlocutionary acts being consequences of illocutionary acts do not have to be performed intentionally with an intention. If one is commanded to leave the country, he does not have to possess the intention of leaving so as to really leave, rather, he has to leave because he has to leave, for it is an order. In this case, his leaving is not intentionally intended, but it is a direct consequence to the command. </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2897323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89A1C12-3FD1-C71F-9566-6128904F2EE6}"/>
              </a:ext>
            </a:extLst>
          </p:cNvPr>
          <p:cNvSpPr txBox="1"/>
          <p:nvPr/>
        </p:nvSpPr>
        <p:spPr>
          <a:xfrm>
            <a:off x="0" y="0"/>
            <a:ext cx="12192000" cy="6062878"/>
          </a:xfrm>
          <a:prstGeom prst="rect">
            <a:avLst/>
          </a:prstGeom>
          <a:noFill/>
        </p:spPr>
        <p:txBody>
          <a:bodyPr wrap="square">
            <a:spAutoFit/>
          </a:bodyPr>
          <a:lstStyle/>
          <a:p>
            <a:pPr marL="0" marR="0" algn="just">
              <a:lnSpc>
                <a:spcPct val="107000"/>
              </a:lnSpc>
              <a:spcBef>
                <a:spcPts val="0"/>
              </a:spcBef>
              <a:spcAft>
                <a:spcPts val="800"/>
              </a:spcAft>
            </a:pPr>
            <a:r>
              <a:rPr lang="en-GB" sz="2800" dirty="0">
                <a:effectLst/>
                <a:latin typeface="Times New Roman" panose="02020603050405020304" pitchFamily="18" charset="0"/>
                <a:ea typeface="Calibri" panose="020F0502020204030204" pitchFamily="34" charset="0"/>
                <a:cs typeface="Times New Roman" panose="02020603050405020304" pitchFamily="18" charset="0"/>
              </a:rPr>
              <a:t>Searle, however, notes that not all speech acts are direct or clear and as such simple to comprehend. Here, he refers to cases where; the speaker intends to produce a certain illocutionary effect in the listener by getting him recognise this intention in virtue of the listener’s awareness of the rules that govern the utterance of the sentence. This would be the simplest form of meaning where the speaker makes a speech act and just means exactly what he says. But experience also indicates that there are cases of indirect speech acts, for example, an irony and metaphor. The meaning in irony and metaphor is not simple, nor clear and direct. Take, for example, a statement like ‘I want you to leave </a:t>
            </a:r>
            <a:r>
              <a:rPr lang="en-GB" sz="2800" dirty="0" err="1">
                <a:effectLst/>
                <a:latin typeface="Times New Roman" panose="02020603050405020304" pitchFamily="18" charset="0"/>
                <a:ea typeface="Calibri" panose="020F0502020204030204" pitchFamily="34" charset="0"/>
                <a:cs typeface="Times New Roman" panose="02020603050405020304" pitchFamily="18" charset="0"/>
              </a:rPr>
              <a:t>Nakabira</a:t>
            </a:r>
            <a:r>
              <a:rPr lang="en-GB" sz="2800" dirty="0">
                <a:effectLst/>
                <a:latin typeface="Times New Roman" panose="02020603050405020304" pitchFamily="18" charset="0"/>
                <a:ea typeface="Calibri" panose="020F0502020204030204" pitchFamily="34" charset="0"/>
                <a:cs typeface="Times New Roman" panose="02020603050405020304" pitchFamily="18" charset="0"/>
              </a:rPr>
              <a:t>’. For Searle, such a statement could have multiple meaning. It could mean a request that one leaves </a:t>
            </a:r>
            <a:r>
              <a:rPr lang="en-GB" sz="2800" dirty="0" err="1">
                <a:effectLst/>
                <a:latin typeface="Times New Roman" panose="02020603050405020304" pitchFamily="18" charset="0"/>
                <a:ea typeface="Calibri" panose="020F0502020204030204" pitchFamily="34" charset="0"/>
                <a:cs typeface="Times New Roman" panose="02020603050405020304" pitchFamily="18" charset="0"/>
              </a:rPr>
              <a:t>Nakabira</a:t>
            </a:r>
            <a:r>
              <a:rPr lang="en-GB" sz="2800" dirty="0">
                <a:effectLst/>
                <a:latin typeface="Times New Roman" panose="02020603050405020304" pitchFamily="18" charset="0"/>
                <a:ea typeface="Calibri" panose="020F0502020204030204" pitchFamily="34" charset="0"/>
                <a:cs typeface="Times New Roman" panose="02020603050405020304" pitchFamily="18" charset="0"/>
              </a:rPr>
              <a:t>, it could be an order that one leaves </a:t>
            </a:r>
            <a:r>
              <a:rPr lang="en-GB" sz="2800" dirty="0" err="1">
                <a:effectLst/>
                <a:latin typeface="Times New Roman" panose="02020603050405020304" pitchFamily="18" charset="0"/>
                <a:ea typeface="Calibri" panose="020F0502020204030204" pitchFamily="34" charset="0"/>
                <a:cs typeface="Times New Roman" panose="02020603050405020304" pitchFamily="18" charset="0"/>
              </a:rPr>
              <a:t>Nakabira</a:t>
            </a:r>
            <a:r>
              <a:rPr lang="en-GB" sz="2800" dirty="0">
                <a:effectLst/>
                <a:latin typeface="Times New Roman" panose="02020603050405020304" pitchFamily="18" charset="0"/>
                <a:ea typeface="Calibri" panose="020F0502020204030204" pitchFamily="34" charset="0"/>
                <a:cs typeface="Times New Roman" panose="02020603050405020304" pitchFamily="18" charset="0"/>
              </a:rPr>
              <a:t> or, it could even mean a desire that one leaves </a:t>
            </a:r>
            <a:r>
              <a:rPr lang="en-GB" sz="2800" dirty="0" err="1">
                <a:effectLst/>
                <a:latin typeface="Times New Roman" panose="02020603050405020304" pitchFamily="18" charset="0"/>
                <a:ea typeface="Calibri" panose="020F0502020204030204" pitchFamily="34" charset="0"/>
                <a:cs typeface="Times New Roman" panose="02020603050405020304" pitchFamily="18" charset="0"/>
              </a:rPr>
              <a:t>Nakabira</a:t>
            </a:r>
            <a:r>
              <a:rPr lang="en-GB" sz="2800" dirty="0">
                <a:effectLst/>
                <a:latin typeface="Times New Roman" panose="02020603050405020304" pitchFamily="18" charset="0"/>
                <a:ea typeface="Calibri" panose="020F0502020204030204" pitchFamily="34" charset="0"/>
                <a:cs typeface="Times New Roman" panose="02020603050405020304" pitchFamily="18" charset="0"/>
              </a:rPr>
              <a:t>. Thus, one illocutionary act in this case, is performed indirectly by way of performing another. </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535616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TotalTime>
  <Words>8348</Words>
  <Application>Microsoft Office PowerPoint</Application>
  <PresentationFormat>Widescreen</PresentationFormat>
  <Paragraphs>177</Paragraphs>
  <Slides>82</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82</vt:i4>
      </vt:variant>
    </vt:vector>
  </HeadingPairs>
  <TitlesOfParts>
    <vt:vector size="89" baseType="lpstr">
      <vt:lpstr>Algerian</vt:lpstr>
      <vt:lpstr>Arial</vt:lpstr>
      <vt:lpstr>Calibri</vt:lpstr>
      <vt:lpstr>Calibri Light</vt:lpstr>
      <vt:lpstr>Symbol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Fr Ikendeza</dc:creator>
  <cp:lastModifiedBy>Ojiambo Kelvine</cp:lastModifiedBy>
  <cp:revision>5</cp:revision>
  <dcterms:created xsi:type="dcterms:W3CDTF">2024-03-11T09:23:34Z</dcterms:created>
  <dcterms:modified xsi:type="dcterms:W3CDTF">2024-04-16T13:27:37Z</dcterms:modified>
</cp:coreProperties>
</file>